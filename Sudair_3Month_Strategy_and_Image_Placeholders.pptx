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notesMaster" Target="notesMasters/notesMaster1.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NOV-F01.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NOV-L01.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NOV-S01. Source: REAL.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NOV-F02. Source: REAL.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NOV-L02. Source: REAL.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NOV-S02. Source: GENERATED.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NOV-F03.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NOV-S03.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NOV-F04. Source: GENERATED.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NOV-L03. Source: GENERATED.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NOV-S04. Source: GENERATED.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NOV-F05.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NOV-L04. Source: GENERATED.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NOV-S05.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NOV-F06. Source: GENERATED.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NOV-S06. Source: REAL.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NOV-F07.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NOV-L05. Source: REAL.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NOV-S07. Source: GENERATED.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NOV-F08. Source: GENERATED.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NOV-L06.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NOV-S08. Source: REAL.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NOV-F09. Source: REAL.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NOV-S09. Source: GENERATED.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NOV-F10.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NOV-L07.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NOV-S10. Source: GENERATED.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NOV-F11. Source: REAL.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NOV-L08. Source: REAL.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NOV-S11. Source: REAL.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NOV-F12.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NOV-S12.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DEC-F01.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DEC-L01.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DEC-L02.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DEC-S01. Source: GENERATED.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DEC-S02.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DEC-F02.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DEC-S03. Source: REAL.</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DEC-F03.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DEC-L03. Source: REAL.</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DEC-S04.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DEC-F04.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DEC-L04. Source: REAL.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DEC-S05. Source: GENERATED.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DEC-F05.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DEC-S06. Source: REAL.</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DEC-F06.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DEC-L05.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DEC-S07.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DEC-F07.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DEC-L06. Source: REAL.</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DEC-S08. Source: REAL.</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DEC-F08.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DEC-S09. Source: REAL.</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DEC-F09.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DEC-F10. Source: GENERATED.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DEC-S10. Source: GENERATED.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DEC-F11.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DEC-L07.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DEC-S11.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DEC-F12. Source: GENERATED.</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DEC-L08.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DEC-S12. Source: GENERATED.</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JAN-F01.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JAN-L01.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JAN-S01. Source: GENERATED.</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JAN-F02. Source: REAL.</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JAN-L02.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JAN-S02. Source: REAL.</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JAN-F03. Source: GENERATED.</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JAN-S03. Source: GENERATED.</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JAN-F04. Source: GENERATED.</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JAN-L03.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JAN-S04.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JAN-F05.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JAN-L04.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JAN-S05. Source: GENERATED.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JAN-F06.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JAN-S06.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JAN-F07. Source: REAL.</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JAN-L05.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JAN-S07. Source: REAL.</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JAN-F08.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JAN-L06. Source: REAL.</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JAN-S08.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JAN-F09.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JAN-S09. Source: GENERATED.</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JAN-F10. Source: GENERATED.</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JAN-L07.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JAN-S10.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JAN-F11. Source: REAL.</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JAN-L08.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JAN-S11. Source: REAL.</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JAN-F12. Source: REAL+GENERATED.</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 Sudair_3Month_Prompt_Book.xlsx, sheet by format, ID JAN-S12. Source: REAL+GENERATED.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4301F"/>
        </a:solidFill>
        <a:effectLst/>
      </p:bgPr>
    </p:bg>
    <p:spTree>
      <p:nvGrpSpPr>
        <p:cNvPr id="1" name=""/>
        <p:cNvGrpSpPr/>
        <p:nvPr/>
      </p:nvGrpSpPr>
      <p:grpSpPr/>
      <p:pic>
        <p:nvPicPr>
          <p:cNvPr id="2" name="Picture 1" descr="Picture2.png"/>
          <p:cNvPicPr>
            <a:picLocks noChangeAspect="1"/>
          </p:cNvPicPr>
          <p:nvPr/>
        </p:nvPicPr>
        <p:blipFill>
          <a:blip r:embed="rId2"/>
          <a:stretch>
            <a:fillRect/>
          </a:stretch>
        </p:blipFill>
        <p:spPr>
          <a:xfrm>
            <a:off x="4663440" y="0"/>
            <a:ext cx="12192000" cy="6858000"/>
          </a:xfrm>
          <a:prstGeom prst="rect">
            <a:avLst/>
          </a:prstGeom>
        </p:spPr>
      </p:pic>
      <p:sp>
        <p:nvSpPr>
          <p:cNvPr id="3" name="Rectangle 2"/>
          <p:cNvSpPr/>
          <p:nvPr/>
        </p:nvSpPr>
        <p:spPr>
          <a:xfrm>
            <a:off x="0" y="0"/>
            <a:ext cx="5669280" cy="6858000"/>
          </a:xfrm>
          <a:prstGeom prst="rect">
            <a:avLst/>
          </a:prstGeom>
          <a:solidFill>
            <a:srgbClr val="0430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udairPharma_logo_onecolour_white_transparent.png"/>
          <p:cNvPicPr>
            <a:picLocks noChangeAspect="1"/>
          </p:cNvPicPr>
          <p:nvPr/>
        </p:nvPicPr>
        <p:blipFill>
          <a:blip r:embed="rId3"/>
          <a:stretch>
            <a:fillRect/>
          </a:stretch>
        </p:blipFill>
        <p:spPr>
          <a:xfrm>
            <a:off x="640080" y="548640"/>
            <a:ext cx="1045590" cy="1143000"/>
          </a:xfrm>
          <a:prstGeom prst="rect">
            <a:avLst/>
          </a:prstGeom>
        </p:spPr>
      </p:pic>
      <p:sp>
        <p:nvSpPr>
          <p:cNvPr id="6" name="TextBox 5"/>
          <p:cNvSpPr txBox="1"/>
          <p:nvPr/>
        </p:nvSpPr>
        <p:spPr>
          <a:xfrm>
            <a:off x="640080" y="2194560"/>
            <a:ext cx="4754880" cy="1280160"/>
          </a:xfrm>
          <a:prstGeom prst="rect">
            <a:avLst/>
          </a:prstGeom>
          <a:noFill/>
        </p:spPr>
        <p:txBody>
          <a:bodyPr wrap="square" lIns="36576" rIns="36576" tIns="18288" bIns="18288" anchor="t">
            <a:spAutoFit/>
          </a:bodyPr>
          <a:lstStyle/>
          <a:p>
            <a:pPr algn="l"/>
            <a:r>
              <a:rPr sz="3200" b="1" i="0">
                <a:solidFill>
                  <a:srgbClr val="FFFFFF"/>
                </a:solidFill>
                <a:latin typeface="Segoe UI"/>
                <a:cs typeface="Tahoma"/>
              </a:rPr>
              <a:t>Social media strategy</a:t>
            </a:r>
          </a:p>
          <a:p>
            <a:pPr algn="l"/>
            <a:r>
              <a:rPr sz="3200" b="1" i="0">
                <a:solidFill>
                  <a:srgbClr val="FFFFFF"/>
                </a:solidFill>
                <a:latin typeface="Segoe UI"/>
                <a:cs typeface="Tahoma"/>
              </a:rPr>
              <a:t>and plan: next 3 months</a:t>
            </a:r>
          </a:p>
        </p:txBody>
      </p:sp>
      <p:sp>
        <p:nvSpPr>
          <p:cNvPr id="7" name="TextBox 6"/>
          <p:cNvSpPr txBox="1"/>
          <p:nvPr/>
        </p:nvSpPr>
        <p:spPr>
          <a:xfrm>
            <a:off x="640080" y="3657600"/>
            <a:ext cx="4754880" cy="822960"/>
          </a:xfrm>
          <a:prstGeom prst="rect">
            <a:avLst/>
          </a:prstGeom>
          <a:noFill/>
        </p:spPr>
        <p:txBody>
          <a:bodyPr wrap="square" lIns="36576" rIns="36576" tIns="18288" bIns="18288" anchor="t">
            <a:spAutoFit/>
          </a:bodyPr>
          <a:lstStyle/>
          <a:p>
            <a:pPr algn="l"/>
            <a:r>
              <a:rPr sz="1800" b="0" i="0">
                <a:solidFill>
                  <a:srgbClr val="8EF0B0"/>
                </a:solidFill>
                <a:latin typeface="Segoe UI"/>
                <a:cs typeface="Tahoma"/>
              </a:rPr>
              <a:t>November 2026 to January 2027</a:t>
            </a:r>
          </a:p>
        </p:txBody>
      </p:sp>
      <p:sp>
        <p:nvSpPr>
          <p:cNvPr id="8" name="TextBox 7"/>
          <p:cNvSpPr txBox="1"/>
          <p:nvPr/>
        </p:nvSpPr>
        <p:spPr>
          <a:xfrm>
            <a:off x="640080" y="4297680"/>
            <a:ext cx="4572000" cy="914400"/>
          </a:xfrm>
          <a:prstGeom prst="rect">
            <a:avLst/>
          </a:prstGeom>
          <a:noFill/>
        </p:spPr>
        <p:txBody>
          <a:bodyPr wrap="square" lIns="36576" rIns="36576" tIns="18288" bIns="18288" anchor="t">
            <a:spAutoFit/>
          </a:bodyPr>
          <a:lstStyle/>
          <a:p>
            <a:pPr algn="l"/>
            <a:r>
              <a:rPr sz="1400" b="0" i="0">
                <a:solidFill>
                  <a:srgbClr val="FFFFFF"/>
                </a:solidFill>
                <a:latin typeface="Segoe UI"/>
                <a:cs typeface="Tahoma"/>
              </a:rPr>
              <a:t>Instagram · Facebook · LinkedIn · X</a:t>
            </a:r>
          </a:p>
        </p:txBody>
      </p:sp>
      <p:sp>
        <p:nvSpPr>
          <p:cNvPr id="9" name="TextBox 8"/>
          <p:cNvSpPr txBox="1"/>
          <p:nvPr/>
        </p:nvSpPr>
        <p:spPr>
          <a:xfrm>
            <a:off x="640080" y="5943600"/>
            <a:ext cx="4754880" cy="548640"/>
          </a:xfrm>
          <a:prstGeom prst="rect">
            <a:avLst/>
          </a:prstGeom>
          <a:noFill/>
        </p:spPr>
        <p:txBody>
          <a:bodyPr wrap="square" lIns="36576" rIns="36576" tIns="18288" bIns="18288" anchor="t">
            <a:spAutoFit/>
          </a:bodyPr>
          <a:lstStyle/>
          <a:p>
            <a:pPr algn="l"/>
            <a:r>
              <a:rPr sz="1100" b="0" i="1">
                <a:solidFill>
                  <a:srgbClr val="8EF0B0"/>
                </a:solidFill>
                <a:latin typeface="Segoe UI"/>
                <a:cs typeface="Tahoma"/>
              </a:rPr>
              <a:t>Prompt placeholders for every post. Images to be generated and placed by the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48640"/>
          </a:xfrm>
          <a:prstGeom prst="rect">
            <a:avLst/>
          </a:prstGeom>
          <a:noFill/>
        </p:spPr>
        <p:txBody>
          <a:bodyPr wrap="square" lIns="36576" rIns="36576" tIns="18288" bIns="18288" anchor="t">
            <a:spAutoFit/>
          </a:bodyPr>
          <a:lstStyle/>
          <a:p>
            <a:pPr algn="l"/>
            <a:r>
              <a:rPr sz="2400" b="1" i="0">
                <a:solidFill>
                  <a:srgbClr val="0B4F35"/>
                </a:solidFill>
                <a:latin typeface="Segoe UI"/>
                <a:cs typeface="Tahoma"/>
              </a:rPr>
              <a:t>Where we start</a:t>
            </a:r>
          </a:p>
        </p:txBody>
      </p:sp>
      <p:sp>
        <p:nvSpPr>
          <p:cNvPr id="4" name="TextBox 3"/>
          <p:cNvSpPr txBox="1"/>
          <p:nvPr/>
        </p:nvSpPr>
        <p:spPr>
          <a:xfrm>
            <a:off x="457200" y="749808"/>
            <a:ext cx="11247120" cy="365760"/>
          </a:xfrm>
          <a:prstGeom prst="rect">
            <a:avLst/>
          </a:prstGeom>
          <a:noFill/>
        </p:spPr>
        <p:txBody>
          <a:bodyPr wrap="square" lIns="36576" rIns="36576" tIns="18288" bIns="18288" anchor="t">
            <a:spAutoFit/>
          </a:bodyPr>
          <a:lstStyle/>
          <a:p>
            <a:pPr algn="l"/>
            <a:r>
              <a:rPr sz="1200" b="0" i="0">
                <a:solidFill>
                  <a:srgbClr val="5B6B63"/>
                </a:solidFill>
                <a:latin typeface="Segoe UI"/>
                <a:cs typeface="Tahoma"/>
              </a:rPr>
              <a:t>What the plan builds on</a:t>
            </a:r>
          </a:p>
        </p:txBody>
      </p:sp>
      <p:sp>
        <p:nvSpPr>
          <p:cNvPr id="5" name="TextBox 4"/>
          <p:cNvSpPr txBox="1"/>
          <p:nvPr/>
        </p:nvSpPr>
        <p:spPr>
          <a:xfrm>
            <a:off x="11155680" y="6492240"/>
            <a:ext cx="731520" cy="274320"/>
          </a:xfrm>
          <a:prstGeom prst="rect">
            <a:avLst/>
          </a:prstGeom>
          <a:noFill/>
        </p:spPr>
        <p:txBody>
          <a:bodyPr wrap="square" lIns="36576" rIns="36576" tIns="18288" bIns="18288" anchor="t">
            <a:spAutoFit/>
          </a:bodyPr>
          <a:lstStyle/>
          <a:p>
            <a:pPr algn="r"/>
            <a:r>
              <a:rPr sz="900" b="0" i="0">
                <a:solidFill>
                  <a:srgbClr val="5B6B63"/>
                </a:solidFill>
                <a:latin typeface="Segoe UI"/>
                <a:cs typeface="Tahoma"/>
              </a:rPr>
              <a:t>2</a:t>
            </a:r>
          </a:p>
        </p:txBody>
      </p:sp>
      <p:sp>
        <p:nvSpPr>
          <p:cNvPr id="6" name="Rounded Rectangle 5"/>
          <p:cNvSpPr/>
          <p:nvPr/>
        </p:nvSpPr>
        <p:spPr>
          <a:xfrm>
            <a:off x="457200" y="1371600"/>
            <a:ext cx="3657600" cy="4846320"/>
          </a:xfrm>
          <a:prstGeom prst="roundRect">
            <a:avLst>
              <a:gd name="adj" fmla="val 3000"/>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81328"/>
            <a:ext cx="3291840" cy="457200"/>
          </a:xfrm>
          <a:prstGeom prst="rect">
            <a:avLst/>
          </a:prstGeom>
          <a:noFill/>
        </p:spPr>
        <p:txBody>
          <a:bodyPr wrap="square" lIns="36576" rIns="36576" tIns="18288" bIns="18288" anchor="t">
            <a:spAutoFit/>
          </a:bodyPr>
          <a:lstStyle/>
          <a:p>
            <a:pPr algn="l"/>
            <a:r>
              <a:rPr sz="1500" b="1" i="0">
                <a:solidFill>
                  <a:srgbClr val="0B4F35"/>
                </a:solidFill>
                <a:latin typeface="Segoe UI"/>
                <a:cs typeface="Tahoma"/>
              </a:rPr>
              <a:t>What we have</a:t>
            </a:r>
          </a:p>
        </p:txBody>
      </p:sp>
      <p:sp>
        <p:nvSpPr>
          <p:cNvPr id="8" name="TextBox 7"/>
          <p:cNvSpPr txBox="1"/>
          <p:nvPr/>
        </p:nvSpPr>
        <p:spPr>
          <a:xfrm>
            <a:off x="640080" y="2011680"/>
            <a:ext cx="3291840" cy="4114800"/>
          </a:xfrm>
          <a:prstGeom prst="rect">
            <a:avLst/>
          </a:prstGeom>
          <a:noFill/>
        </p:spPr>
        <p:txBody>
          <a:bodyPr wrap="square" lIns="36576" rIns="36576" tIns="18288" bIns="18288" anchor="t">
            <a:spAutoFit/>
          </a:bodyPr>
          <a:lstStyle/>
          <a:p>
            <a:pPr algn="l">
              <a:spcAft>
                <a:spcPts val="600"/>
              </a:spcAft>
            </a:pPr>
            <a:r>
              <a:rPr sz="1150" b="0" i="0">
                <a:solidFill>
                  <a:srgbClr val="142B22"/>
                </a:solidFill>
                <a:latin typeface="Segoe UI"/>
                <a:cs typeface="Tahoma"/>
              </a:rPr>
              <a:t>• A calm, premium visual standard set by the team's designs: emerald gradient, one hero, heavy Arabic headline.</a:t>
            </a:r>
          </a:p>
          <a:p>
            <a:pPr rtl="1" algn="r">
              <a:spcAft>
                <a:spcPts val="600"/>
              </a:spcAft>
            </a:pPr>
            <a:r>
              <a:rPr sz="1150" b="0" i="0">
                <a:solidFill>
                  <a:srgbClr val="142B22"/>
                </a:solidFill>
                <a:latin typeface="Segoe UI"/>
                <a:cs typeface="Tahoma"/>
              </a:rPr>
              <a:t>• A main theme the client chose: صناعة تُرى، وأثر يُقاس. / Visible capability. Measurable impact.</a:t>
            </a:r>
          </a:p>
          <a:p>
            <a:pPr algn="l">
              <a:spcAft>
                <a:spcPts val="600"/>
              </a:spcAft>
            </a:pPr>
            <a:r>
              <a:rPr sz="1150" b="0" i="0">
                <a:solidFill>
                  <a:srgbClr val="142B22"/>
                </a:solidFill>
                <a:latin typeface="Segoe UI"/>
                <a:cs typeface="Tahoma"/>
              </a:rPr>
              <a:t>• A library of real photos, drone and plant footage, and event coverage.</a:t>
            </a:r>
          </a:p>
          <a:p>
            <a:pPr algn="l">
              <a:spcAft>
                <a:spcPts val="600"/>
              </a:spcAft>
            </a:pPr>
            <a:r>
              <a:rPr sz="1150" b="0" i="0">
                <a:solidFill>
                  <a:srgbClr val="142B22"/>
                </a:solidFill>
                <a:latin typeface="Segoe UI"/>
                <a:cs typeface="Tahoma"/>
              </a:rPr>
              <a:t>• A volume model the client approved: 12 feed, 12 stories, 8 LinkedIn + X carousels a month.</a:t>
            </a:r>
          </a:p>
        </p:txBody>
      </p:sp>
      <p:sp>
        <p:nvSpPr>
          <p:cNvPr id="9" name="Rounded Rectangle 8"/>
          <p:cNvSpPr/>
          <p:nvPr/>
        </p:nvSpPr>
        <p:spPr>
          <a:xfrm>
            <a:off x="4251960" y="1371600"/>
            <a:ext cx="3657600" cy="4846320"/>
          </a:xfrm>
          <a:prstGeom prst="roundRect">
            <a:avLst>
              <a:gd name="adj" fmla="val 3000"/>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34840" y="1481328"/>
            <a:ext cx="3291840" cy="457200"/>
          </a:xfrm>
          <a:prstGeom prst="rect">
            <a:avLst/>
          </a:prstGeom>
          <a:noFill/>
        </p:spPr>
        <p:txBody>
          <a:bodyPr wrap="square" lIns="36576" rIns="36576" tIns="18288" bIns="18288" anchor="t">
            <a:spAutoFit/>
          </a:bodyPr>
          <a:lstStyle/>
          <a:p>
            <a:pPr algn="l"/>
            <a:r>
              <a:rPr sz="1500" b="1" i="0">
                <a:solidFill>
                  <a:srgbClr val="0B4F35"/>
                </a:solidFill>
                <a:latin typeface="Segoe UI"/>
                <a:cs typeface="Tahoma"/>
              </a:rPr>
              <a:t>What we learned in October</a:t>
            </a:r>
          </a:p>
        </p:txBody>
      </p:sp>
      <p:sp>
        <p:nvSpPr>
          <p:cNvPr id="11" name="TextBox 10"/>
          <p:cNvSpPr txBox="1"/>
          <p:nvPr/>
        </p:nvSpPr>
        <p:spPr>
          <a:xfrm>
            <a:off x="4434840" y="2011680"/>
            <a:ext cx="3291840" cy="4114800"/>
          </a:xfrm>
          <a:prstGeom prst="rect">
            <a:avLst/>
          </a:prstGeom>
          <a:noFill/>
        </p:spPr>
        <p:txBody>
          <a:bodyPr wrap="square" lIns="36576" rIns="36576" tIns="18288" bIns="18288" anchor="t">
            <a:spAutoFit/>
          </a:bodyPr>
          <a:lstStyle/>
          <a:p>
            <a:pPr algn="l">
              <a:spcAft>
                <a:spcPts val="600"/>
              </a:spcAft>
            </a:pPr>
            <a:r>
              <a:rPr sz="1150" b="0" i="0">
                <a:solidFill>
                  <a:srgbClr val="142B22"/>
                </a:solidFill>
                <a:latin typeface="Segoe UI"/>
                <a:cs typeface="Tahoma"/>
              </a:rPr>
              <a:t>• Posts must be simple, direct and supportive, and must carry no health claim and need no SFDA approval.</a:t>
            </a:r>
          </a:p>
          <a:p>
            <a:pPr algn="l">
              <a:spcAft>
                <a:spcPts val="600"/>
              </a:spcAft>
            </a:pPr>
            <a:r>
              <a:rPr sz="1150" b="0" i="0">
                <a:solidFill>
                  <a:srgbClr val="142B22"/>
                </a:solidFill>
                <a:latin typeface="Segoe UI"/>
                <a:cs typeface="Tahoma"/>
              </a:rPr>
              <a:t>• Real photos beat generated people for company posts; generated faces cannot stand for staff.</a:t>
            </a:r>
          </a:p>
          <a:p>
            <a:pPr algn="l">
              <a:spcAft>
                <a:spcPts val="600"/>
              </a:spcAft>
            </a:pPr>
            <a:r>
              <a:rPr sz="1150" b="0" i="0">
                <a:solidFill>
                  <a:srgbClr val="142B22"/>
                </a:solidFill>
                <a:latin typeface="Segoe UI"/>
                <a:cs typeface="Tahoma"/>
              </a:rPr>
              <a:t>• Arabic must be reviewed by a native reader, and the logo must be placed as a file, never drawn by a generator.</a:t>
            </a:r>
          </a:p>
        </p:txBody>
      </p:sp>
      <p:sp>
        <p:nvSpPr>
          <p:cNvPr id="12" name="Rounded Rectangle 11"/>
          <p:cNvSpPr/>
          <p:nvPr/>
        </p:nvSpPr>
        <p:spPr>
          <a:xfrm>
            <a:off x="8046720" y="1371600"/>
            <a:ext cx="3657600" cy="4846320"/>
          </a:xfrm>
          <a:prstGeom prst="roundRect">
            <a:avLst>
              <a:gd name="adj" fmla="val 3000"/>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481328"/>
            <a:ext cx="3291840" cy="457200"/>
          </a:xfrm>
          <a:prstGeom prst="rect">
            <a:avLst/>
          </a:prstGeom>
          <a:noFill/>
        </p:spPr>
        <p:txBody>
          <a:bodyPr wrap="square" lIns="36576" rIns="36576" tIns="18288" bIns="18288" anchor="t">
            <a:spAutoFit/>
          </a:bodyPr>
          <a:lstStyle/>
          <a:p>
            <a:pPr algn="l"/>
            <a:r>
              <a:rPr sz="1500" b="1" i="0">
                <a:solidFill>
                  <a:srgbClr val="0B4F35"/>
                </a:solidFill>
                <a:latin typeface="Segoe UI"/>
                <a:cs typeface="Tahoma"/>
              </a:rPr>
              <a:t>What the next 3 months must do</a:t>
            </a:r>
          </a:p>
        </p:txBody>
      </p:sp>
      <p:sp>
        <p:nvSpPr>
          <p:cNvPr id="14" name="TextBox 13"/>
          <p:cNvSpPr txBox="1"/>
          <p:nvPr/>
        </p:nvSpPr>
        <p:spPr>
          <a:xfrm>
            <a:off x="8229600" y="2011680"/>
            <a:ext cx="3291840" cy="4114800"/>
          </a:xfrm>
          <a:prstGeom prst="rect">
            <a:avLst/>
          </a:prstGeom>
          <a:noFill/>
        </p:spPr>
        <p:txBody>
          <a:bodyPr wrap="square" lIns="36576" rIns="36576" tIns="18288" bIns="18288" anchor="t">
            <a:spAutoFit/>
          </a:bodyPr>
          <a:lstStyle/>
          <a:p>
            <a:pPr algn="l">
              <a:spcAft>
                <a:spcPts val="600"/>
              </a:spcAft>
            </a:pPr>
            <a:r>
              <a:rPr sz="1150" b="0" i="0">
                <a:solidFill>
                  <a:srgbClr val="142B22"/>
                </a:solidFill>
                <a:latin typeface="Segoe UI"/>
                <a:cs typeface="Tahoma"/>
              </a:rPr>
              <a:t>• Make the plant and its people visible, month by month.</a:t>
            </a:r>
          </a:p>
          <a:p>
            <a:pPr algn="l">
              <a:spcAft>
                <a:spcPts val="600"/>
              </a:spcAft>
            </a:pPr>
            <a:r>
              <a:rPr sz="1150" b="0" i="0">
                <a:solidFill>
                  <a:srgbClr val="142B22"/>
                </a:solidFill>
                <a:latin typeface="Segoe UI"/>
                <a:cs typeface="Tahoma"/>
              </a:rPr>
              <a:t>• Explain the line in simple steps, in January only, flagged for the client to verify.</a:t>
            </a:r>
          </a:p>
          <a:p>
            <a:pPr algn="l">
              <a:spcAft>
                <a:spcPts val="600"/>
              </a:spcAft>
            </a:pPr>
            <a:r>
              <a:rPr sz="1150" b="0" i="0">
                <a:solidFill>
                  <a:srgbClr val="142B22"/>
                </a:solidFill>
                <a:latin typeface="Segoe UI"/>
                <a:cs typeface="Tahoma"/>
              </a:rPr>
              <a:t>• Show local manufacturing as national infrastructure.</a:t>
            </a:r>
          </a:p>
          <a:p>
            <a:pPr algn="l">
              <a:spcAft>
                <a:spcPts val="600"/>
              </a:spcAft>
            </a:pPr>
            <a:r>
              <a:rPr sz="1150" b="0" i="0">
                <a:solidFill>
                  <a:srgbClr val="142B22"/>
                </a:solidFill>
                <a:latin typeface="Segoe UI"/>
                <a:cs typeface="Tahoma"/>
              </a:rPr>
              <a:t>• Stay claim-free: no product, claim, advice or statistic.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48640"/>
          </a:xfrm>
          <a:prstGeom prst="rect">
            <a:avLst/>
          </a:prstGeom>
          <a:noFill/>
        </p:spPr>
        <p:txBody>
          <a:bodyPr wrap="square" lIns="36576" rIns="36576" tIns="18288" bIns="18288" anchor="t">
            <a:spAutoFit/>
          </a:bodyPr>
          <a:lstStyle/>
          <a:p>
            <a:pPr algn="l"/>
            <a:r>
              <a:rPr sz="2400" b="1" i="0">
                <a:solidFill>
                  <a:srgbClr val="0B4F35"/>
                </a:solidFill>
                <a:latin typeface="Segoe UI"/>
                <a:cs typeface="Tahoma"/>
              </a:rPr>
              <a:t>The strategy on one page</a:t>
            </a:r>
          </a:p>
        </p:txBody>
      </p:sp>
      <p:sp>
        <p:nvSpPr>
          <p:cNvPr id="4" name="TextBox 3"/>
          <p:cNvSpPr txBox="1"/>
          <p:nvPr/>
        </p:nvSpPr>
        <p:spPr>
          <a:xfrm>
            <a:off x="457200" y="749808"/>
            <a:ext cx="11247120" cy="365760"/>
          </a:xfrm>
          <a:prstGeom prst="rect">
            <a:avLst/>
          </a:prstGeom>
          <a:noFill/>
        </p:spPr>
        <p:txBody>
          <a:bodyPr wrap="square" lIns="36576" rIns="36576" tIns="18288" bIns="18288" anchor="t">
            <a:spAutoFit/>
          </a:bodyPr>
          <a:lstStyle/>
          <a:p>
            <a:pPr algn="l"/>
            <a:r>
              <a:rPr sz="1200" b="0" i="0">
                <a:solidFill>
                  <a:srgbClr val="5B6B63"/>
                </a:solidFill>
                <a:latin typeface="Segoe UI"/>
                <a:cs typeface="Tahoma"/>
              </a:rPr>
              <a:t>One idea, four proof lines, eight pillars</a:t>
            </a:r>
          </a:p>
        </p:txBody>
      </p:sp>
      <p:sp>
        <p:nvSpPr>
          <p:cNvPr id="5" name="TextBox 4"/>
          <p:cNvSpPr txBox="1"/>
          <p:nvPr/>
        </p:nvSpPr>
        <p:spPr>
          <a:xfrm>
            <a:off x="11155680" y="6492240"/>
            <a:ext cx="731520" cy="274320"/>
          </a:xfrm>
          <a:prstGeom prst="rect">
            <a:avLst/>
          </a:prstGeom>
          <a:noFill/>
        </p:spPr>
        <p:txBody>
          <a:bodyPr wrap="square" lIns="36576" rIns="36576" tIns="18288" bIns="18288" anchor="t">
            <a:spAutoFit/>
          </a:bodyPr>
          <a:lstStyle/>
          <a:p>
            <a:pPr algn="r"/>
            <a:r>
              <a:rPr sz="900" b="0" i="0">
                <a:solidFill>
                  <a:srgbClr val="5B6B63"/>
                </a:solidFill>
                <a:latin typeface="Segoe UI"/>
                <a:cs typeface="Tahoma"/>
              </a:rPr>
              <a:t>3</a:t>
            </a:r>
          </a:p>
        </p:txBody>
      </p:sp>
      <p:sp>
        <p:nvSpPr>
          <p:cNvPr id="6" name="Rounded Rectangle 5"/>
          <p:cNvSpPr/>
          <p:nvPr/>
        </p:nvSpPr>
        <p:spPr>
          <a:xfrm>
            <a:off x="457200" y="1371600"/>
            <a:ext cx="11247120" cy="1097280"/>
          </a:xfrm>
          <a:prstGeom prst="roundRect">
            <a:avLst>
              <a:gd name="adj" fmla="val 5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10698480" cy="548640"/>
          </a:xfrm>
          <a:prstGeom prst="rect">
            <a:avLst/>
          </a:prstGeom>
          <a:noFill/>
        </p:spPr>
        <p:txBody>
          <a:bodyPr wrap="square" lIns="36576" rIns="36576" tIns="18288" bIns="18288" anchor="t">
            <a:spAutoFit/>
          </a:bodyPr>
          <a:lstStyle/>
          <a:p>
            <a:pPr rtl="1" algn="ctr"/>
            <a:r>
              <a:rPr sz="2600" b="1" i="0">
                <a:solidFill>
                  <a:srgbClr val="FFFFFF"/>
                </a:solidFill>
                <a:latin typeface="Segoe UI"/>
                <a:cs typeface="Tahoma"/>
              </a:rPr>
              <a:t>صناعة تُرى، وأثر يُقاس.</a:t>
            </a:r>
          </a:p>
        </p:txBody>
      </p:sp>
      <p:sp>
        <p:nvSpPr>
          <p:cNvPr id="8" name="TextBox 7"/>
          <p:cNvSpPr txBox="1"/>
          <p:nvPr/>
        </p:nvSpPr>
        <p:spPr>
          <a:xfrm>
            <a:off x="731520" y="1965960"/>
            <a:ext cx="10698480" cy="365760"/>
          </a:xfrm>
          <a:prstGeom prst="rect">
            <a:avLst/>
          </a:prstGeom>
          <a:noFill/>
        </p:spPr>
        <p:txBody>
          <a:bodyPr wrap="square" lIns="36576" rIns="36576" tIns="18288" bIns="18288" anchor="t">
            <a:spAutoFit/>
          </a:bodyPr>
          <a:lstStyle/>
          <a:p>
            <a:pPr algn="ctr"/>
            <a:r>
              <a:rPr sz="1500" b="0" i="0">
                <a:solidFill>
                  <a:srgbClr val="8EF0B0"/>
                </a:solidFill>
                <a:latin typeface="Segoe UI"/>
                <a:cs typeface="Tahoma"/>
              </a:rPr>
              <a:t>Visible capability. Measurable impact.</a:t>
            </a:r>
          </a:p>
        </p:txBody>
      </p:sp>
      <p:sp>
        <p:nvSpPr>
          <p:cNvPr id="9" name="Rounded Rectangle 8"/>
          <p:cNvSpPr/>
          <p:nvPr/>
        </p:nvSpPr>
        <p:spPr>
          <a:xfrm>
            <a:off x="457200" y="2743200"/>
            <a:ext cx="2697480" cy="1554480"/>
          </a:xfrm>
          <a:prstGeom prst="roundRect">
            <a:avLst>
              <a:gd name="adj" fmla="val 6000"/>
            </a:avLst>
          </a:prstGeom>
          <a:solidFill>
            <a:srgbClr val="FFFFFF"/>
          </a:solidFill>
          <a:ln w="12700">
            <a:solidFill>
              <a:srgbClr val="09A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834640"/>
            <a:ext cx="2423160" cy="365760"/>
          </a:xfrm>
          <a:prstGeom prst="rect">
            <a:avLst/>
          </a:prstGeom>
          <a:noFill/>
        </p:spPr>
        <p:txBody>
          <a:bodyPr wrap="square" lIns="36576" rIns="36576" tIns="18288" bIns="18288" anchor="t">
            <a:spAutoFit/>
          </a:bodyPr>
          <a:lstStyle/>
          <a:p>
            <a:pPr algn="l"/>
            <a:r>
              <a:rPr sz="1600" b="1" i="0">
                <a:solidFill>
                  <a:srgbClr val="0B4F35"/>
                </a:solidFill>
                <a:latin typeface="Segoe UI"/>
                <a:cs typeface="Tahoma"/>
              </a:rPr>
              <a:t>Show it</a:t>
            </a:r>
          </a:p>
        </p:txBody>
      </p:sp>
      <p:sp>
        <p:nvSpPr>
          <p:cNvPr id="11" name="TextBox 10"/>
          <p:cNvSpPr txBox="1"/>
          <p:nvPr/>
        </p:nvSpPr>
        <p:spPr>
          <a:xfrm>
            <a:off x="594360" y="3246120"/>
            <a:ext cx="2423160" cy="1005840"/>
          </a:xfrm>
          <a:prstGeom prst="rect">
            <a:avLst/>
          </a:prstGeom>
          <a:noFill/>
        </p:spPr>
        <p:txBody>
          <a:bodyPr wrap="square" lIns="36576" rIns="36576" tIns="18288" bIns="18288" anchor="t">
            <a:spAutoFit/>
          </a:bodyPr>
          <a:lstStyle/>
          <a:p>
            <a:pPr algn="l"/>
            <a:r>
              <a:rPr sz="1150" b="0" i="0">
                <a:solidFill>
                  <a:srgbClr val="142B22"/>
                </a:solidFill>
                <a:latin typeface="Segoe UI"/>
                <a:cs typeface="Tahoma"/>
              </a:rPr>
              <a:t>Plant, clean room, line and people, in real photos and footage.</a:t>
            </a:r>
          </a:p>
        </p:txBody>
      </p:sp>
      <p:sp>
        <p:nvSpPr>
          <p:cNvPr id="12" name="Rounded Rectangle 11"/>
          <p:cNvSpPr/>
          <p:nvPr/>
        </p:nvSpPr>
        <p:spPr>
          <a:xfrm>
            <a:off x="3291840" y="2743200"/>
            <a:ext cx="2697480" cy="1554480"/>
          </a:xfrm>
          <a:prstGeom prst="roundRect">
            <a:avLst>
              <a:gd name="adj" fmla="val 6000"/>
            </a:avLst>
          </a:prstGeom>
          <a:solidFill>
            <a:srgbClr val="FFFFFF"/>
          </a:solidFill>
          <a:ln w="12700">
            <a:solidFill>
              <a:srgbClr val="09A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9000" y="2834640"/>
            <a:ext cx="2423160" cy="365760"/>
          </a:xfrm>
          <a:prstGeom prst="rect">
            <a:avLst/>
          </a:prstGeom>
          <a:noFill/>
        </p:spPr>
        <p:txBody>
          <a:bodyPr wrap="square" lIns="36576" rIns="36576" tIns="18288" bIns="18288" anchor="t">
            <a:spAutoFit/>
          </a:bodyPr>
          <a:lstStyle/>
          <a:p>
            <a:pPr algn="l"/>
            <a:r>
              <a:rPr sz="1600" b="1" i="0">
                <a:solidFill>
                  <a:srgbClr val="0B4F35"/>
                </a:solidFill>
                <a:latin typeface="Segoe UI"/>
                <a:cs typeface="Tahoma"/>
              </a:rPr>
              <a:t>Explain it</a:t>
            </a:r>
          </a:p>
        </p:txBody>
      </p:sp>
      <p:sp>
        <p:nvSpPr>
          <p:cNvPr id="14" name="TextBox 13"/>
          <p:cNvSpPr txBox="1"/>
          <p:nvPr/>
        </p:nvSpPr>
        <p:spPr>
          <a:xfrm>
            <a:off x="3429000" y="3246120"/>
            <a:ext cx="2423160" cy="1005840"/>
          </a:xfrm>
          <a:prstGeom prst="rect">
            <a:avLst/>
          </a:prstGeom>
          <a:noFill/>
        </p:spPr>
        <p:txBody>
          <a:bodyPr wrap="square" lIns="36576" rIns="36576" tIns="18288" bIns="18288" anchor="t">
            <a:spAutoFit/>
          </a:bodyPr>
          <a:lstStyle/>
          <a:p>
            <a:pPr algn="l"/>
            <a:r>
              <a:rPr sz="1150" b="0" i="0">
                <a:solidFill>
                  <a:srgbClr val="142B22"/>
                </a:solidFill>
                <a:latin typeface="Segoe UI"/>
                <a:cs typeface="Tahoma"/>
              </a:rPr>
              <a:t>In January, the line in seven plain steps, flagged for client verification.</a:t>
            </a:r>
          </a:p>
        </p:txBody>
      </p:sp>
      <p:sp>
        <p:nvSpPr>
          <p:cNvPr id="15" name="Rounded Rectangle 14"/>
          <p:cNvSpPr/>
          <p:nvPr/>
        </p:nvSpPr>
        <p:spPr>
          <a:xfrm>
            <a:off x="6126480" y="2743200"/>
            <a:ext cx="2697480" cy="1554480"/>
          </a:xfrm>
          <a:prstGeom prst="roundRect">
            <a:avLst>
              <a:gd name="adj" fmla="val 6000"/>
            </a:avLst>
          </a:prstGeom>
          <a:solidFill>
            <a:srgbClr val="FFFFFF"/>
          </a:solidFill>
          <a:ln w="12700">
            <a:solidFill>
              <a:srgbClr val="09A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834640"/>
            <a:ext cx="2423160" cy="365760"/>
          </a:xfrm>
          <a:prstGeom prst="rect">
            <a:avLst/>
          </a:prstGeom>
          <a:noFill/>
        </p:spPr>
        <p:txBody>
          <a:bodyPr wrap="square" lIns="36576" rIns="36576" tIns="18288" bIns="18288" anchor="t">
            <a:spAutoFit/>
          </a:bodyPr>
          <a:lstStyle/>
          <a:p>
            <a:pPr algn="l"/>
            <a:r>
              <a:rPr sz="1600" b="1" i="0">
                <a:solidFill>
                  <a:srgbClr val="0B4F35"/>
                </a:solidFill>
                <a:latin typeface="Segoe UI"/>
                <a:cs typeface="Tahoma"/>
              </a:rPr>
              <a:t>Prove it</a:t>
            </a:r>
          </a:p>
        </p:txBody>
      </p:sp>
      <p:sp>
        <p:nvSpPr>
          <p:cNvPr id="17" name="TextBox 16"/>
          <p:cNvSpPr txBox="1"/>
          <p:nvPr/>
        </p:nvSpPr>
        <p:spPr>
          <a:xfrm>
            <a:off x="6263640" y="3246120"/>
            <a:ext cx="2423160" cy="1005840"/>
          </a:xfrm>
          <a:prstGeom prst="rect">
            <a:avLst/>
          </a:prstGeom>
          <a:noFill/>
        </p:spPr>
        <p:txBody>
          <a:bodyPr wrap="square" lIns="36576" rIns="36576" tIns="18288" bIns="18288" anchor="t">
            <a:spAutoFit/>
          </a:bodyPr>
          <a:lstStyle/>
          <a:p>
            <a:pPr algn="l"/>
            <a:r>
              <a:rPr sz="1150" b="0" i="0">
                <a:solidFill>
                  <a:srgbClr val="142B22"/>
                </a:solidFill>
                <a:latin typeface="Segoe UI"/>
                <a:cs typeface="Tahoma"/>
              </a:rPr>
              <a:t>Made here: the site, local industry and recognition quoted exactly. No numbers.</a:t>
            </a:r>
          </a:p>
        </p:txBody>
      </p:sp>
      <p:sp>
        <p:nvSpPr>
          <p:cNvPr id="18" name="Rounded Rectangle 17"/>
          <p:cNvSpPr/>
          <p:nvPr/>
        </p:nvSpPr>
        <p:spPr>
          <a:xfrm>
            <a:off x="8961120" y="2743200"/>
            <a:ext cx="2697480" cy="1554480"/>
          </a:xfrm>
          <a:prstGeom prst="roundRect">
            <a:avLst>
              <a:gd name="adj" fmla="val 6000"/>
            </a:avLst>
          </a:prstGeom>
          <a:solidFill>
            <a:srgbClr val="FFFFFF"/>
          </a:solidFill>
          <a:ln w="12700">
            <a:solidFill>
              <a:srgbClr val="09A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280" y="2834640"/>
            <a:ext cx="2423160" cy="365760"/>
          </a:xfrm>
          <a:prstGeom prst="rect">
            <a:avLst/>
          </a:prstGeom>
          <a:noFill/>
        </p:spPr>
        <p:txBody>
          <a:bodyPr wrap="square" lIns="36576" rIns="36576" tIns="18288" bIns="18288" anchor="t">
            <a:spAutoFit/>
          </a:bodyPr>
          <a:lstStyle/>
          <a:p>
            <a:pPr algn="l"/>
            <a:r>
              <a:rPr sz="1600" b="1" i="0">
                <a:solidFill>
                  <a:srgbClr val="0B4F35"/>
                </a:solidFill>
                <a:latin typeface="Segoe UI"/>
                <a:cs typeface="Tahoma"/>
              </a:rPr>
              <a:t>Staff it</a:t>
            </a:r>
          </a:p>
        </p:txBody>
      </p:sp>
      <p:sp>
        <p:nvSpPr>
          <p:cNvPr id="20" name="TextBox 19"/>
          <p:cNvSpPr txBox="1"/>
          <p:nvPr/>
        </p:nvSpPr>
        <p:spPr>
          <a:xfrm>
            <a:off x="9098280" y="3246120"/>
            <a:ext cx="2423160" cy="1005840"/>
          </a:xfrm>
          <a:prstGeom prst="rect">
            <a:avLst/>
          </a:prstGeom>
          <a:noFill/>
        </p:spPr>
        <p:txBody>
          <a:bodyPr wrap="square" lIns="36576" rIns="36576" tIns="18288" bIns="18288" anchor="t">
            <a:spAutoFit/>
          </a:bodyPr>
          <a:lstStyle/>
          <a:p>
            <a:pPr algn="l"/>
            <a:r>
              <a:rPr sz="1150" b="0" i="0">
                <a:solidFill>
                  <a:srgbClr val="142B22"/>
                </a:solidFill>
                <a:latin typeface="Segoe UI"/>
                <a:cs typeface="Tahoma"/>
              </a:rPr>
              <a:t>Careers and the women and men who make it, with consent.</a:t>
            </a:r>
          </a:p>
        </p:txBody>
      </p:sp>
      <p:sp>
        <p:nvSpPr>
          <p:cNvPr id="21" name="TextBox 20"/>
          <p:cNvSpPr txBox="1"/>
          <p:nvPr/>
        </p:nvSpPr>
        <p:spPr>
          <a:xfrm>
            <a:off x="457200" y="4572000"/>
            <a:ext cx="11247120" cy="365760"/>
          </a:xfrm>
          <a:prstGeom prst="rect">
            <a:avLst/>
          </a:prstGeom>
          <a:noFill/>
        </p:spPr>
        <p:txBody>
          <a:bodyPr wrap="square" lIns="36576" rIns="36576" tIns="18288" bIns="18288" anchor="t">
            <a:spAutoFit/>
          </a:bodyPr>
          <a:lstStyle/>
          <a:p>
            <a:pPr algn="l"/>
            <a:r>
              <a:rPr sz="1300" b="1" i="0">
                <a:solidFill>
                  <a:srgbClr val="0B4F35"/>
                </a:solidFill>
                <a:latin typeface="Segoe UI"/>
                <a:cs typeface="Tahoma"/>
              </a:rPr>
              <a:t>Pillars</a:t>
            </a:r>
          </a:p>
        </p:txBody>
      </p:sp>
      <p:sp>
        <p:nvSpPr>
          <p:cNvPr id="22" name="Rounded Rectangle 21"/>
          <p:cNvSpPr/>
          <p:nvPr/>
        </p:nvSpPr>
        <p:spPr>
          <a:xfrm>
            <a:off x="457200" y="4937760"/>
            <a:ext cx="2697480" cy="548640"/>
          </a:xfrm>
          <a:prstGeom prst="roundRect">
            <a:avLst>
              <a:gd name="adj" fmla="val 30000"/>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937760"/>
            <a:ext cx="2697480" cy="548640"/>
          </a:xfrm>
          <a:prstGeom prst="rect">
            <a:avLst/>
          </a:prstGeom>
          <a:noFill/>
        </p:spPr>
        <p:txBody>
          <a:bodyPr wrap="square" lIns="36576" rIns="36576" tIns="18288" bIns="18288" anchor="ctr">
            <a:spAutoFit/>
          </a:bodyPr>
          <a:lstStyle/>
          <a:p>
            <a:pPr algn="ctr"/>
            <a:r>
              <a:rPr sz="1200" b="1" i="0">
                <a:solidFill>
                  <a:srgbClr val="0B4F35"/>
                </a:solidFill>
                <a:latin typeface="Segoe UI"/>
                <a:cs typeface="Tahoma"/>
              </a:rPr>
              <a:t>Meet the makers</a:t>
            </a:r>
          </a:p>
        </p:txBody>
      </p:sp>
      <p:sp>
        <p:nvSpPr>
          <p:cNvPr id="24" name="Rounded Rectangle 23"/>
          <p:cNvSpPr/>
          <p:nvPr/>
        </p:nvSpPr>
        <p:spPr>
          <a:xfrm>
            <a:off x="3291840" y="4937760"/>
            <a:ext cx="2697480" cy="548640"/>
          </a:xfrm>
          <a:prstGeom prst="roundRect">
            <a:avLst>
              <a:gd name="adj" fmla="val 30000"/>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91840" y="4937760"/>
            <a:ext cx="2697480" cy="548640"/>
          </a:xfrm>
          <a:prstGeom prst="rect">
            <a:avLst/>
          </a:prstGeom>
          <a:noFill/>
        </p:spPr>
        <p:txBody>
          <a:bodyPr wrap="square" lIns="36576" rIns="36576" tIns="18288" bIns="18288" anchor="ctr">
            <a:spAutoFit/>
          </a:bodyPr>
          <a:lstStyle/>
          <a:p>
            <a:pPr algn="ctr"/>
            <a:r>
              <a:rPr sz="1200" b="1" i="0">
                <a:solidFill>
                  <a:srgbClr val="0B4F35"/>
                </a:solidFill>
                <a:latin typeface="Segoe UI"/>
                <a:cs typeface="Tahoma"/>
              </a:rPr>
              <a:t>How it is made</a:t>
            </a:r>
          </a:p>
        </p:txBody>
      </p:sp>
      <p:sp>
        <p:nvSpPr>
          <p:cNvPr id="26" name="Rounded Rectangle 25"/>
          <p:cNvSpPr/>
          <p:nvPr/>
        </p:nvSpPr>
        <p:spPr>
          <a:xfrm>
            <a:off x="6126480" y="4937760"/>
            <a:ext cx="2697480" cy="548640"/>
          </a:xfrm>
          <a:prstGeom prst="roundRect">
            <a:avLst>
              <a:gd name="adj" fmla="val 30000"/>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4937760"/>
            <a:ext cx="2697480" cy="548640"/>
          </a:xfrm>
          <a:prstGeom prst="rect">
            <a:avLst/>
          </a:prstGeom>
          <a:noFill/>
        </p:spPr>
        <p:txBody>
          <a:bodyPr wrap="square" lIns="36576" rIns="36576" tIns="18288" bIns="18288" anchor="ctr">
            <a:spAutoFit/>
          </a:bodyPr>
          <a:lstStyle/>
          <a:p>
            <a:pPr algn="ctr"/>
            <a:r>
              <a:rPr sz="1200" b="1" i="0">
                <a:solidFill>
                  <a:srgbClr val="0B4F35"/>
                </a:solidFill>
                <a:latin typeface="Segoe UI"/>
                <a:cs typeface="Tahoma"/>
              </a:rPr>
              <a:t>Quality and trust</a:t>
            </a:r>
          </a:p>
        </p:txBody>
      </p:sp>
      <p:sp>
        <p:nvSpPr>
          <p:cNvPr id="28" name="Rounded Rectangle 27"/>
          <p:cNvSpPr/>
          <p:nvPr/>
        </p:nvSpPr>
        <p:spPr>
          <a:xfrm>
            <a:off x="8961120" y="4937760"/>
            <a:ext cx="2697480" cy="548640"/>
          </a:xfrm>
          <a:prstGeom prst="roundRect">
            <a:avLst>
              <a:gd name="adj" fmla="val 30000"/>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61120" y="4937760"/>
            <a:ext cx="2697480" cy="548640"/>
          </a:xfrm>
          <a:prstGeom prst="rect">
            <a:avLst/>
          </a:prstGeom>
          <a:noFill/>
        </p:spPr>
        <p:txBody>
          <a:bodyPr wrap="square" lIns="36576" rIns="36576" tIns="18288" bIns="18288" anchor="ctr">
            <a:spAutoFit/>
          </a:bodyPr>
          <a:lstStyle/>
          <a:p>
            <a:pPr algn="ctr"/>
            <a:r>
              <a:rPr sz="1200" b="1" i="0">
                <a:solidFill>
                  <a:srgbClr val="0B4F35"/>
                </a:solidFill>
                <a:latin typeface="Segoe UI"/>
                <a:cs typeface="Tahoma"/>
              </a:rPr>
              <a:t>Local manufacturing</a:t>
            </a:r>
          </a:p>
        </p:txBody>
      </p:sp>
      <p:sp>
        <p:nvSpPr>
          <p:cNvPr id="30" name="Rounded Rectangle 29"/>
          <p:cNvSpPr/>
          <p:nvPr/>
        </p:nvSpPr>
        <p:spPr>
          <a:xfrm>
            <a:off x="457200" y="5623560"/>
            <a:ext cx="2697480" cy="548640"/>
          </a:xfrm>
          <a:prstGeom prst="roundRect">
            <a:avLst>
              <a:gd name="adj" fmla="val 30000"/>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5623560"/>
            <a:ext cx="2697480" cy="548640"/>
          </a:xfrm>
          <a:prstGeom prst="rect">
            <a:avLst/>
          </a:prstGeom>
          <a:noFill/>
        </p:spPr>
        <p:txBody>
          <a:bodyPr wrap="square" lIns="36576" rIns="36576" tIns="18288" bIns="18288" anchor="ctr">
            <a:spAutoFit/>
          </a:bodyPr>
          <a:lstStyle/>
          <a:p>
            <a:pPr algn="ctr"/>
            <a:r>
              <a:rPr sz="1200" b="1" i="0">
                <a:solidFill>
                  <a:srgbClr val="0B4F35"/>
                </a:solidFill>
                <a:latin typeface="Segoe UI"/>
                <a:cs typeface="Tahoma"/>
              </a:rPr>
              <a:t>Awareness days</a:t>
            </a:r>
          </a:p>
        </p:txBody>
      </p:sp>
      <p:sp>
        <p:nvSpPr>
          <p:cNvPr id="32" name="Rounded Rectangle 31"/>
          <p:cNvSpPr/>
          <p:nvPr/>
        </p:nvSpPr>
        <p:spPr>
          <a:xfrm>
            <a:off x="3291840" y="5623560"/>
            <a:ext cx="2697480" cy="548640"/>
          </a:xfrm>
          <a:prstGeom prst="roundRect">
            <a:avLst>
              <a:gd name="adj" fmla="val 30000"/>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91840" y="5623560"/>
            <a:ext cx="2697480" cy="548640"/>
          </a:xfrm>
          <a:prstGeom prst="rect">
            <a:avLst/>
          </a:prstGeom>
          <a:noFill/>
        </p:spPr>
        <p:txBody>
          <a:bodyPr wrap="square" lIns="36576" rIns="36576" tIns="18288" bIns="18288" anchor="ctr">
            <a:spAutoFit/>
          </a:bodyPr>
          <a:lstStyle/>
          <a:p>
            <a:pPr algn="ctr"/>
            <a:r>
              <a:rPr sz="1200" b="1" i="0">
                <a:solidFill>
                  <a:srgbClr val="0B4F35"/>
                </a:solidFill>
                <a:latin typeface="Segoe UI"/>
                <a:cs typeface="Tahoma"/>
              </a:rPr>
              <a:t>People and careers</a:t>
            </a:r>
          </a:p>
        </p:txBody>
      </p:sp>
      <p:sp>
        <p:nvSpPr>
          <p:cNvPr id="34" name="Rounded Rectangle 33"/>
          <p:cNvSpPr/>
          <p:nvPr/>
        </p:nvSpPr>
        <p:spPr>
          <a:xfrm>
            <a:off x="6126480" y="5623560"/>
            <a:ext cx="2697480" cy="548640"/>
          </a:xfrm>
          <a:prstGeom prst="roundRect">
            <a:avLst>
              <a:gd name="adj" fmla="val 30000"/>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26480" y="5623560"/>
            <a:ext cx="2697480" cy="548640"/>
          </a:xfrm>
          <a:prstGeom prst="rect">
            <a:avLst/>
          </a:prstGeom>
          <a:noFill/>
        </p:spPr>
        <p:txBody>
          <a:bodyPr wrap="square" lIns="36576" rIns="36576" tIns="18288" bIns="18288" anchor="ctr">
            <a:spAutoFit/>
          </a:bodyPr>
          <a:lstStyle/>
          <a:p>
            <a:pPr algn="ctr"/>
            <a:r>
              <a:rPr sz="1200" b="1" i="0">
                <a:solidFill>
                  <a:srgbClr val="0B4F35"/>
                </a:solidFill>
                <a:latin typeface="Segoe UI"/>
                <a:cs typeface="Tahoma"/>
              </a:rPr>
              <a:t>Recognition and events</a:t>
            </a:r>
          </a:p>
        </p:txBody>
      </p:sp>
      <p:sp>
        <p:nvSpPr>
          <p:cNvPr id="36" name="Rounded Rectangle 35"/>
          <p:cNvSpPr/>
          <p:nvPr/>
        </p:nvSpPr>
        <p:spPr>
          <a:xfrm>
            <a:off x="8961120" y="5623560"/>
            <a:ext cx="2697480" cy="548640"/>
          </a:xfrm>
          <a:prstGeom prst="roundRect">
            <a:avLst>
              <a:gd name="adj" fmla="val 30000"/>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61120" y="5623560"/>
            <a:ext cx="2697480" cy="548640"/>
          </a:xfrm>
          <a:prstGeom prst="rect">
            <a:avLst/>
          </a:prstGeom>
          <a:noFill/>
        </p:spPr>
        <p:txBody>
          <a:bodyPr wrap="square" lIns="36576" rIns="36576" tIns="18288" bIns="18288" anchor="ctr">
            <a:spAutoFit/>
          </a:bodyPr>
          <a:lstStyle/>
          <a:p>
            <a:pPr algn="ctr"/>
            <a:r>
              <a:rPr sz="1200" b="1" i="0">
                <a:solidFill>
                  <a:srgbClr val="0B4F35"/>
                </a:solidFill>
                <a:latin typeface="Segoe UI"/>
                <a:cs typeface="Tahoma"/>
              </a:rPr>
              <a:t>Year and community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48640"/>
          </a:xfrm>
          <a:prstGeom prst="rect">
            <a:avLst/>
          </a:prstGeom>
          <a:noFill/>
        </p:spPr>
        <p:txBody>
          <a:bodyPr wrap="square" lIns="36576" rIns="36576" tIns="18288" bIns="18288" anchor="t">
            <a:spAutoFit/>
          </a:bodyPr>
          <a:lstStyle/>
          <a:p>
            <a:pPr algn="l"/>
            <a:r>
              <a:rPr sz="2400" b="1" i="0">
                <a:solidFill>
                  <a:srgbClr val="0B4F35"/>
                </a:solidFill>
                <a:latin typeface="Segoe UI"/>
                <a:cs typeface="Tahoma"/>
              </a:rPr>
              <a:t>Who we speak to</a:t>
            </a:r>
          </a:p>
        </p:txBody>
      </p:sp>
      <p:sp>
        <p:nvSpPr>
          <p:cNvPr id="4" name="TextBox 3"/>
          <p:cNvSpPr txBox="1"/>
          <p:nvPr/>
        </p:nvSpPr>
        <p:spPr>
          <a:xfrm>
            <a:off x="457200" y="749808"/>
            <a:ext cx="11247120" cy="365760"/>
          </a:xfrm>
          <a:prstGeom prst="rect">
            <a:avLst/>
          </a:prstGeom>
          <a:noFill/>
        </p:spPr>
        <p:txBody>
          <a:bodyPr wrap="square" lIns="36576" rIns="36576" tIns="18288" bIns="18288" anchor="t">
            <a:spAutoFit/>
          </a:bodyPr>
          <a:lstStyle/>
          <a:p>
            <a:pPr algn="l"/>
            <a:r>
              <a:rPr sz="1200" b="0" i="0">
                <a:solidFill>
                  <a:srgbClr val="5B6B63"/>
                </a:solidFill>
                <a:latin typeface="Segoe UI"/>
                <a:cs typeface="Tahoma"/>
              </a:rPr>
              <a:t>Five audiences, one voice</a:t>
            </a:r>
          </a:p>
        </p:txBody>
      </p:sp>
      <p:sp>
        <p:nvSpPr>
          <p:cNvPr id="5" name="TextBox 4"/>
          <p:cNvSpPr txBox="1"/>
          <p:nvPr/>
        </p:nvSpPr>
        <p:spPr>
          <a:xfrm>
            <a:off x="11155680" y="6492240"/>
            <a:ext cx="731520" cy="274320"/>
          </a:xfrm>
          <a:prstGeom prst="rect">
            <a:avLst/>
          </a:prstGeom>
          <a:noFill/>
        </p:spPr>
        <p:txBody>
          <a:bodyPr wrap="square" lIns="36576" rIns="36576" tIns="18288" bIns="18288" anchor="t">
            <a:spAutoFit/>
          </a:bodyPr>
          <a:lstStyle/>
          <a:p>
            <a:pPr algn="r"/>
            <a:r>
              <a:rPr sz="900" b="0" i="0">
                <a:solidFill>
                  <a:srgbClr val="5B6B63"/>
                </a:solidFill>
                <a:latin typeface="Segoe UI"/>
                <a:cs typeface="Tahoma"/>
              </a:rPr>
              <a:t>4</a:t>
            </a:r>
          </a:p>
        </p:txBody>
      </p:sp>
      <p:sp>
        <p:nvSpPr>
          <p:cNvPr id="6" name="Rounded Rectangle 5"/>
          <p:cNvSpPr/>
          <p:nvPr/>
        </p:nvSpPr>
        <p:spPr>
          <a:xfrm>
            <a:off x="457200" y="1371600"/>
            <a:ext cx="11247120" cy="868680"/>
          </a:xfrm>
          <a:prstGeom prst="roundRect">
            <a:avLst>
              <a:gd name="adj" fmla="val 8000"/>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63040"/>
            <a:ext cx="3931920" cy="685800"/>
          </a:xfrm>
          <a:prstGeom prst="rect">
            <a:avLst/>
          </a:prstGeom>
          <a:noFill/>
        </p:spPr>
        <p:txBody>
          <a:bodyPr wrap="square" lIns="36576" rIns="36576" tIns="18288" bIns="18288" anchor="ctr">
            <a:spAutoFit/>
          </a:bodyPr>
          <a:lstStyle/>
          <a:p>
            <a:pPr algn="l"/>
            <a:r>
              <a:rPr sz="1300" b="1" i="0">
                <a:solidFill>
                  <a:srgbClr val="0B4F35"/>
                </a:solidFill>
                <a:latin typeface="Segoe UI"/>
                <a:cs typeface="Tahoma"/>
              </a:rPr>
              <a:t>Pharmacists and healthcare professionals</a:t>
            </a:r>
          </a:p>
        </p:txBody>
      </p:sp>
      <p:sp>
        <p:nvSpPr>
          <p:cNvPr id="8" name="TextBox 7"/>
          <p:cNvSpPr txBox="1"/>
          <p:nvPr/>
        </p:nvSpPr>
        <p:spPr>
          <a:xfrm>
            <a:off x="4663440" y="1463040"/>
            <a:ext cx="4572000" cy="685800"/>
          </a:xfrm>
          <a:prstGeom prst="rect">
            <a:avLst/>
          </a:prstGeom>
          <a:noFill/>
        </p:spPr>
        <p:txBody>
          <a:bodyPr wrap="square" lIns="36576" rIns="36576" tIns="18288" bIns="18288" anchor="ctr">
            <a:spAutoFit/>
          </a:bodyPr>
          <a:lstStyle/>
          <a:p>
            <a:pPr algn="l"/>
            <a:r>
              <a:rPr sz="1150" b="0" i="0">
                <a:solidFill>
                  <a:srgbClr val="142B22"/>
                </a:solidFill>
                <a:latin typeface="Segoe UI"/>
                <a:cs typeface="Tahoma"/>
              </a:rPr>
              <a:t>The site, the people, the day at the plant; thanks to partners.</a:t>
            </a:r>
          </a:p>
        </p:txBody>
      </p:sp>
      <p:sp>
        <p:nvSpPr>
          <p:cNvPr id="9" name="TextBox 8"/>
          <p:cNvSpPr txBox="1"/>
          <p:nvPr/>
        </p:nvSpPr>
        <p:spPr>
          <a:xfrm>
            <a:off x="9418320" y="1463040"/>
            <a:ext cx="2194560" cy="685800"/>
          </a:xfrm>
          <a:prstGeom prst="rect">
            <a:avLst/>
          </a:prstGeom>
          <a:noFill/>
        </p:spPr>
        <p:txBody>
          <a:bodyPr wrap="square" lIns="36576" rIns="36576" tIns="18288" bIns="18288" anchor="ctr">
            <a:spAutoFit/>
          </a:bodyPr>
          <a:lstStyle/>
          <a:p>
            <a:pPr algn="l"/>
            <a:r>
              <a:rPr sz="1100" b="0" i="0">
                <a:solidFill>
                  <a:srgbClr val="5B6B63"/>
                </a:solidFill>
                <a:latin typeface="Segoe UI"/>
                <a:cs typeface="Tahoma"/>
              </a:rPr>
              <a:t>LinkedIn, X, Instagram</a:t>
            </a:r>
          </a:p>
        </p:txBody>
      </p:sp>
      <p:sp>
        <p:nvSpPr>
          <p:cNvPr id="10" name="Rounded Rectangle 9"/>
          <p:cNvSpPr/>
          <p:nvPr/>
        </p:nvSpPr>
        <p:spPr>
          <a:xfrm>
            <a:off x="457200" y="2331720"/>
            <a:ext cx="11247120" cy="868680"/>
          </a:xfrm>
          <a:prstGeom prst="roundRect">
            <a:avLst>
              <a:gd name="adj" fmla="val 8000"/>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423160"/>
            <a:ext cx="3931920" cy="685800"/>
          </a:xfrm>
          <a:prstGeom prst="rect">
            <a:avLst/>
          </a:prstGeom>
          <a:noFill/>
        </p:spPr>
        <p:txBody>
          <a:bodyPr wrap="square" lIns="36576" rIns="36576" tIns="18288" bIns="18288" anchor="ctr">
            <a:spAutoFit/>
          </a:bodyPr>
          <a:lstStyle/>
          <a:p>
            <a:pPr algn="l"/>
            <a:r>
              <a:rPr sz="1300" b="1" i="0">
                <a:solidFill>
                  <a:srgbClr val="0B4F35"/>
                </a:solidFill>
                <a:latin typeface="Segoe UI"/>
                <a:cs typeface="Tahoma"/>
              </a:rPr>
              <a:t>Partners, distributors and authorities</a:t>
            </a:r>
          </a:p>
        </p:txBody>
      </p:sp>
      <p:sp>
        <p:nvSpPr>
          <p:cNvPr id="12" name="TextBox 11"/>
          <p:cNvSpPr txBox="1"/>
          <p:nvPr/>
        </p:nvSpPr>
        <p:spPr>
          <a:xfrm>
            <a:off x="4663440" y="2423160"/>
            <a:ext cx="4572000" cy="685800"/>
          </a:xfrm>
          <a:prstGeom prst="rect">
            <a:avLst/>
          </a:prstGeom>
          <a:noFill/>
        </p:spPr>
        <p:txBody>
          <a:bodyPr wrap="square" lIns="36576" rIns="36576" tIns="18288" bIns="18288" anchor="ctr">
            <a:spAutoFit/>
          </a:bodyPr>
          <a:lstStyle/>
          <a:p>
            <a:pPr algn="l"/>
            <a:r>
              <a:rPr sz="1150" b="0" i="0">
                <a:solidFill>
                  <a:srgbClr val="142B22"/>
                </a:solidFill>
                <a:latin typeface="Segoe UI"/>
                <a:cs typeface="Tahoma"/>
              </a:rPr>
              <a:t>The site, local industry, events and partnerships already published.</a:t>
            </a:r>
          </a:p>
        </p:txBody>
      </p:sp>
      <p:sp>
        <p:nvSpPr>
          <p:cNvPr id="13" name="TextBox 12"/>
          <p:cNvSpPr txBox="1"/>
          <p:nvPr/>
        </p:nvSpPr>
        <p:spPr>
          <a:xfrm>
            <a:off x="9418320" y="2423160"/>
            <a:ext cx="2194560" cy="685800"/>
          </a:xfrm>
          <a:prstGeom prst="rect">
            <a:avLst/>
          </a:prstGeom>
          <a:noFill/>
        </p:spPr>
        <p:txBody>
          <a:bodyPr wrap="square" lIns="36576" rIns="36576" tIns="18288" bIns="18288" anchor="ctr">
            <a:spAutoFit/>
          </a:bodyPr>
          <a:lstStyle/>
          <a:p>
            <a:pPr algn="l"/>
            <a:r>
              <a:rPr sz="1100" b="0" i="0">
                <a:solidFill>
                  <a:srgbClr val="5B6B63"/>
                </a:solidFill>
                <a:latin typeface="Segoe UI"/>
                <a:cs typeface="Tahoma"/>
              </a:rPr>
              <a:t>LinkedIn, X</a:t>
            </a:r>
          </a:p>
        </p:txBody>
      </p:sp>
      <p:sp>
        <p:nvSpPr>
          <p:cNvPr id="14" name="Rounded Rectangle 13"/>
          <p:cNvSpPr/>
          <p:nvPr/>
        </p:nvSpPr>
        <p:spPr>
          <a:xfrm>
            <a:off x="457200" y="3291839"/>
            <a:ext cx="11247120" cy="868680"/>
          </a:xfrm>
          <a:prstGeom prst="roundRect">
            <a:avLst>
              <a:gd name="adj" fmla="val 8000"/>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383279"/>
            <a:ext cx="3931920" cy="685800"/>
          </a:xfrm>
          <a:prstGeom prst="rect">
            <a:avLst/>
          </a:prstGeom>
          <a:noFill/>
        </p:spPr>
        <p:txBody>
          <a:bodyPr wrap="square" lIns="36576" rIns="36576" tIns="18288" bIns="18288" anchor="ctr">
            <a:spAutoFit/>
          </a:bodyPr>
          <a:lstStyle/>
          <a:p>
            <a:pPr algn="l"/>
            <a:r>
              <a:rPr sz="1300" b="1" i="0">
                <a:solidFill>
                  <a:srgbClr val="0B4F35"/>
                </a:solidFill>
                <a:latin typeface="Segoe UI"/>
                <a:cs typeface="Tahoma"/>
              </a:rPr>
              <a:t>Talent and graduates</a:t>
            </a:r>
          </a:p>
        </p:txBody>
      </p:sp>
      <p:sp>
        <p:nvSpPr>
          <p:cNvPr id="16" name="TextBox 15"/>
          <p:cNvSpPr txBox="1"/>
          <p:nvPr/>
        </p:nvSpPr>
        <p:spPr>
          <a:xfrm>
            <a:off x="4663440" y="3383279"/>
            <a:ext cx="4572000" cy="685800"/>
          </a:xfrm>
          <a:prstGeom prst="rect">
            <a:avLst/>
          </a:prstGeom>
          <a:noFill/>
        </p:spPr>
        <p:txBody>
          <a:bodyPr wrap="square" lIns="36576" rIns="36576" tIns="18288" bIns="18288" anchor="ctr">
            <a:spAutoFit/>
          </a:bodyPr>
          <a:lstStyle/>
          <a:p>
            <a:pPr algn="l"/>
            <a:r>
              <a:rPr sz="1150" b="0" i="0">
                <a:solidFill>
                  <a:srgbClr val="142B22"/>
                </a:solidFill>
                <a:latin typeface="Segoe UI"/>
                <a:cs typeface="Tahoma"/>
              </a:rPr>
              <a:t>A career on a real line; the women and men of Sudair.</a:t>
            </a:r>
          </a:p>
        </p:txBody>
      </p:sp>
      <p:sp>
        <p:nvSpPr>
          <p:cNvPr id="17" name="TextBox 16"/>
          <p:cNvSpPr txBox="1"/>
          <p:nvPr/>
        </p:nvSpPr>
        <p:spPr>
          <a:xfrm>
            <a:off x="9418320" y="3383279"/>
            <a:ext cx="2194560" cy="685800"/>
          </a:xfrm>
          <a:prstGeom prst="rect">
            <a:avLst/>
          </a:prstGeom>
          <a:noFill/>
        </p:spPr>
        <p:txBody>
          <a:bodyPr wrap="square" lIns="36576" rIns="36576" tIns="18288" bIns="18288" anchor="ctr">
            <a:spAutoFit/>
          </a:bodyPr>
          <a:lstStyle/>
          <a:p>
            <a:pPr algn="l"/>
            <a:r>
              <a:rPr sz="1100" b="0" i="0">
                <a:solidFill>
                  <a:srgbClr val="5B6B63"/>
                </a:solidFill>
                <a:latin typeface="Segoe UI"/>
                <a:cs typeface="Tahoma"/>
              </a:rPr>
              <a:t>Instagram, LinkedIn</a:t>
            </a:r>
          </a:p>
        </p:txBody>
      </p:sp>
      <p:sp>
        <p:nvSpPr>
          <p:cNvPr id="18" name="Rounded Rectangle 17"/>
          <p:cNvSpPr/>
          <p:nvPr/>
        </p:nvSpPr>
        <p:spPr>
          <a:xfrm>
            <a:off x="457200" y="4251959"/>
            <a:ext cx="11247120" cy="868680"/>
          </a:xfrm>
          <a:prstGeom prst="roundRect">
            <a:avLst>
              <a:gd name="adj" fmla="val 8000"/>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343399"/>
            <a:ext cx="3931920" cy="685800"/>
          </a:xfrm>
          <a:prstGeom prst="rect">
            <a:avLst/>
          </a:prstGeom>
          <a:noFill/>
        </p:spPr>
        <p:txBody>
          <a:bodyPr wrap="square" lIns="36576" rIns="36576" tIns="18288" bIns="18288" anchor="ctr">
            <a:spAutoFit/>
          </a:bodyPr>
          <a:lstStyle/>
          <a:p>
            <a:pPr algn="l"/>
            <a:r>
              <a:rPr sz="1300" b="1" i="0">
                <a:solidFill>
                  <a:srgbClr val="0B4F35"/>
                </a:solidFill>
                <a:latin typeface="Segoe UI"/>
                <a:cs typeface="Tahoma"/>
              </a:rPr>
              <a:t>The public and families</a:t>
            </a:r>
          </a:p>
        </p:txBody>
      </p:sp>
      <p:sp>
        <p:nvSpPr>
          <p:cNvPr id="20" name="TextBox 19"/>
          <p:cNvSpPr txBox="1"/>
          <p:nvPr/>
        </p:nvSpPr>
        <p:spPr>
          <a:xfrm>
            <a:off x="4663440" y="4343399"/>
            <a:ext cx="4572000" cy="685800"/>
          </a:xfrm>
          <a:prstGeom prst="rect">
            <a:avLst/>
          </a:prstGeom>
          <a:noFill/>
        </p:spPr>
        <p:txBody>
          <a:bodyPr wrap="square" lIns="36576" rIns="36576" tIns="18288" bIns="18288" anchor="ctr">
            <a:spAutoFit/>
          </a:bodyPr>
          <a:lstStyle/>
          <a:p>
            <a:pPr algn="l"/>
            <a:r>
              <a:rPr sz="1150" b="0" i="0">
                <a:solidFill>
                  <a:srgbClr val="142B22"/>
                </a:solidFill>
                <a:latin typeface="Segoe UI"/>
                <a:cs typeface="Tahoma"/>
              </a:rPr>
              <a:t>Solidarity on awareness days: greetings and thanks, never information or advice.</a:t>
            </a:r>
          </a:p>
        </p:txBody>
      </p:sp>
      <p:sp>
        <p:nvSpPr>
          <p:cNvPr id="21" name="TextBox 20"/>
          <p:cNvSpPr txBox="1"/>
          <p:nvPr/>
        </p:nvSpPr>
        <p:spPr>
          <a:xfrm>
            <a:off x="9418320" y="4343399"/>
            <a:ext cx="2194560" cy="685800"/>
          </a:xfrm>
          <a:prstGeom prst="rect">
            <a:avLst/>
          </a:prstGeom>
          <a:noFill/>
        </p:spPr>
        <p:txBody>
          <a:bodyPr wrap="square" lIns="36576" rIns="36576" tIns="18288" bIns="18288" anchor="ctr">
            <a:spAutoFit/>
          </a:bodyPr>
          <a:lstStyle/>
          <a:p>
            <a:pPr algn="l"/>
            <a:r>
              <a:rPr sz="1100" b="0" i="0">
                <a:solidFill>
                  <a:srgbClr val="5B6B63"/>
                </a:solidFill>
                <a:latin typeface="Segoe UI"/>
                <a:cs typeface="Tahoma"/>
              </a:rPr>
              <a:t>Instagram, Facebook</a:t>
            </a:r>
          </a:p>
        </p:txBody>
      </p:sp>
      <p:sp>
        <p:nvSpPr>
          <p:cNvPr id="22" name="Rounded Rectangle 21"/>
          <p:cNvSpPr/>
          <p:nvPr/>
        </p:nvSpPr>
        <p:spPr>
          <a:xfrm>
            <a:off x="457200" y="5212079"/>
            <a:ext cx="11247120" cy="868680"/>
          </a:xfrm>
          <a:prstGeom prst="roundRect">
            <a:avLst>
              <a:gd name="adj" fmla="val 8000"/>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5303519"/>
            <a:ext cx="3931920" cy="685800"/>
          </a:xfrm>
          <a:prstGeom prst="rect">
            <a:avLst/>
          </a:prstGeom>
          <a:noFill/>
        </p:spPr>
        <p:txBody>
          <a:bodyPr wrap="square" lIns="36576" rIns="36576" tIns="18288" bIns="18288" anchor="ctr">
            <a:spAutoFit/>
          </a:bodyPr>
          <a:lstStyle/>
          <a:p>
            <a:pPr algn="l"/>
            <a:r>
              <a:rPr sz="1300" b="1" i="0">
                <a:solidFill>
                  <a:srgbClr val="0B4F35"/>
                </a:solidFill>
                <a:latin typeface="Segoe UI"/>
                <a:cs typeface="Tahoma"/>
              </a:rPr>
              <a:t>Our own people</a:t>
            </a:r>
          </a:p>
        </p:txBody>
      </p:sp>
      <p:sp>
        <p:nvSpPr>
          <p:cNvPr id="24" name="TextBox 23"/>
          <p:cNvSpPr txBox="1"/>
          <p:nvPr/>
        </p:nvSpPr>
        <p:spPr>
          <a:xfrm>
            <a:off x="4663440" y="5303519"/>
            <a:ext cx="4572000" cy="685800"/>
          </a:xfrm>
          <a:prstGeom prst="rect">
            <a:avLst/>
          </a:prstGeom>
          <a:noFill/>
        </p:spPr>
        <p:txBody>
          <a:bodyPr wrap="square" lIns="36576" rIns="36576" tIns="18288" bIns="18288" anchor="ctr">
            <a:spAutoFit/>
          </a:bodyPr>
          <a:lstStyle/>
          <a:p>
            <a:pPr algn="l"/>
            <a:r>
              <a:rPr sz="1150" b="0" i="0">
                <a:solidFill>
                  <a:srgbClr val="142B22"/>
                </a:solidFill>
                <a:latin typeface="Segoe UI"/>
                <a:cs typeface="Tahoma"/>
              </a:rPr>
              <a:t>Pride, thanks, belonging; they are our best reach.</a:t>
            </a:r>
          </a:p>
        </p:txBody>
      </p:sp>
      <p:sp>
        <p:nvSpPr>
          <p:cNvPr id="25" name="TextBox 24"/>
          <p:cNvSpPr txBox="1"/>
          <p:nvPr/>
        </p:nvSpPr>
        <p:spPr>
          <a:xfrm>
            <a:off x="9418320" y="5303519"/>
            <a:ext cx="2194560" cy="685800"/>
          </a:xfrm>
          <a:prstGeom prst="rect">
            <a:avLst/>
          </a:prstGeom>
          <a:noFill/>
        </p:spPr>
        <p:txBody>
          <a:bodyPr wrap="square" lIns="36576" rIns="36576" tIns="18288" bIns="18288" anchor="ctr">
            <a:spAutoFit/>
          </a:bodyPr>
          <a:lstStyle/>
          <a:p>
            <a:pPr algn="l"/>
            <a:r>
              <a:rPr sz="1100" b="0" i="0">
                <a:solidFill>
                  <a:srgbClr val="5B6B63"/>
                </a:solidFill>
                <a:latin typeface="Segoe UI"/>
                <a:cs typeface="Tahoma"/>
              </a:rPr>
              <a:t>All channels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48640"/>
          </a:xfrm>
          <a:prstGeom prst="rect">
            <a:avLst/>
          </a:prstGeom>
          <a:noFill/>
        </p:spPr>
        <p:txBody>
          <a:bodyPr wrap="square" lIns="36576" rIns="36576" tIns="18288" bIns="18288" anchor="t">
            <a:spAutoFit/>
          </a:bodyPr>
          <a:lstStyle/>
          <a:p>
            <a:pPr algn="l"/>
            <a:r>
              <a:rPr sz="2400" b="1" i="0">
                <a:solidFill>
                  <a:srgbClr val="0B4F35"/>
                </a:solidFill>
                <a:latin typeface="Segoe UI"/>
                <a:cs typeface="Tahoma"/>
              </a:rPr>
              <a:t>Three months, three chapters</a:t>
            </a:r>
          </a:p>
        </p:txBody>
      </p:sp>
      <p:sp>
        <p:nvSpPr>
          <p:cNvPr id="4" name="TextBox 3"/>
          <p:cNvSpPr txBox="1"/>
          <p:nvPr/>
        </p:nvSpPr>
        <p:spPr>
          <a:xfrm>
            <a:off x="457200" y="749808"/>
            <a:ext cx="11247120" cy="365760"/>
          </a:xfrm>
          <a:prstGeom prst="rect">
            <a:avLst/>
          </a:prstGeom>
          <a:noFill/>
        </p:spPr>
        <p:txBody>
          <a:bodyPr wrap="square" lIns="36576" rIns="36576" tIns="18288" bIns="18288" anchor="t">
            <a:spAutoFit/>
          </a:bodyPr>
          <a:lstStyle/>
          <a:p>
            <a:pPr algn="l"/>
            <a:r>
              <a:rPr sz="1200" b="0" i="0">
                <a:solidFill>
                  <a:srgbClr val="5B6B63"/>
                </a:solidFill>
                <a:latin typeface="Segoe UI"/>
                <a:cs typeface="Tahoma"/>
              </a:rPr>
              <a:t>Each month has a job</a:t>
            </a:r>
          </a:p>
        </p:txBody>
      </p:sp>
      <p:sp>
        <p:nvSpPr>
          <p:cNvPr id="5" name="TextBox 4"/>
          <p:cNvSpPr txBox="1"/>
          <p:nvPr/>
        </p:nvSpPr>
        <p:spPr>
          <a:xfrm>
            <a:off x="11155680" y="6492240"/>
            <a:ext cx="731520" cy="274320"/>
          </a:xfrm>
          <a:prstGeom prst="rect">
            <a:avLst/>
          </a:prstGeom>
          <a:noFill/>
        </p:spPr>
        <p:txBody>
          <a:bodyPr wrap="square" lIns="36576" rIns="36576" tIns="18288" bIns="18288" anchor="t">
            <a:spAutoFit/>
          </a:bodyPr>
          <a:lstStyle/>
          <a:p>
            <a:pPr algn="r"/>
            <a:r>
              <a:rPr sz="900" b="0" i="0">
                <a:solidFill>
                  <a:srgbClr val="5B6B63"/>
                </a:solidFill>
                <a:latin typeface="Segoe UI"/>
                <a:cs typeface="Tahoma"/>
              </a:rPr>
              <a:t>5</a:t>
            </a:r>
          </a:p>
        </p:txBody>
      </p:sp>
      <p:sp>
        <p:nvSpPr>
          <p:cNvPr id="6" name="Rounded Rectangle 5"/>
          <p:cNvSpPr/>
          <p:nvPr/>
        </p:nvSpPr>
        <p:spPr>
          <a:xfrm>
            <a:off x="457200" y="1371600"/>
            <a:ext cx="3657600" cy="4846320"/>
          </a:xfrm>
          <a:prstGeom prst="roundRect">
            <a:avLst>
              <a:gd name="adj" fmla="val 4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54480"/>
            <a:ext cx="3200400" cy="365760"/>
          </a:xfrm>
          <a:prstGeom prst="rect">
            <a:avLst/>
          </a:prstGeom>
          <a:noFill/>
        </p:spPr>
        <p:txBody>
          <a:bodyPr wrap="square" lIns="36576" rIns="36576" tIns="18288" bIns="18288" anchor="t">
            <a:spAutoFit/>
          </a:bodyPr>
          <a:lstStyle/>
          <a:p>
            <a:pPr algn="l"/>
            <a:r>
              <a:rPr sz="1300" b="1" i="0">
                <a:solidFill>
                  <a:srgbClr val="8EF0B0"/>
                </a:solidFill>
                <a:latin typeface="Segoe UI"/>
                <a:cs typeface="Tahoma"/>
              </a:rPr>
              <a:t>November 2026</a:t>
            </a:r>
          </a:p>
        </p:txBody>
      </p:sp>
      <p:sp>
        <p:nvSpPr>
          <p:cNvPr id="8" name="TextBox 7"/>
          <p:cNvSpPr txBox="1"/>
          <p:nvPr/>
        </p:nvSpPr>
        <p:spPr>
          <a:xfrm>
            <a:off x="685800" y="1965960"/>
            <a:ext cx="3200400" cy="822960"/>
          </a:xfrm>
          <a:prstGeom prst="rect">
            <a:avLst/>
          </a:prstGeom>
          <a:noFill/>
        </p:spPr>
        <p:txBody>
          <a:bodyPr wrap="square" lIns="36576" rIns="36576" tIns="18288" bIns="18288" anchor="t">
            <a:spAutoFit/>
          </a:bodyPr>
          <a:lstStyle/>
          <a:p>
            <a:pPr algn="l"/>
            <a:r>
              <a:rPr sz="2400" b="1" i="0">
                <a:solidFill>
                  <a:srgbClr val="FFFFFF"/>
                </a:solidFill>
                <a:latin typeface="Segoe UI"/>
                <a:cs typeface="Tahoma"/>
              </a:rPr>
              <a:t>Go deeper</a:t>
            </a:r>
          </a:p>
        </p:txBody>
      </p:sp>
      <p:sp>
        <p:nvSpPr>
          <p:cNvPr id="9" name="TextBox 8"/>
          <p:cNvSpPr txBox="1"/>
          <p:nvPr/>
        </p:nvSpPr>
        <p:spPr>
          <a:xfrm>
            <a:off x="685800" y="3017520"/>
            <a:ext cx="3200400" cy="2926080"/>
          </a:xfrm>
          <a:prstGeom prst="rect">
            <a:avLst/>
          </a:prstGeom>
          <a:noFill/>
        </p:spPr>
        <p:txBody>
          <a:bodyPr wrap="square" lIns="36576" rIns="36576" tIns="18288" bIns="18288" anchor="t">
            <a:spAutoFit/>
          </a:bodyPr>
          <a:lstStyle/>
          <a:p>
            <a:pPr algn="l"/>
            <a:r>
              <a:rPr sz="1300" b="0" i="0">
                <a:solidFill>
                  <a:srgbClr val="FFFFFF"/>
                </a:solidFill>
                <a:latin typeface="Segoe UI"/>
                <a:cs typeface="Tahoma"/>
              </a:rPr>
              <a:t>Meet the makers, Sudair City from every angle, World Diabetes Day as a solidarity greeting, skill in every station, careers. No claim of any kind.</a:t>
            </a:r>
          </a:p>
        </p:txBody>
      </p:sp>
      <p:sp>
        <p:nvSpPr>
          <p:cNvPr id="10" name="Rounded Rectangle 9"/>
          <p:cNvSpPr/>
          <p:nvPr/>
        </p:nvSpPr>
        <p:spPr>
          <a:xfrm>
            <a:off x="4251960" y="1371600"/>
            <a:ext cx="3657600" cy="4846320"/>
          </a:xfrm>
          <a:prstGeom prst="roundRect">
            <a:avLst>
              <a:gd name="adj" fmla="val 4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554480"/>
            <a:ext cx="3200400" cy="365760"/>
          </a:xfrm>
          <a:prstGeom prst="rect">
            <a:avLst/>
          </a:prstGeom>
          <a:noFill/>
        </p:spPr>
        <p:txBody>
          <a:bodyPr wrap="square" lIns="36576" rIns="36576" tIns="18288" bIns="18288" anchor="t">
            <a:spAutoFit/>
          </a:bodyPr>
          <a:lstStyle/>
          <a:p>
            <a:pPr algn="l"/>
            <a:r>
              <a:rPr sz="1300" b="1" i="0">
                <a:solidFill>
                  <a:srgbClr val="8EF0B0"/>
                </a:solidFill>
                <a:latin typeface="Segoe UI"/>
                <a:cs typeface="Tahoma"/>
              </a:rPr>
              <a:t>December 2026</a:t>
            </a:r>
          </a:p>
        </p:txBody>
      </p:sp>
      <p:sp>
        <p:nvSpPr>
          <p:cNvPr id="12" name="TextBox 11"/>
          <p:cNvSpPr txBox="1"/>
          <p:nvPr/>
        </p:nvSpPr>
        <p:spPr>
          <a:xfrm>
            <a:off x="4480560" y="1965960"/>
            <a:ext cx="3200400" cy="822960"/>
          </a:xfrm>
          <a:prstGeom prst="rect">
            <a:avLst/>
          </a:prstGeom>
          <a:noFill/>
        </p:spPr>
        <p:txBody>
          <a:bodyPr wrap="square" lIns="36576" rIns="36576" tIns="18288" bIns="18288" anchor="t">
            <a:spAutoFit/>
          </a:bodyPr>
          <a:lstStyle/>
          <a:p>
            <a:pPr algn="l"/>
            <a:r>
              <a:rPr sz="2400" b="1" i="0">
                <a:solidFill>
                  <a:srgbClr val="FFFFFF"/>
                </a:solidFill>
                <a:latin typeface="Segoe UI"/>
                <a:cs typeface="Tahoma"/>
              </a:rPr>
              <a:t>Look back</a:t>
            </a:r>
          </a:p>
        </p:txBody>
      </p:sp>
      <p:sp>
        <p:nvSpPr>
          <p:cNvPr id="13" name="TextBox 12"/>
          <p:cNvSpPr txBox="1"/>
          <p:nvPr/>
        </p:nvSpPr>
        <p:spPr>
          <a:xfrm>
            <a:off x="4480560" y="3017520"/>
            <a:ext cx="3200400" cy="2926080"/>
          </a:xfrm>
          <a:prstGeom prst="rect">
            <a:avLst/>
          </a:prstGeom>
          <a:noFill/>
        </p:spPr>
        <p:txBody>
          <a:bodyPr wrap="square" lIns="36576" rIns="36576" tIns="18288" bIns="18288" anchor="t">
            <a:spAutoFit/>
          </a:bodyPr>
          <a:lstStyle/>
          <a:p>
            <a:pPr algn="l"/>
            <a:r>
              <a:rPr sz="1300" b="0" i="0">
                <a:solidFill>
                  <a:srgbClr val="FFFFFF"/>
                </a:solidFill>
                <a:latin typeface="Segoe UI"/>
                <a:cs typeface="Tahoma"/>
              </a:rPr>
              <a:t>Built here, from first light to last shift, the year in review, local industry in plain words, a calm close. No claim of any kind.</a:t>
            </a:r>
          </a:p>
        </p:txBody>
      </p:sp>
      <p:sp>
        <p:nvSpPr>
          <p:cNvPr id="14" name="Rounded Rectangle 13"/>
          <p:cNvSpPr/>
          <p:nvPr/>
        </p:nvSpPr>
        <p:spPr>
          <a:xfrm>
            <a:off x="8046720" y="1371600"/>
            <a:ext cx="3657600" cy="4846320"/>
          </a:xfrm>
          <a:prstGeom prst="roundRect">
            <a:avLst>
              <a:gd name="adj" fmla="val 4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1554480"/>
            <a:ext cx="3200400" cy="365760"/>
          </a:xfrm>
          <a:prstGeom prst="rect">
            <a:avLst/>
          </a:prstGeom>
          <a:noFill/>
        </p:spPr>
        <p:txBody>
          <a:bodyPr wrap="square" lIns="36576" rIns="36576" tIns="18288" bIns="18288" anchor="t">
            <a:spAutoFit/>
          </a:bodyPr>
          <a:lstStyle/>
          <a:p>
            <a:pPr algn="l"/>
            <a:r>
              <a:rPr sz="1300" b="1" i="0">
                <a:solidFill>
                  <a:srgbClr val="8EF0B0"/>
                </a:solidFill>
                <a:latin typeface="Segoe UI"/>
                <a:cs typeface="Tahoma"/>
              </a:rPr>
              <a:t>January 2027</a:t>
            </a:r>
          </a:p>
        </p:txBody>
      </p:sp>
      <p:sp>
        <p:nvSpPr>
          <p:cNvPr id="16" name="TextBox 15"/>
          <p:cNvSpPr txBox="1"/>
          <p:nvPr/>
        </p:nvSpPr>
        <p:spPr>
          <a:xfrm>
            <a:off x="8275320" y="1965960"/>
            <a:ext cx="3200400" cy="822960"/>
          </a:xfrm>
          <a:prstGeom prst="rect">
            <a:avLst/>
          </a:prstGeom>
          <a:noFill/>
        </p:spPr>
        <p:txBody>
          <a:bodyPr wrap="square" lIns="36576" rIns="36576" tIns="18288" bIns="18288" anchor="t">
            <a:spAutoFit/>
          </a:bodyPr>
          <a:lstStyle/>
          <a:p>
            <a:pPr algn="l"/>
            <a:r>
              <a:rPr sz="2400" b="1" i="0">
                <a:solidFill>
                  <a:srgbClr val="FFFFFF"/>
                </a:solidFill>
                <a:latin typeface="Segoe UI"/>
                <a:cs typeface="Tahoma"/>
              </a:rPr>
              <a:t>Fresh start, and teach</a:t>
            </a:r>
          </a:p>
        </p:txBody>
      </p:sp>
      <p:sp>
        <p:nvSpPr>
          <p:cNvPr id="17" name="TextBox 16"/>
          <p:cNvSpPr txBox="1"/>
          <p:nvPr/>
        </p:nvSpPr>
        <p:spPr>
          <a:xfrm>
            <a:off x="8275320" y="3017520"/>
            <a:ext cx="3200400" cy="2926080"/>
          </a:xfrm>
          <a:prstGeom prst="rect">
            <a:avLst/>
          </a:prstGeom>
          <a:noFill/>
        </p:spPr>
        <p:txBody>
          <a:bodyPr wrap="square" lIns="36576" rIns="36576" tIns="18288" bIns="18288" anchor="t">
            <a:spAutoFit/>
          </a:bodyPr>
          <a:lstStyle/>
          <a:p>
            <a:pPr algn="l"/>
            <a:r>
              <a:rPr sz="1300" b="0" i="0">
                <a:solidFill>
                  <a:srgbClr val="FFFFFF"/>
                </a:solidFill>
                <a:latin typeface="Segoe UI"/>
                <a:cs typeface="Tahoma"/>
              </a:rPr>
              <a:t>Same site, new year; the seven steps in full; technology on the line; the quality team; a week in the plant. The only month with flagged pieces.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48640"/>
          </a:xfrm>
          <a:prstGeom prst="rect">
            <a:avLst/>
          </a:prstGeom>
          <a:noFill/>
        </p:spPr>
        <p:txBody>
          <a:bodyPr wrap="square" lIns="36576" rIns="36576" tIns="18288" bIns="18288" anchor="t">
            <a:spAutoFit/>
          </a:bodyPr>
          <a:lstStyle/>
          <a:p>
            <a:pPr algn="l"/>
            <a:r>
              <a:rPr sz="2400" b="1" i="0">
                <a:solidFill>
                  <a:srgbClr val="0B4F35"/>
                </a:solidFill>
                <a:latin typeface="Segoe UI"/>
                <a:cs typeface="Tahoma"/>
              </a:rPr>
              <a:t>What we publish</a:t>
            </a:r>
          </a:p>
        </p:txBody>
      </p:sp>
      <p:sp>
        <p:nvSpPr>
          <p:cNvPr id="4" name="TextBox 3"/>
          <p:cNvSpPr txBox="1"/>
          <p:nvPr/>
        </p:nvSpPr>
        <p:spPr>
          <a:xfrm>
            <a:off x="457200" y="749808"/>
            <a:ext cx="11247120" cy="365760"/>
          </a:xfrm>
          <a:prstGeom prst="rect">
            <a:avLst/>
          </a:prstGeom>
          <a:noFill/>
        </p:spPr>
        <p:txBody>
          <a:bodyPr wrap="square" lIns="36576" rIns="36576" tIns="18288" bIns="18288" anchor="t">
            <a:spAutoFit/>
          </a:bodyPr>
          <a:lstStyle/>
          <a:p>
            <a:pPr algn="l"/>
            <a:r>
              <a:rPr sz="1200" b="0" i="0">
                <a:solidFill>
                  <a:srgbClr val="5B6B63"/>
                </a:solidFill>
                <a:latin typeface="Segoe UI"/>
                <a:cs typeface="Tahoma"/>
              </a:rPr>
              <a:t>Client-approved volume: 32 core pieces a month, 96 over the quarter</a:t>
            </a:r>
          </a:p>
        </p:txBody>
      </p:sp>
      <p:sp>
        <p:nvSpPr>
          <p:cNvPr id="5" name="TextBox 4"/>
          <p:cNvSpPr txBox="1"/>
          <p:nvPr/>
        </p:nvSpPr>
        <p:spPr>
          <a:xfrm>
            <a:off x="11155680" y="6492240"/>
            <a:ext cx="731520" cy="274320"/>
          </a:xfrm>
          <a:prstGeom prst="rect">
            <a:avLst/>
          </a:prstGeom>
          <a:noFill/>
        </p:spPr>
        <p:txBody>
          <a:bodyPr wrap="square" lIns="36576" rIns="36576" tIns="18288" bIns="18288" anchor="t">
            <a:spAutoFit/>
          </a:bodyPr>
          <a:lstStyle/>
          <a:p>
            <a:pPr algn="r"/>
            <a:r>
              <a:rPr sz="900" b="0" i="0">
                <a:solidFill>
                  <a:srgbClr val="5B6B63"/>
                </a:solidFill>
                <a:latin typeface="Segoe UI"/>
                <a:cs typeface="Tahoma"/>
              </a:rPr>
              <a:t>6</a:t>
            </a:r>
          </a:p>
        </p:txBody>
      </p:sp>
      <p:sp>
        <p:nvSpPr>
          <p:cNvPr id="6" name="Rounded Rectangle 5"/>
          <p:cNvSpPr/>
          <p:nvPr/>
        </p:nvSpPr>
        <p:spPr>
          <a:xfrm>
            <a:off x="457200" y="1371600"/>
            <a:ext cx="3657600" cy="2194560"/>
          </a:xfrm>
          <a:prstGeom prst="roundRect">
            <a:avLst>
              <a:gd name="adj" fmla="val 5000"/>
            </a:avLst>
          </a:prstGeom>
          <a:solidFill>
            <a:srgbClr val="FFFFFF"/>
          </a:solidFill>
          <a:ln w="12700">
            <a:solidFill>
              <a:srgbClr val="09A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81328"/>
            <a:ext cx="3291840" cy="365760"/>
          </a:xfrm>
          <a:prstGeom prst="rect">
            <a:avLst/>
          </a:prstGeom>
          <a:noFill/>
        </p:spPr>
        <p:txBody>
          <a:bodyPr wrap="square" lIns="36576" rIns="36576" tIns="18288" bIns="18288" anchor="t">
            <a:spAutoFit/>
          </a:bodyPr>
          <a:lstStyle/>
          <a:p>
            <a:pPr algn="l"/>
            <a:r>
              <a:rPr sz="1200" b="0" i="0">
                <a:solidFill>
                  <a:srgbClr val="5B6B63"/>
                </a:solidFill>
                <a:latin typeface="Segoe UI"/>
                <a:cs typeface="Tahoma"/>
              </a:rPr>
              <a:t>Instagram + Facebook</a:t>
            </a:r>
          </a:p>
        </p:txBody>
      </p:sp>
      <p:sp>
        <p:nvSpPr>
          <p:cNvPr id="8" name="TextBox 7"/>
          <p:cNvSpPr txBox="1"/>
          <p:nvPr/>
        </p:nvSpPr>
        <p:spPr>
          <a:xfrm>
            <a:off x="640080" y="1874519"/>
            <a:ext cx="3291840" cy="640080"/>
          </a:xfrm>
          <a:prstGeom prst="rect">
            <a:avLst/>
          </a:prstGeom>
          <a:noFill/>
        </p:spPr>
        <p:txBody>
          <a:bodyPr wrap="square" lIns="36576" rIns="36576" tIns="18288" bIns="18288" anchor="t">
            <a:spAutoFit/>
          </a:bodyPr>
          <a:lstStyle/>
          <a:p>
            <a:pPr algn="l"/>
            <a:r>
              <a:rPr sz="2000" b="1" i="0">
                <a:solidFill>
                  <a:srgbClr val="0B4F35"/>
                </a:solidFill>
                <a:latin typeface="Segoe UI"/>
                <a:cs typeface="Tahoma"/>
              </a:rPr>
              <a:t>12 feed posts a month</a:t>
            </a:r>
          </a:p>
        </p:txBody>
      </p:sp>
      <p:sp>
        <p:nvSpPr>
          <p:cNvPr id="9" name="TextBox 8"/>
          <p:cNvSpPr txBox="1"/>
          <p:nvPr/>
        </p:nvSpPr>
        <p:spPr>
          <a:xfrm>
            <a:off x="640080" y="2651760"/>
            <a:ext cx="3291840" cy="822960"/>
          </a:xfrm>
          <a:prstGeom prst="rect">
            <a:avLst/>
          </a:prstGeom>
          <a:noFill/>
        </p:spPr>
        <p:txBody>
          <a:bodyPr wrap="square" lIns="36576" rIns="36576" tIns="18288" bIns="18288" anchor="t">
            <a:spAutoFit/>
          </a:bodyPr>
          <a:lstStyle/>
          <a:p>
            <a:pPr algn="l"/>
            <a:r>
              <a:rPr sz="1200" b="0" i="0">
                <a:solidFill>
                  <a:srgbClr val="142B22"/>
                </a:solidFill>
                <a:latin typeface="Segoe UI"/>
                <a:cs typeface="Tahoma"/>
              </a:rPr>
              <a:t>6 stills · 3 carousels · 3 Reels</a:t>
            </a:r>
          </a:p>
        </p:txBody>
      </p:sp>
      <p:sp>
        <p:nvSpPr>
          <p:cNvPr id="10" name="Rounded Rectangle 9"/>
          <p:cNvSpPr/>
          <p:nvPr/>
        </p:nvSpPr>
        <p:spPr>
          <a:xfrm>
            <a:off x="4251960" y="1371600"/>
            <a:ext cx="3657600" cy="2194560"/>
          </a:xfrm>
          <a:prstGeom prst="roundRect">
            <a:avLst>
              <a:gd name="adj" fmla="val 5000"/>
            </a:avLst>
          </a:prstGeom>
          <a:solidFill>
            <a:srgbClr val="FFFFFF"/>
          </a:solidFill>
          <a:ln w="12700">
            <a:solidFill>
              <a:srgbClr val="09A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1481328"/>
            <a:ext cx="3291840" cy="365760"/>
          </a:xfrm>
          <a:prstGeom prst="rect">
            <a:avLst/>
          </a:prstGeom>
          <a:noFill/>
        </p:spPr>
        <p:txBody>
          <a:bodyPr wrap="square" lIns="36576" rIns="36576" tIns="18288" bIns="18288" anchor="t">
            <a:spAutoFit/>
          </a:bodyPr>
          <a:lstStyle/>
          <a:p>
            <a:pPr algn="l"/>
            <a:r>
              <a:rPr sz="1200" b="0" i="0">
                <a:solidFill>
                  <a:srgbClr val="5B6B63"/>
                </a:solidFill>
                <a:latin typeface="Segoe UI"/>
                <a:cs typeface="Tahoma"/>
              </a:rPr>
              <a:t>Instagram + Facebook</a:t>
            </a:r>
          </a:p>
        </p:txBody>
      </p:sp>
      <p:sp>
        <p:nvSpPr>
          <p:cNvPr id="12" name="TextBox 11"/>
          <p:cNvSpPr txBox="1"/>
          <p:nvPr/>
        </p:nvSpPr>
        <p:spPr>
          <a:xfrm>
            <a:off x="4434840" y="1874519"/>
            <a:ext cx="3291840" cy="640080"/>
          </a:xfrm>
          <a:prstGeom prst="rect">
            <a:avLst/>
          </a:prstGeom>
          <a:noFill/>
        </p:spPr>
        <p:txBody>
          <a:bodyPr wrap="square" lIns="36576" rIns="36576" tIns="18288" bIns="18288" anchor="t">
            <a:spAutoFit/>
          </a:bodyPr>
          <a:lstStyle/>
          <a:p>
            <a:pPr algn="l"/>
            <a:r>
              <a:rPr sz="2000" b="1" i="0">
                <a:solidFill>
                  <a:srgbClr val="0B4F35"/>
                </a:solidFill>
                <a:latin typeface="Segoe UI"/>
                <a:cs typeface="Tahoma"/>
              </a:rPr>
              <a:t>12 stories a month</a:t>
            </a:r>
          </a:p>
        </p:txBody>
      </p:sp>
      <p:sp>
        <p:nvSpPr>
          <p:cNvPr id="13" name="TextBox 12"/>
          <p:cNvSpPr txBox="1"/>
          <p:nvPr/>
        </p:nvSpPr>
        <p:spPr>
          <a:xfrm>
            <a:off x="4434840" y="2651760"/>
            <a:ext cx="3291840" cy="822960"/>
          </a:xfrm>
          <a:prstGeom prst="rect">
            <a:avLst/>
          </a:prstGeom>
          <a:noFill/>
        </p:spPr>
        <p:txBody>
          <a:bodyPr wrap="square" lIns="36576" rIns="36576" tIns="18288" bIns="18288" anchor="t">
            <a:spAutoFit/>
          </a:bodyPr>
          <a:lstStyle/>
          <a:p>
            <a:pPr algn="l"/>
            <a:r>
              <a:rPr sz="1200" b="0" i="0">
                <a:solidFill>
                  <a:srgbClr val="142B22"/>
                </a:solidFill>
                <a:latin typeface="Segoe UI"/>
                <a:cs typeface="Tahoma"/>
              </a:rPr>
              <a:t>polls, questions, countdowns, behind the scenes</a:t>
            </a:r>
          </a:p>
        </p:txBody>
      </p:sp>
      <p:sp>
        <p:nvSpPr>
          <p:cNvPr id="14" name="Rounded Rectangle 13"/>
          <p:cNvSpPr/>
          <p:nvPr/>
        </p:nvSpPr>
        <p:spPr>
          <a:xfrm>
            <a:off x="8046720" y="1371600"/>
            <a:ext cx="3657600" cy="2194560"/>
          </a:xfrm>
          <a:prstGeom prst="roundRect">
            <a:avLst>
              <a:gd name="adj" fmla="val 5000"/>
            </a:avLst>
          </a:prstGeom>
          <a:solidFill>
            <a:srgbClr val="FFFFFF"/>
          </a:solidFill>
          <a:ln w="12700">
            <a:solidFill>
              <a:srgbClr val="09A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481328"/>
            <a:ext cx="3291840" cy="365760"/>
          </a:xfrm>
          <a:prstGeom prst="rect">
            <a:avLst/>
          </a:prstGeom>
          <a:noFill/>
        </p:spPr>
        <p:txBody>
          <a:bodyPr wrap="square" lIns="36576" rIns="36576" tIns="18288" bIns="18288" anchor="t">
            <a:spAutoFit/>
          </a:bodyPr>
          <a:lstStyle/>
          <a:p>
            <a:pPr algn="l"/>
            <a:r>
              <a:rPr sz="1200" b="0" i="0">
                <a:solidFill>
                  <a:srgbClr val="5B6B63"/>
                </a:solidFill>
                <a:latin typeface="Segoe UI"/>
                <a:cs typeface="Tahoma"/>
              </a:rPr>
              <a:t>LinkedIn + X</a:t>
            </a:r>
          </a:p>
        </p:txBody>
      </p:sp>
      <p:sp>
        <p:nvSpPr>
          <p:cNvPr id="16" name="TextBox 15"/>
          <p:cNvSpPr txBox="1"/>
          <p:nvPr/>
        </p:nvSpPr>
        <p:spPr>
          <a:xfrm>
            <a:off x="8229600" y="1874519"/>
            <a:ext cx="3291840" cy="640080"/>
          </a:xfrm>
          <a:prstGeom prst="rect">
            <a:avLst/>
          </a:prstGeom>
          <a:noFill/>
        </p:spPr>
        <p:txBody>
          <a:bodyPr wrap="square" lIns="36576" rIns="36576" tIns="18288" bIns="18288" anchor="t">
            <a:spAutoFit/>
          </a:bodyPr>
          <a:lstStyle/>
          <a:p>
            <a:pPr algn="l"/>
            <a:r>
              <a:rPr sz="2000" b="1" i="0">
                <a:solidFill>
                  <a:srgbClr val="0B4F35"/>
                </a:solidFill>
                <a:latin typeface="Segoe UI"/>
                <a:cs typeface="Tahoma"/>
              </a:rPr>
              <a:t>8 carousels a month</a:t>
            </a:r>
          </a:p>
        </p:txBody>
      </p:sp>
      <p:sp>
        <p:nvSpPr>
          <p:cNvPr id="17" name="TextBox 16"/>
          <p:cNvSpPr txBox="1"/>
          <p:nvPr/>
        </p:nvSpPr>
        <p:spPr>
          <a:xfrm>
            <a:off x="8229600" y="2651760"/>
            <a:ext cx="3291840" cy="822960"/>
          </a:xfrm>
          <a:prstGeom prst="rect">
            <a:avLst/>
          </a:prstGeom>
          <a:noFill/>
        </p:spPr>
        <p:txBody>
          <a:bodyPr wrap="square" lIns="36576" rIns="36576" tIns="18288" bIns="18288" anchor="t">
            <a:spAutoFit/>
          </a:bodyPr>
          <a:lstStyle/>
          <a:p>
            <a:pPr algn="l"/>
            <a:r>
              <a:rPr sz="1200" b="0" i="0">
                <a:solidFill>
                  <a:srgbClr val="142B22"/>
                </a:solidFill>
                <a:latin typeface="Segoe UI"/>
                <a:cs typeface="Tahoma"/>
              </a:rPr>
              <a:t>5 to 7 slides each, mirrored on both</a:t>
            </a:r>
          </a:p>
        </p:txBody>
      </p:sp>
      <p:sp>
        <p:nvSpPr>
          <p:cNvPr id="18" name="TextBox 17"/>
          <p:cNvSpPr txBox="1"/>
          <p:nvPr/>
        </p:nvSpPr>
        <p:spPr>
          <a:xfrm>
            <a:off x="457200" y="3840480"/>
            <a:ext cx="2377440" cy="502920"/>
          </a:xfrm>
          <a:prstGeom prst="rect">
            <a:avLst/>
          </a:prstGeom>
          <a:noFill/>
        </p:spPr>
        <p:txBody>
          <a:bodyPr wrap="square" lIns="36576" rIns="36576" tIns="18288" bIns="18288" anchor="t">
            <a:spAutoFit/>
          </a:bodyPr>
          <a:lstStyle/>
          <a:p>
            <a:pPr algn="l"/>
            <a:r>
              <a:rPr sz="1200" b="1" i="0">
                <a:solidFill>
                  <a:srgbClr val="0B4F35"/>
                </a:solidFill>
                <a:latin typeface="Segoe UI"/>
                <a:cs typeface="Tahoma"/>
              </a:rPr>
              <a:t>Week rhythm</a:t>
            </a:r>
          </a:p>
        </p:txBody>
      </p:sp>
      <p:sp>
        <p:nvSpPr>
          <p:cNvPr id="19" name="TextBox 18"/>
          <p:cNvSpPr txBox="1"/>
          <p:nvPr/>
        </p:nvSpPr>
        <p:spPr>
          <a:xfrm>
            <a:off x="2926080" y="3840480"/>
            <a:ext cx="8778240" cy="548640"/>
          </a:xfrm>
          <a:prstGeom prst="rect">
            <a:avLst/>
          </a:prstGeom>
          <a:noFill/>
        </p:spPr>
        <p:txBody>
          <a:bodyPr wrap="square" lIns="36576" rIns="36576" tIns="18288" bIns="18288" anchor="t">
            <a:spAutoFit/>
          </a:bodyPr>
          <a:lstStyle/>
          <a:p>
            <a:pPr algn="l"/>
            <a:r>
              <a:rPr sz="1200" b="0" i="0">
                <a:solidFill>
                  <a:srgbClr val="142B22"/>
                </a:solidFill>
                <a:latin typeface="Segoe UI"/>
                <a:cs typeface="Tahoma"/>
              </a:rPr>
              <a:t>Sun, Tue, Thu: feed posts · Mon, Wed, Thu: stories · Mon, Wed: LinkedIn + X carousels (Fri and Sat: countdown stories only when an awareness day falls there)</a:t>
            </a:r>
          </a:p>
        </p:txBody>
      </p:sp>
      <p:sp>
        <p:nvSpPr>
          <p:cNvPr id="20" name="TextBox 19"/>
          <p:cNvSpPr txBox="1"/>
          <p:nvPr/>
        </p:nvSpPr>
        <p:spPr>
          <a:xfrm>
            <a:off x="457200" y="4434840"/>
            <a:ext cx="2377440" cy="502920"/>
          </a:xfrm>
          <a:prstGeom prst="rect">
            <a:avLst/>
          </a:prstGeom>
          <a:noFill/>
        </p:spPr>
        <p:txBody>
          <a:bodyPr wrap="square" lIns="36576" rIns="36576" tIns="18288" bIns="18288" anchor="t">
            <a:spAutoFit/>
          </a:bodyPr>
          <a:lstStyle/>
          <a:p>
            <a:pPr algn="l"/>
            <a:r>
              <a:rPr sz="1200" b="1" i="0">
                <a:solidFill>
                  <a:srgbClr val="0B4F35"/>
                </a:solidFill>
                <a:latin typeface="Segoe UI"/>
                <a:cs typeface="Tahoma"/>
              </a:rPr>
              <a:t>Prompted in this book</a:t>
            </a:r>
          </a:p>
        </p:txBody>
      </p:sp>
      <p:sp>
        <p:nvSpPr>
          <p:cNvPr id="21" name="TextBox 20"/>
          <p:cNvSpPr txBox="1"/>
          <p:nvPr/>
        </p:nvSpPr>
        <p:spPr>
          <a:xfrm>
            <a:off x="2926080" y="4434840"/>
            <a:ext cx="8778240" cy="548640"/>
          </a:xfrm>
          <a:prstGeom prst="rect">
            <a:avLst/>
          </a:prstGeom>
          <a:noFill/>
        </p:spPr>
        <p:txBody>
          <a:bodyPr wrap="square" lIns="36576" rIns="36576" tIns="18288" bIns="18288" anchor="t">
            <a:spAutoFit/>
          </a:bodyPr>
          <a:lstStyle/>
          <a:p>
            <a:pPr algn="l"/>
            <a:r>
              <a:rPr sz="1200" b="0" i="0">
                <a:solidFill>
                  <a:srgbClr val="142B22"/>
                </a:solidFill>
                <a:latin typeface="Segoe UI"/>
                <a:cs typeface="Tahoma"/>
              </a:rPr>
              <a:t>96 pieces: 18 stills, 9 IG/FB carousels, 9 Reels, 36 stories, 24 LinkedIn + X carousels</a:t>
            </a:r>
          </a:p>
        </p:txBody>
      </p:sp>
      <p:sp>
        <p:nvSpPr>
          <p:cNvPr id="22" name="TextBox 21"/>
          <p:cNvSpPr txBox="1"/>
          <p:nvPr/>
        </p:nvSpPr>
        <p:spPr>
          <a:xfrm>
            <a:off x="457200" y="5029200"/>
            <a:ext cx="2377440" cy="502920"/>
          </a:xfrm>
          <a:prstGeom prst="rect">
            <a:avLst/>
          </a:prstGeom>
          <a:noFill/>
        </p:spPr>
        <p:txBody>
          <a:bodyPr wrap="square" lIns="36576" rIns="36576" tIns="18288" bIns="18288" anchor="t">
            <a:spAutoFit/>
          </a:bodyPr>
          <a:lstStyle/>
          <a:p>
            <a:pPr algn="l"/>
            <a:r>
              <a:rPr sz="1200" b="1" i="0">
                <a:solidFill>
                  <a:srgbClr val="0B4F35"/>
                </a:solidFill>
                <a:latin typeface="Segoe UI"/>
                <a:cs typeface="Tahoma"/>
              </a:rPr>
              <a:t>Formats</a:t>
            </a:r>
          </a:p>
        </p:txBody>
      </p:sp>
      <p:sp>
        <p:nvSpPr>
          <p:cNvPr id="23" name="TextBox 22"/>
          <p:cNvSpPr txBox="1"/>
          <p:nvPr/>
        </p:nvSpPr>
        <p:spPr>
          <a:xfrm>
            <a:off x="2926080" y="5029200"/>
            <a:ext cx="8778240" cy="548640"/>
          </a:xfrm>
          <a:prstGeom prst="rect">
            <a:avLst/>
          </a:prstGeom>
          <a:noFill/>
        </p:spPr>
        <p:txBody>
          <a:bodyPr wrap="square" lIns="36576" rIns="36576" tIns="18288" bIns="18288" anchor="t">
            <a:spAutoFit/>
          </a:bodyPr>
          <a:lstStyle/>
          <a:p>
            <a:pPr algn="l"/>
            <a:r>
              <a:rPr sz="1200" b="0" i="0">
                <a:solidFill>
                  <a:srgbClr val="142B22"/>
                </a:solidFill>
                <a:latin typeface="Segoe UI"/>
                <a:cs typeface="Tahoma"/>
              </a:rPr>
              <a:t>Feed and carousel 1080 × 1350 (4:5) · stories and Reels 1080 × 1920 (9:16) · grid-safe centre square</a:t>
            </a:r>
          </a:p>
        </p:txBody>
      </p:sp>
      <p:sp>
        <p:nvSpPr>
          <p:cNvPr id="24" name="TextBox 23"/>
          <p:cNvSpPr txBox="1"/>
          <p:nvPr/>
        </p:nvSpPr>
        <p:spPr>
          <a:xfrm>
            <a:off x="457200" y="5623560"/>
            <a:ext cx="2377440" cy="502920"/>
          </a:xfrm>
          <a:prstGeom prst="rect">
            <a:avLst/>
          </a:prstGeom>
          <a:noFill/>
        </p:spPr>
        <p:txBody>
          <a:bodyPr wrap="square" lIns="36576" rIns="36576" tIns="18288" bIns="18288" anchor="t">
            <a:spAutoFit/>
          </a:bodyPr>
          <a:lstStyle/>
          <a:p>
            <a:pPr algn="l"/>
            <a:r>
              <a:rPr sz="1200" b="1" i="0">
                <a:solidFill>
                  <a:srgbClr val="0B4F35"/>
                </a:solidFill>
                <a:latin typeface="Segoe UI"/>
                <a:cs typeface="Tahoma"/>
              </a:rPr>
              <a:t>Reels</a:t>
            </a:r>
          </a:p>
        </p:txBody>
      </p:sp>
      <p:sp>
        <p:nvSpPr>
          <p:cNvPr id="25" name="TextBox 24"/>
          <p:cNvSpPr txBox="1"/>
          <p:nvPr/>
        </p:nvSpPr>
        <p:spPr>
          <a:xfrm>
            <a:off x="2926080" y="5623560"/>
            <a:ext cx="8778240" cy="548640"/>
          </a:xfrm>
          <a:prstGeom prst="rect">
            <a:avLst/>
          </a:prstGeom>
          <a:noFill/>
        </p:spPr>
        <p:txBody>
          <a:bodyPr wrap="square" lIns="36576" rIns="36576" tIns="18288" bIns="18288" anchor="t">
            <a:spAutoFit/>
          </a:bodyPr>
          <a:lstStyle/>
          <a:p>
            <a:pPr algn="l"/>
            <a:r>
              <a:rPr sz="1200" b="0" i="0">
                <a:solidFill>
                  <a:srgbClr val="142B22"/>
                </a:solidFill>
                <a:latin typeface="Segoe UI"/>
                <a:cs typeface="Tahoma"/>
              </a:rPr>
              <a:t>3 a month, 15 to 30 s, each with key-frame prompts and animation prompts per shot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48640"/>
          </a:xfrm>
          <a:prstGeom prst="rect">
            <a:avLst/>
          </a:prstGeom>
          <a:noFill/>
        </p:spPr>
        <p:txBody>
          <a:bodyPr wrap="square" lIns="36576" rIns="36576" tIns="18288" bIns="18288" anchor="t">
            <a:spAutoFit/>
          </a:bodyPr>
          <a:lstStyle/>
          <a:p>
            <a:pPr algn="l"/>
            <a:r>
              <a:rPr sz="2400" b="1" i="0">
                <a:solidFill>
                  <a:srgbClr val="0B4F35"/>
                </a:solidFill>
                <a:latin typeface="Segoe UI"/>
                <a:cs typeface="Tahoma"/>
              </a:rPr>
              <a:t>The creative system</a:t>
            </a:r>
          </a:p>
        </p:txBody>
      </p:sp>
      <p:sp>
        <p:nvSpPr>
          <p:cNvPr id="4" name="TextBox 3"/>
          <p:cNvSpPr txBox="1"/>
          <p:nvPr/>
        </p:nvSpPr>
        <p:spPr>
          <a:xfrm>
            <a:off x="457200" y="749808"/>
            <a:ext cx="11247120" cy="365760"/>
          </a:xfrm>
          <a:prstGeom prst="rect">
            <a:avLst/>
          </a:prstGeom>
          <a:noFill/>
        </p:spPr>
        <p:txBody>
          <a:bodyPr wrap="square" lIns="36576" rIns="36576" tIns="18288" bIns="18288" anchor="t">
            <a:spAutoFit/>
          </a:bodyPr>
          <a:lstStyle/>
          <a:p>
            <a:pPr algn="l"/>
            <a:r>
              <a:rPr sz="1200" b="0" i="0">
                <a:solidFill>
                  <a:srgbClr val="5B6B63"/>
                </a:solidFill>
                <a:latin typeface="Segoe UI"/>
                <a:cs typeface="Tahoma"/>
              </a:rPr>
              <a:t>Same quality as the team's designs, ten layouts</a:t>
            </a:r>
          </a:p>
        </p:txBody>
      </p:sp>
      <p:sp>
        <p:nvSpPr>
          <p:cNvPr id="5" name="TextBox 4"/>
          <p:cNvSpPr txBox="1"/>
          <p:nvPr/>
        </p:nvSpPr>
        <p:spPr>
          <a:xfrm>
            <a:off x="11155680" y="6492240"/>
            <a:ext cx="731520" cy="274320"/>
          </a:xfrm>
          <a:prstGeom prst="rect">
            <a:avLst/>
          </a:prstGeom>
          <a:noFill/>
        </p:spPr>
        <p:txBody>
          <a:bodyPr wrap="square" lIns="36576" rIns="36576" tIns="18288" bIns="18288" anchor="t">
            <a:spAutoFit/>
          </a:bodyPr>
          <a:lstStyle/>
          <a:p>
            <a:pPr algn="r"/>
            <a:r>
              <a:rPr sz="900" b="0" i="0">
                <a:solidFill>
                  <a:srgbClr val="5B6B63"/>
                </a:solidFill>
                <a:latin typeface="Segoe UI"/>
                <a:cs typeface="Tahoma"/>
              </a:rPr>
              <a:t>7</a:t>
            </a:r>
          </a:p>
        </p:txBody>
      </p:sp>
      <p:pic>
        <p:nvPicPr>
          <p:cNvPr id="6" name="Picture 5" descr="TD01_Artboard_1.jpg"/>
          <p:cNvPicPr>
            <a:picLocks noChangeAspect="1"/>
          </p:cNvPicPr>
          <p:nvPr/>
        </p:nvPicPr>
        <p:blipFill>
          <a:blip r:embed="rId2"/>
          <a:stretch>
            <a:fillRect/>
          </a:stretch>
        </p:blipFill>
        <p:spPr>
          <a:xfrm>
            <a:off x="457200" y="1280160"/>
            <a:ext cx="1828800" cy="2286000"/>
          </a:xfrm>
          <a:prstGeom prst="rect">
            <a:avLst/>
          </a:prstGeom>
        </p:spPr>
      </p:pic>
      <p:pic>
        <p:nvPicPr>
          <p:cNvPr id="7" name="Picture 6" descr="TD02_Artboard_2_16_(1).jpg"/>
          <p:cNvPicPr>
            <a:picLocks noChangeAspect="1"/>
          </p:cNvPicPr>
          <p:nvPr/>
        </p:nvPicPr>
        <p:blipFill>
          <a:blip r:embed="rId3"/>
          <a:stretch>
            <a:fillRect/>
          </a:stretch>
        </p:blipFill>
        <p:spPr>
          <a:xfrm>
            <a:off x="2286000" y="1280160"/>
            <a:ext cx="1828800" cy="2286000"/>
          </a:xfrm>
          <a:prstGeom prst="rect">
            <a:avLst/>
          </a:prstGeom>
        </p:spPr>
      </p:pic>
      <p:pic>
        <p:nvPicPr>
          <p:cNvPr id="8" name="Picture 7" descr="TD05_Artboard_5_3.jpg"/>
          <p:cNvPicPr>
            <a:picLocks noChangeAspect="1"/>
          </p:cNvPicPr>
          <p:nvPr/>
        </p:nvPicPr>
        <p:blipFill>
          <a:blip r:embed="rId4"/>
          <a:stretch>
            <a:fillRect/>
          </a:stretch>
        </p:blipFill>
        <p:spPr>
          <a:xfrm>
            <a:off x="4114800" y="1280160"/>
            <a:ext cx="1828800" cy="2286000"/>
          </a:xfrm>
          <a:prstGeom prst="rect">
            <a:avLst/>
          </a:prstGeom>
        </p:spPr>
      </p:pic>
      <p:pic>
        <p:nvPicPr>
          <p:cNvPr id="9" name="Picture 8" descr="TD06_Artboard_6_3.jpg"/>
          <p:cNvPicPr>
            <a:picLocks noChangeAspect="1"/>
          </p:cNvPicPr>
          <p:nvPr/>
        </p:nvPicPr>
        <p:blipFill>
          <a:blip r:embed="rId5"/>
          <a:stretch>
            <a:fillRect/>
          </a:stretch>
        </p:blipFill>
        <p:spPr>
          <a:xfrm>
            <a:off x="5943600" y="1280160"/>
            <a:ext cx="1828800" cy="2286000"/>
          </a:xfrm>
          <a:prstGeom prst="rect">
            <a:avLst/>
          </a:prstGeom>
        </p:spPr>
      </p:pic>
      <p:pic>
        <p:nvPicPr>
          <p:cNvPr id="10" name="Picture 9" descr="TD08_SPC_2_-_IG_2.jpg"/>
          <p:cNvPicPr>
            <a:picLocks noChangeAspect="1"/>
          </p:cNvPicPr>
          <p:nvPr/>
        </p:nvPicPr>
        <p:blipFill>
          <a:blip r:embed="rId6"/>
          <a:stretch>
            <a:fillRect/>
          </a:stretch>
        </p:blipFill>
        <p:spPr>
          <a:xfrm>
            <a:off x="7772400" y="1280160"/>
            <a:ext cx="1828800" cy="2286000"/>
          </a:xfrm>
          <a:prstGeom prst="rect">
            <a:avLst/>
          </a:prstGeom>
        </p:spPr>
      </p:pic>
      <p:sp>
        <p:nvSpPr>
          <p:cNvPr id="11" name="TextBox 10"/>
          <p:cNvSpPr txBox="1"/>
          <p:nvPr/>
        </p:nvSpPr>
        <p:spPr>
          <a:xfrm>
            <a:off x="457200" y="3840480"/>
            <a:ext cx="1463040" cy="457200"/>
          </a:xfrm>
          <a:prstGeom prst="rect">
            <a:avLst/>
          </a:prstGeom>
          <a:noFill/>
        </p:spPr>
        <p:txBody>
          <a:bodyPr wrap="square" lIns="36576" rIns="36576" tIns="18288" bIns="18288" anchor="t">
            <a:spAutoFit/>
          </a:bodyPr>
          <a:lstStyle/>
          <a:p>
            <a:pPr algn="l"/>
            <a:r>
              <a:rPr sz="1200" b="1" i="0">
                <a:solidFill>
                  <a:srgbClr val="0B4F35"/>
                </a:solidFill>
                <a:latin typeface="Segoe UI"/>
                <a:cs typeface="Tahoma"/>
              </a:rPr>
              <a:t>Canvas</a:t>
            </a:r>
          </a:p>
        </p:txBody>
      </p:sp>
      <p:sp>
        <p:nvSpPr>
          <p:cNvPr id="12" name="TextBox 11"/>
          <p:cNvSpPr txBox="1"/>
          <p:nvPr/>
        </p:nvSpPr>
        <p:spPr>
          <a:xfrm>
            <a:off x="2011680" y="3840480"/>
            <a:ext cx="9692640" cy="502920"/>
          </a:xfrm>
          <a:prstGeom prst="rect">
            <a:avLst/>
          </a:prstGeom>
          <a:noFill/>
        </p:spPr>
        <p:txBody>
          <a:bodyPr wrap="square" lIns="36576" rIns="36576" tIns="18288" bIns="18288" anchor="t">
            <a:spAutoFit/>
          </a:bodyPr>
          <a:lstStyle/>
          <a:p>
            <a:pPr algn="l"/>
            <a:r>
              <a:rPr sz="1150" b="0" i="0">
                <a:solidFill>
                  <a:srgbClr val="142B22"/>
                </a:solidFill>
                <a:latin typeface="Segoe UI"/>
                <a:cs typeface="Tahoma"/>
              </a:rPr>
              <a:t>1080 × 1350 (4:5) feed and carousel · 1080 × 1920 stories and Reels · key content in the central square</a:t>
            </a:r>
          </a:p>
        </p:txBody>
      </p:sp>
      <p:sp>
        <p:nvSpPr>
          <p:cNvPr id="13" name="TextBox 12"/>
          <p:cNvSpPr txBox="1"/>
          <p:nvPr/>
        </p:nvSpPr>
        <p:spPr>
          <a:xfrm>
            <a:off x="457200" y="4343400"/>
            <a:ext cx="1463040" cy="457200"/>
          </a:xfrm>
          <a:prstGeom prst="rect">
            <a:avLst/>
          </a:prstGeom>
          <a:noFill/>
        </p:spPr>
        <p:txBody>
          <a:bodyPr wrap="square" lIns="36576" rIns="36576" tIns="18288" bIns="18288" anchor="t">
            <a:spAutoFit/>
          </a:bodyPr>
          <a:lstStyle/>
          <a:p>
            <a:pPr algn="l"/>
            <a:r>
              <a:rPr sz="1200" b="1" i="0">
                <a:solidFill>
                  <a:srgbClr val="0B4F35"/>
                </a:solidFill>
                <a:latin typeface="Segoe UI"/>
                <a:cs typeface="Tahoma"/>
              </a:rPr>
              <a:t>Background</a:t>
            </a:r>
          </a:p>
        </p:txBody>
      </p:sp>
      <p:sp>
        <p:nvSpPr>
          <p:cNvPr id="14" name="TextBox 13"/>
          <p:cNvSpPr txBox="1"/>
          <p:nvPr/>
        </p:nvSpPr>
        <p:spPr>
          <a:xfrm>
            <a:off x="2011680" y="4343400"/>
            <a:ext cx="9692640" cy="502920"/>
          </a:xfrm>
          <a:prstGeom prst="rect">
            <a:avLst/>
          </a:prstGeom>
          <a:noFill/>
        </p:spPr>
        <p:txBody>
          <a:bodyPr wrap="square" lIns="36576" rIns="36576" tIns="18288" bIns="18288" anchor="t">
            <a:spAutoFit/>
          </a:bodyPr>
          <a:lstStyle/>
          <a:p>
            <a:pPr algn="l"/>
            <a:r>
              <a:rPr sz="1150" b="0" i="0">
                <a:solidFill>
                  <a:srgbClr val="142B22"/>
                </a:solidFill>
                <a:latin typeface="Segoe UI"/>
                <a:cs typeface="Tahoma"/>
              </a:rPr>
              <a:t>Emerald gradient #09A45B to #04301F, faint lattice, hairline frame</a:t>
            </a:r>
          </a:p>
        </p:txBody>
      </p:sp>
      <p:sp>
        <p:nvSpPr>
          <p:cNvPr id="15" name="TextBox 14"/>
          <p:cNvSpPr txBox="1"/>
          <p:nvPr/>
        </p:nvSpPr>
        <p:spPr>
          <a:xfrm>
            <a:off x="457200" y="4846320"/>
            <a:ext cx="1463040" cy="457200"/>
          </a:xfrm>
          <a:prstGeom prst="rect">
            <a:avLst/>
          </a:prstGeom>
          <a:noFill/>
        </p:spPr>
        <p:txBody>
          <a:bodyPr wrap="square" lIns="36576" rIns="36576" tIns="18288" bIns="18288" anchor="t">
            <a:spAutoFit/>
          </a:bodyPr>
          <a:lstStyle/>
          <a:p>
            <a:pPr algn="l"/>
            <a:r>
              <a:rPr sz="1200" b="1" i="0">
                <a:solidFill>
                  <a:srgbClr val="0B4F35"/>
                </a:solidFill>
                <a:latin typeface="Segoe UI"/>
                <a:cs typeface="Tahoma"/>
              </a:rPr>
              <a:t>Type</a:t>
            </a:r>
          </a:p>
        </p:txBody>
      </p:sp>
      <p:sp>
        <p:nvSpPr>
          <p:cNvPr id="16" name="TextBox 15"/>
          <p:cNvSpPr txBox="1"/>
          <p:nvPr/>
        </p:nvSpPr>
        <p:spPr>
          <a:xfrm>
            <a:off x="2011680" y="4846320"/>
            <a:ext cx="9692640" cy="502920"/>
          </a:xfrm>
          <a:prstGeom prst="rect">
            <a:avLst/>
          </a:prstGeom>
          <a:noFill/>
        </p:spPr>
        <p:txBody>
          <a:bodyPr wrap="square" lIns="36576" rIns="36576" tIns="18288" bIns="18288" anchor="t">
            <a:spAutoFit/>
          </a:bodyPr>
          <a:lstStyle/>
          <a:p>
            <a:pPr algn="l"/>
            <a:r>
              <a:rPr sz="1150" b="0" i="0">
                <a:solidFill>
                  <a:srgbClr val="142B22"/>
                </a:solidFill>
                <a:latin typeface="Segoe UI"/>
                <a:cs typeface="Tahoma"/>
              </a:rPr>
              <a:t>Arabic headline AE_Sharjah in two levels with kashida; English italic condensed or Friz Quadrata; support Muna / Roboto Light</a:t>
            </a:r>
          </a:p>
        </p:txBody>
      </p:sp>
      <p:sp>
        <p:nvSpPr>
          <p:cNvPr id="17" name="TextBox 16"/>
          <p:cNvSpPr txBox="1"/>
          <p:nvPr/>
        </p:nvSpPr>
        <p:spPr>
          <a:xfrm>
            <a:off x="457200" y="5349240"/>
            <a:ext cx="1463040" cy="457200"/>
          </a:xfrm>
          <a:prstGeom prst="rect">
            <a:avLst/>
          </a:prstGeom>
          <a:noFill/>
        </p:spPr>
        <p:txBody>
          <a:bodyPr wrap="square" lIns="36576" rIns="36576" tIns="18288" bIns="18288" anchor="t">
            <a:spAutoFit/>
          </a:bodyPr>
          <a:lstStyle/>
          <a:p>
            <a:pPr algn="l"/>
            <a:r>
              <a:rPr sz="1200" b="1" i="0">
                <a:solidFill>
                  <a:srgbClr val="0B4F35"/>
                </a:solidFill>
                <a:latin typeface="Segoe UI"/>
                <a:cs typeface="Tahoma"/>
              </a:rPr>
              <a:t>Logo</a:t>
            </a:r>
          </a:p>
        </p:txBody>
      </p:sp>
      <p:sp>
        <p:nvSpPr>
          <p:cNvPr id="18" name="TextBox 17"/>
          <p:cNvSpPr txBox="1"/>
          <p:nvPr/>
        </p:nvSpPr>
        <p:spPr>
          <a:xfrm>
            <a:off x="2011680" y="5349240"/>
            <a:ext cx="9692640" cy="502920"/>
          </a:xfrm>
          <a:prstGeom prst="rect">
            <a:avLst/>
          </a:prstGeom>
          <a:noFill/>
        </p:spPr>
        <p:txBody>
          <a:bodyPr wrap="square" lIns="36576" rIns="36576" tIns="18288" bIns="18288" anchor="t">
            <a:spAutoFit/>
          </a:bodyPr>
          <a:lstStyle/>
          <a:p>
            <a:pPr algn="l"/>
            <a:r>
              <a:rPr sz="1150" b="0" i="0">
                <a:solidFill>
                  <a:srgbClr val="142B22"/>
                </a:solidFill>
                <a:latin typeface="Segoe UI"/>
                <a:cs typeface="Tahoma"/>
              </a:rPr>
              <a:t>Real white logo file top-left, never drawn by a generator</a:t>
            </a:r>
          </a:p>
        </p:txBody>
      </p:sp>
      <p:sp>
        <p:nvSpPr>
          <p:cNvPr id="19" name="TextBox 18"/>
          <p:cNvSpPr txBox="1"/>
          <p:nvPr/>
        </p:nvSpPr>
        <p:spPr>
          <a:xfrm>
            <a:off x="457200" y="5852159"/>
            <a:ext cx="1463040" cy="457200"/>
          </a:xfrm>
          <a:prstGeom prst="rect">
            <a:avLst/>
          </a:prstGeom>
          <a:noFill/>
        </p:spPr>
        <p:txBody>
          <a:bodyPr wrap="square" lIns="36576" rIns="36576" tIns="18288" bIns="18288" anchor="t">
            <a:spAutoFit/>
          </a:bodyPr>
          <a:lstStyle/>
          <a:p>
            <a:pPr algn="l"/>
            <a:r>
              <a:rPr sz="1200" b="1" i="0">
                <a:solidFill>
                  <a:srgbClr val="0B4F35"/>
                </a:solidFill>
                <a:latin typeface="Segoe UI"/>
                <a:cs typeface="Tahoma"/>
              </a:rPr>
              <a:t>Layouts</a:t>
            </a:r>
          </a:p>
        </p:txBody>
      </p:sp>
      <p:sp>
        <p:nvSpPr>
          <p:cNvPr id="20" name="TextBox 19"/>
          <p:cNvSpPr txBox="1"/>
          <p:nvPr/>
        </p:nvSpPr>
        <p:spPr>
          <a:xfrm>
            <a:off x="2011680" y="5852159"/>
            <a:ext cx="9692640" cy="502920"/>
          </a:xfrm>
          <a:prstGeom prst="rect">
            <a:avLst/>
          </a:prstGeom>
          <a:noFill/>
        </p:spPr>
        <p:txBody>
          <a:bodyPr wrap="square" lIns="36576" rIns="36576" tIns="18288" bIns="18288" anchor="t">
            <a:spAutoFit/>
          </a:bodyPr>
          <a:lstStyle/>
          <a:p>
            <a:pPr algn="l"/>
            <a:r>
              <a:rPr sz="1150" b="0" i="0">
                <a:solidFill>
                  <a:srgbClr val="142B22"/>
                </a:solidFill>
                <a:latin typeface="Segoe UI"/>
                <a:cs typeface="Tahoma"/>
              </a:rPr>
              <a:t>T1 Glass object · T2 Team landscape · T3 Portrait panel · T4 Card explainer · T5 Event · T6 Key-visual petal · T7 People hero · T8 Type card · T9 Process flow · T10 Number stat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48640"/>
          </a:xfrm>
          <a:prstGeom prst="rect">
            <a:avLst/>
          </a:prstGeom>
          <a:noFill/>
        </p:spPr>
        <p:txBody>
          <a:bodyPr wrap="square" lIns="36576" rIns="36576" tIns="18288" bIns="18288" anchor="t">
            <a:spAutoFit/>
          </a:bodyPr>
          <a:lstStyle/>
          <a:p>
            <a:pPr algn="l"/>
            <a:r>
              <a:rPr sz="2400" b="1" i="0">
                <a:solidFill>
                  <a:srgbClr val="0B4F35"/>
                </a:solidFill>
                <a:latin typeface="Segoe UI"/>
                <a:cs typeface="Tahoma"/>
              </a:rPr>
              <a:t>Safe by design</a:t>
            </a:r>
          </a:p>
        </p:txBody>
      </p:sp>
      <p:sp>
        <p:nvSpPr>
          <p:cNvPr id="4" name="TextBox 3"/>
          <p:cNvSpPr txBox="1"/>
          <p:nvPr/>
        </p:nvSpPr>
        <p:spPr>
          <a:xfrm>
            <a:off x="457200" y="749808"/>
            <a:ext cx="11247120" cy="365760"/>
          </a:xfrm>
          <a:prstGeom prst="rect">
            <a:avLst/>
          </a:prstGeom>
          <a:noFill/>
        </p:spPr>
        <p:txBody>
          <a:bodyPr wrap="square" lIns="36576" rIns="36576" tIns="18288" bIns="18288" anchor="t">
            <a:spAutoFit/>
          </a:bodyPr>
          <a:lstStyle/>
          <a:p>
            <a:pPr algn="l"/>
            <a:r>
              <a:rPr sz="1200" b="0" i="0">
                <a:solidFill>
                  <a:srgbClr val="5B6B63"/>
                </a:solidFill>
                <a:latin typeface="Segoe UI"/>
                <a:cs typeface="Tahoma"/>
              </a:rPr>
              <a:t>Every piece passes the same gate</a:t>
            </a:r>
          </a:p>
        </p:txBody>
      </p:sp>
      <p:sp>
        <p:nvSpPr>
          <p:cNvPr id="5" name="TextBox 4"/>
          <p:cNvSpPr txBox="1"/>
          <p:nvPr/>
        </p:nvSpPr>
        <p:spPr>
          <a:xfrm>
            <a:off x="11155680" y="6492240"/>
            <a:ext cx="731520" cy="274320"/>
          </a:xfrm>
          <a:prstGeom prst="rect">
            <a:avLst/>
          </a:prstGeom>
          <a:noFill/>
        </p:spPr>
        <p:txBody>
          <a:bodyPr wrap="square" lIns="36576" rIns="36576" tIns="18288" bIns="18288" anchor="t">
            <a:spAutoFit/>
          </a:bodyPr>
          <a:lstStyle/>
          <a:p>
            <a:pPr algn="r"/>
            <a:r>
              <a:rPr sz="900" b="0" i="0">
                <a:solidFill>
                  <a:srgbClr val="5B6B63"/>
                </a:solidFill>
                <a:latin typeface="Segoe UI"/>
                <a:cs typeface="Tahoma"/>
              </a:rPr>
              <a:t>8</a:t>
            </a:r>
          </a:p>
        </p:txBody>
      </p:sp>
      <p:sp>
        <p:nvSpPr>
          <p:cNvPr id="6" name="Rounded Rectangle 5"/>
          <p:cNvSpPr/>
          <p:nvPr/>
        </p:nvSpPr>
        <p:spPr>
          <a:xfrm>
            <a:off x="457200" y="1371600"/>
            <a:ext cx="5486400" cy="4754880"/>
          </a:xfrm>
          <a:prstGeom prst="roundRect">
            <a:avLst>
              <a:gd name="adj" fmla="val 3000"/>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63040"/>
            <a:ext cx="5120640" cy="365760"/>
          </a:xfrm>
          <a:prstGeom prst="rect">
            <a:avLst/>
          </a:prstGeom>
          <a:noFill/>
        </p:spPr>
        <p:txBody>
          <a:bodyPr wrap="square" lIns="36576" rIns="36576" tIns="18288" bIns="18288" anchor="t">
            <a:spAutoFit/>
          </a:bodyPr>
          <a:lstStyle/>
          <a:p>
            <a:pPr algn="l"/>
            <a:r>
              <a:rPr sz="1500" b="1" i="0">
                <a:solidFill>
                  <a:srgbClr val="0B4F35"/>
                </a:solidFill>
                <a:latin typeface="Segoe UI"/>
                <a:cs typeface="Tahoma"/>
              </a:rPr>
              <a:t>Never in a post</a:t>
            </a:r>
          </a:p>
        </p:txBody>
      </p:sp>
      <p:sp>
        <p:nvSpPr>
          <p:cNvPr id="8" name="TextBox 7"/>
          <p:cNvSpPr txBox="1"/>
          <p:nvPr/>
        </p:nvSpPr>
        <p:spPr>
          <a:xfrm>
            <a:off x="640080" y="1920240"/>
            <a:ext cx="5120640" cy="4023360"/>
          </a:xfrm>
          <a:prstGeom prst="rect">
            <a:avLst/>
          </a:prstGeom>
          <a:noFill/>
        </p:spPr>
        <p:txBody>
          <a:bodyPr wrap="square" lIns="36576" rIns="36576" tIns="18288" bIns="18288" anchor="t">
            <a:spAutoFit/>
          </a:bodyPr>
          <a:lstStyle/>
          <a:p>
            <a:pPr algn="l">
              <a:spcAft>
                <a:spcPts val="600"/>
              </a:spcAft>
            </a:pPr>
            <a:r>
              <a:rPr sz="1250" b="0" i="0">
                <a:solidFill>
                  <a:srgbClr val="142B22"/>
                </a:solidFill>
                <a:latin typeface="Segoe UI"/>
                <a:cs typeface="Tahoma"/>
              </a:rPr>
              <a:t>• Product or drug names, packs, labels</a:t>
            </a:r>
          </a:p>
          <a:p>
            <a:pPr algn="l">
              <a:spcAft>
                <a:spcPts val="600"/>
              </a:spcAft>
            </a:pPr>
            <a:r>
              <a:rPr sz="1250" b="0" i="0">
                <a:solidFill>
                  <a:srgbClr val="142B22"/>
                </a:solidFill>
                <a:latin typeface="Segoe UI"/>
                <a:cs typeface="Tahoma"/>
              </a:rPr>
              <a:t>• Claims of health, effect, safety or comparison</a:t>
            </a:r>
          </a:p>
          <a:p>
            <a:pPr algn="l">
              <a:spcAft>
                <a:spcPts val="600"/>
              </a:spcAft>
            </a:pPr>
            <a:r>
              <a:rPr sz="1250" b="0" i="0">
                <a:solidFill>
                  <a:srgbClr val="142B22"/>
                </a:solidFill>
                <a:latin typeface="Segoe UI"/>
                <a:cs typeface="Tahoma"/>
              </a:rPr>
              <a:t>• Health advice or instructions</a:t>
            </a:r>
          </a:p>
          <a:p>
            <a:pPr algn="l">
              <a:spcAft>
                <a:spcPts val="600"/>
              </a:spcAft>
            </a:pPr>
            <a:r>
              <a:rPr sz="1250" b="0" i="0">
                <a:solidFill>
                  <a:srgbClr val="142B22"/>
                </a:solidFill>
                <a:latin typeface="Segoe UI"/>
                <a:cs typeface="Tahoma"/>
              </a:rPr>
              <a:t>• Quality-assurance or standards statements (outside January)</a:t>
            </a:r>
          </a:p>
          <a:p>
            <a:pPr algn="l">
              <a:spcAft>
                <a:spcPts val="600"/>
              </a:spcAft>
            </a:pPr>
            <a:r>
              <a:rPr sz="1250" b="0" i="0">
                <a:solidFill>
                  <a:srgbClr val="142B22"/>
                </a:solidFill>
                <a:latin typeface="Segoe UI"/>
                <a:cs typeface="Tahoma"/>
              </a:rPr>
              <a:t>• Statistics, rankings, superlatives</a:t>
            </a:r>
          </a:p>
          <a:p>
            <a:pPr algn="l">
              <a:spcAft>
                <a:spcPts val="600"/>
              </a:spcAft>
            </a:pPr>
            <a:r>
              <a:rPr sz="1250" b="0" i="0">
                <a:solidFill>
                  <a:srgbClr val="142B22"/>
                </a:solidFill>
                <a:latin typeface="Segoe UI"/>
                <a:cs typeface="Tahoma"/>
              </a:rPr>
              <a:t>• IPO, shares or results</a:t>
            </a:r>
          </a:p>
          <a:p>
            <a:pPr algn="l">
              <a:spcAft>
                <a:spcPts val="600"/>
              </a:spcAft>
            </a:pPr>
            <a:r>
              <a:rPr sz="1250" b="0" i="0">
                <a:solidFill>
                  <a:srgbClr val="142B22"/>
                </a:solidFill>
                <a:latin typeface="Segoe UI"/>
                <a:cs typeface="Tahoma"/>
              </a:rPr>
              <a:t>• Patient stories, generated people named as staff</a:t>
            </a:r>
          </a:p>
        </p:txBody>
      </p:sp>
      <p:sp>
        <p:nvSpPr>
          <p:cNvPr id="9" name="Rounded Rectangle 8"/>
          <p:cNvSpPr/>
          <p:nvPr/>
        </p:nvSpPr>
        <p:spPr>
          <a:xfrm>
            <a:off x="6217920" y="1371600"/>
            <a:ext cx="5486400" cy="4754880"/>
          </a:xfrm>
          <a:prstGeom prst="roundRect">
            <a:avLst>
              <a:gd name="adj" fmla="val 3000"/>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463040"/>
            <a:ext cx="5120640" cy="365760"/>
          </a:xfrm>
          <a:prstGeom prst="rect">
            <a:avLst/>
          </a:prstGeom>
          <a:noFill/>
        </p:spPr>
        <p:txBody>
          <a:bodyPr wrap="square" lIns="36576" rIns="36576" tIns="18288" bIns="18288" anchor="t">
            <a:spAutoFit/>
          </a:bodyPr>
          <a:lstStyle/>
          <a:p>
            <a:pPr algn="l"/>
            <a:r>
              <a:rPr sz="1500" b="1" i="0">
                <a:solidFill>
                  <a:srgbClr val="0B4F35"/>
                </a:solidFill>
                <a:latin typeface="Segoe UI"/>
                <a:cs typeface="Tahoma"/>
              </a:rPr>
              <a:t>Gate before posting</a:t>
            </a:r>
          </a:p>
        </p:txBody>
      </p:sp>
      <p:sp>
        <p:nvSpPr>
          <p:cNvPr id="11" name="TextBox 10"/>
          <p:cNvSpPr txBox="1"/>
          <p:nvPr/>
        </p:nvSpPr>
        <p:spPr>
          <a:xfrm>
            <a:off x="6400800" y="1920240"/>
            <a:ext cx="5120640" cy="4023360"/>
          </a:xfrm>
          <a:prstGeom prst="rect">
            <a:avLst/>
          </a:prstGeom>
          <a:noFill/>
        </p:spPr>
        <p:txBody>
          <a:bodyPr wrap="square" lIns="36576" rIns="36576" tIns="18288" bIns="18288" anchor="t">
            <a:spAutoFit/>
          </a:bodyPr>
          <a:lstStyle/>
          <a:p>
            <a:pPr algn="l">
              <a:spcAft>
                <a:spcPts val="600"/>
              </a:spcAft>
            </a:pPr>
            <a:r>
              <a:rPr sz="1250" b="0" i="0">
                <a:solidFill>
                  <a:srgbClr val="142B22"/>
                </a:solidFill>
                <a:latin typeface="Segoe UI"/>
                <a:cs typeface="Tahoma"/>
              </a:rPr>
              <a:t>1. Message approved</a:t>
            </a:r>
          </a:p>
          <a:p>
            <a:pPr algn="l">
              <a:spcAft>
                <a:spcPts val="600"/>
              </a:spcAft>
            </a:pPr>
            <a:r>
              <a:rPr sz="1250" b="0" i="0">
                <a:solidFill>
                  <a:srgbClr val="142B22"/>
                </a:solidFill>
                <a:latin typeface="Segoe UI"/>
                <a:cs typeface="Tahoma"/>
              </a:rPr>
              <a:t>2. Facts sourced or flagged</a:t>
            </a:r>
          </a:p>
          <a:p>
            <a:pPr algn="l">
              <a:spcAft>
                <a:spcPts val="600"/>
              </a:spcAft>
            </a:pPr>
            <a:r>
              <a:rPr sz="1250" b="0" i="0">
                <a:solidFill>
                  <a:srgbClr val="142B22"/>
                </a:solidFill>
                <a:latin typeface="Segoe UI"/>
                <a:cs typeface="Tahoma"/>
              </a:rPr>
              <a:t>3. Consent logged for every real face</a:t>
            </a:r>
          </a:p>
          <a:p>
            <a:pPr algn="l">
              <a:spcAft>
                <a:spcPts val="600"/>
              </a:spcAft>
            </a:pPr>
            <a:r>
              <a:rPr sz="1250" b="0" i="0">
                <a:solidFill>
                  <a:srgbClr val="142B22"/>
                </a:solidFill>
                <a:latin typeface="Segoe UI"/>
                <a:cs typeface="Tahoma"/>
              </a:rPr>
              <a:t>4. Native Arabic review</a:t>
            </a:r>
          </a:p>
          <a:p>
            <a:pPr algn="l">
              <a:spcAft>
                <a:spcPts val="600"/>
              </a:spcAft>
            </a:pPr>
            <a:r>
              <a:rPr sz="1250" b="0" i="0">
                <a:solidFill>
                  <a:srgbClr val="142B22"/>
                </a:solidFill>
                <a:latin typeface="Segoe UI"/>
                <a:cs typeface="Tahoma"/>
              </a:rPr>
              <a:t>5. Client regulatory sign-off for health captions</a:t>
            </a:r>
          </a:p>
          <a:p>
            <a:pPr algn="l">
              <a:spcAft>
                <a:spcPts val="600"/>
              </a:spcAft>
            </a:pPr>
            <a:r>
              <a:rPr sz="1250" b="0" i="0">
                <a:solidFill>
                  <a:srgbClr val="142B22"/>
                </a:solidFill>
                <a:latin typeface="Segoe UI"/>
                <a:cs typeface="Tahoma"/>
              </a:rPr>
              <a:t>6. Real logo and brand fonts placed</a:t>
            </a:r>
          </a:p>
          <a:p>
            <a:pPr algn="l">
              <a:spcAft>
                <a:spcPts val="600"/>
              </a:spcAft>
            </a:pPr>
            <a:r>
              <a:rPr sz="1250" b="0" i="0">
                <a:solidFill>
                  <a:srgbClr val="142B22"/>
                </a:solidFill>
                <a:latin typeface="Segoe UI"/>
                <a:cs typeface="Tahoma"/>
              </a:rPr>
              <a:t>7. Safe zones and grid role checked</a:t>
            </a:r>
          </a:p>
          <a:p>
            <a:pPr algn="l">
              <a:spcAft>
                <a:spcPts val="600"/>
              </a:spcAft>
            </a:pPr>
            <a:r>
              <a:rPr sz="1250" b="0" i="0">
                <a:solidFill>
                  <a:srgbClr val="142B22"/>
                </a:solidFill>
                <a:latin typeface="Segoe UI"/>
                <a:cs typeface="Tahoma"/>
              </a:rPr>
              <a:t>8. Time slot set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48640"/>
          </a:xfrm>
          <a:prstGeom prst="rect">
            <a:avLst/>
          </a:prstGeom>
          <a:noFill/>
        </p:spPr>
        <p:txBody>
          <a:bodyPr wrap="square" lIns="36576" rIns="36576" tIns="18288" bIns="18288" anchor="t">
            <a:spAutoFit/>
          </a:bodyPr>
          <a:lstStyle/>
          <a:p>
            <a:pPr algn="l"/>
            <a:r>
              <a:rPr sz="2400" b="1" i="0">
                <a:solidFill>
                  <a:srgbClr val="0B4F35"/>
                </a:solidFill>
                <a:latin typeface="Segoe UI"/>
                <a:cs typeface="Tahoma"/>
              </a:rPr>
              <a:t>No claim, no SFDA approval</a:t>
            </a:r>
          </a:p>
        </p:txBody>
      </p:sp>
      <p:sp>
        <p:nvSpPr>
          <p:cNvPr id="4" name="TextBox 3"/>
          <p:cNvSpPr txBox="1"/>
          <p:nvPr/>
        </p:nvSpPr>
        <p:spPr>
          <a:xfrm>
            <a:off x="457200" y="749808"/>
            <a:ext cx="11247120" cy="365760"/>
          </a:xfrm>
          <a:prstGeom prst="rect">
            <a:avLst/>
          </a:prstGeom>
          <a:noFill/>
        </p:spPr>
        <p:txBody>
          <a:bodyPr wrap="square" lIns="36576" rIns="36576" tIns="18288" bIns="18288" anchor="t">
            <a:spAutoFit/>
          </a:bodyPr>
          <a:lstStyle/>
          <a:p>
            <a:pPr algn="l"/>
            <a:r>
              <a:rPr sz="1200" b="0" i="0">
                <a:solidFill>
                  <a:srgbClr val="5B6B63"/>
                </a:solidFill>
                <a:latin typeface="Segoe UI"/>
                <a:cs typeface="Tahoma"/>
              </a:rPr>
              <a:t>Nothing needs referencing; the few descriptive pieces sit in January and are flagged</a:t>
            </a:r>
          </a:p>
        </p:txBody>
      </p:sp>
      <p:sp>
        <p:nvSpPr>
          <p:cNvPr id="5" name="TextBox 4"/>
          <p:cNvSpPr txBox="1"/>
          <p:nvPr/>
        </p:nvSpPr>
        <p:spPr>
          <a:xfrm>
            <a:off x="11155680" y="6492240"/>
            <a:ext cx="731520" cy="274320"/>
          </a:xfrm>
          <a:prstGeom prst="rect">
            <a:avLst/>
          </a:prstGeom>
          <a:noFill/>
        </p:spPr>
        <p:txBody>
          <a:bodyPr wrap="square" lIns="36576" rIns="36576" tIns="18288" bIns="18288" anchor="t">
            <a:spAutoFit/>
          </a:bodyPr>
          <a:lstStyle/>
          <a:p>
            <a:pPr algn="r"/>
            <a:r>
              <a:rPr sz="900" b="0" i="0">
                <a:solidFill>
                  <a:srgbClr val="5B6B63"/>
                </a:solidFill>
                <a:latin typeface="Segoe UI"/>
                <a:cs typeface="Tahoma"/>
              </a:rPr>
              <a:t>9</a:t>
            </a:r>
          </a:p>
        </p:txBody>
      </p:sp>
      <p:sp>
        <p:nvSpPr>
          <p:cNvPr id="6" name="Rounded Rectangle 5"/>
          <p:cNvSpPr/>
          <p:nvPr/>
        </p:nvSpPr>
        <p:spPr>
          <a:xfrm>
            <a:off x="457200" y="1371600"/>
            <a:ext cx="3657600" cy="1737360"/>
          </a:xfrm>
          <a:prstGeom prst="roundRect">
            <a:avLst>
              <a:gd name="adj" fmla="val 5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463040"/>
            <a:ext cx="3657600" cy="914400"/>
          </a:xfrm>
          <a:prstGeom prst="rect">
            <a:avLst/>
          </a:prstGeom>
          <a:noFill/>
        </p:spPr>
        <p:txBody>
          <a:bodyPr wrap="square" lIns="36576" rIns="36576" tIns="18288" bIns="18288" anchor="t">
            <a:spAutoFit/>
          </a:bodyPr>
          <a:lstStyle/>
          <a:p>
            <a:pPr algn="ctr"/>
            <a:r>
              <a:rPr sz="4400" b="1" i="0">
                <a:solidFill>
                  <a:srgbClr val="FFFFFF"/>
                </a:solidFill>
                <a:latin typeface="Segoe UI"/>
                <a:cs typeface="Tahoma"/>
              </a:rPr>
              <a:t>96</a:t>
            </a:r>
          </a:p>
        </p:txBody>
      </p:sp>
      <p:sp>
        <p:nvSpPr>
          <p:cNvPr id="8" name="TextBox 7"/>
          <p:cNvSpPr txBox="1"/>
          <p:nvPr/>
        </p:nvSpPr>
        <p:spPr>
          <a:xfrm>
            <a:off x="457200" y="2377440"/>
            <a:ext cx="3657600" cy="548640"/>
          </a:xfrm>
          <a:prstGeom prst="rect">
            <a:avLst/>
          </a:prstGeom>
          <a:noFill/>
        </p:spPr>
        <p:txBody>
          <a:bodyPr wrap="square" lIns="36576" rIns="36576" tIns="18288" bIns="18288" anchor="t">
            <a:spAutoFit/>
          </a:bodyPr>
          <a:lstStyle/>
          <a:p>
            <a:pPr algn="ctr"/>
            <a:r>
              <a:rPr sz="1400" b="0" i="0">
                <a:solidFill>
                  <a:srgbClr val="FFFFFF"/>
                </a:solidFill>
                <a:latin typeface="Segoe UI"/>
                <a:cs typeface="Tahoma"/>
              </a:rPr>
              <a:t>pieces in 3 months</a:t>
            </a:r>
          </a:p>
        </p:txBody>
      </p:sp>
      <p:sp>
        <p:nvSpPr>
          <p:cNvPr id="9" name="Rounded Rectangle 8"/>
          <p:cNvSpPr/>
          <p:nvPr/>
        </p:nvSpPr>
        <p:spPr>
          <a:xfrm>
            <a:off x="4251960" y="1371600"/>
            <a:ext cx="3657600" cy="1737360"/>
          </a:xfrm>
          <a:prstGeom prst="roundRect">
            <a:avLst>
              <a:gd name="adj" fmla="val 5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51960" y="1463040"/>
            <a:ext cx="3657600" cy="914400"/>
          </a:xfrm>
          <a:prstGeom prst="rect">
            <a:avLst/>
          </a:prstGeom>
          <a:noFill/>
        </p:spPr>
        <p:txBody>
          <a:bodyPr wrap="square" lIns="36576" rIns="36576" tIns="18288" bIns="18288" anchor="t">
            <a:spAutoFit/>
          </a:bodyPr>
          <a:lstStyle/>
          <a:p>
            <a:pPr algn="ctr"/>
            <a:r>
              <a:rPr sz="4400" b="1" i="0">
                <a:solidFill>
                  <a:srgbClr val="FFFFFF"/>
                </a:solidFill>
                <a:latin typeface="Segoe UI"/>
                <a:cs typeface="Tahoma"/>
              </a:rPr>
              <a:t>81</a:t>
            </a:r>
          </a:p>
        </p:txBody>
      </p:sp>
      <p:sp>
        <p:nvSpPr>
          <p:cNvPr id="11" name="TextBox 10"/>
          <p:cNvSpPr txBox="1"/>
          <p:nvPr/>
        </p:nvSpPr>
        <p:spPr>
          <a:xfrm>
            <a:off x="4251960" y="2377440"/>
            <a:ext cx="3657600" cy="548640"/>
          </a:xfrm>
          <a:prstGeom prst="rect">
            <a:avLst/>
          </a:prstGeom>
          <a:noFill/>
        </p:spPr>
        <p:txBody>
          <a:bodyPr wrap="square" lIns="36576" rIns="36576" tIns="18288" bIns="18288" anchor="t">
            <a:spAutoFit/>
          </a:bodyPr>
          <a:lstStyle/>
          <a:p>
            <a:pPr algn="ctr"/>
            <a:r>
              <a:rPr sz="1400" b="0" i="0">
                <a:solidFill>
                  <a:srgbClr val="FFFFFF"/>
                </a:solidFill>
                <a:latin typeface="Segoe UI"/>
                <a:cs typeface="Tahoma"/>
              </a:rPr>
              <a:t>claim-free (level NONE)</a:t>
            </a:r>
          </a:p>
        </p:txBody>
      </p:sp>
      <p:sp>
        <p:nvSpPr>
          <p:cNvPr id="12" name="Rounded Rectangle 11"/>
          <p:cNvSpPr/>
          <p:nvPr/>
        </p:nvSpPr>
        <p:spPr>
          <a:xfrm>
            <a:off x="8046720" y="1371600"/>
            <a:ext cx="3657600" cy="1737360"/>
          </a:xfrm>
          <a:prstGeom prst="roundRect">
            <a:avLst>
              <a:gd name="adj" fmla="val 5000"/>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463040"/>
            <a:ext cx="3657600" cy="914400"/>
          </a:xfrm>
          <a:prstGeom prst="rect">
            <a:avLst/>
          </a:prstGeom>
          <a:noFill/>
        </p:spPr>
        <p:txBody>
          <a:bodyPr wrap="square" lIns="36576" rIns="36576" tIns="18288" bIns="18288" anchor="t">
            <a:spAutoFit/>
          </a:bodyPr>
          <a:lstStyle/>
          <a:p>
            <a:pPr algn="ctr"/>
            <a:r>
              <a:rPr sz="4400" b="1" i="0">
                <a:solidFill>
                  <a:srgbClr val="FFFFFF"/>
                </a:solidFill>
                <a:latin typeface="Segoe UI"/>
                <a:cs typeface="Tahoma"/>
              </a:rPr>
              <a:t>15</a:t>
            </a:r>
          </a:p>
        </p:txBody>
      </p:sp>
      <p:sp>
        <p:nvSpPr>
          <p:cNvPr id="14" name="TextBox 13"/>
          <p:cNvSpPr txBox="1"/>
          <p:nvPr/>
        </p:nvSpPr>
        <p:spPr>
          <a:xfrm>
            <a:off x="8046720" y="2377440"/>
            <a:ext cx="3657600" cy="548640"/>
          </a:xfrm>
          <a:prstGeom prst="rect">
            <a:avLst/>
          </a:prstGeom>
          <a:noFill/>
        </p:spPr>
        <p:txBody>
          <a:bodyPr wrap="square" lIns="36576" rIns="36576" tIns="18288" bIns="18288" anchor="t">
            <a:spAutoFit/>
          </a:bodyPr>
          <a:lstStyle/>
          <a:p>
            <a:pPr algn="ctr"/>
            <a:r>
              <a:rPr sz="1400" b="0" i="0">
                <a:solidFill>
                  <a:srgbClr val="FFFFFF"/>
                </a:solidFill>
                <a:latin typeface="Segoe UI"/>
                <a:cs typeface="Tahoma"/>
              </a:rPr>
              <a:t>flagged in January only</a:t>
            </a:r>
          </a:p>
        </p:txBody>
      </p:sp>
      <p:sp>
        <p:nvSpPr>
          <p:cNvPr id="15" name="TextBox 14"/>
          <p:cNvSpPr txBox="1"/>
          <p:nvPr/>
        </p:nvSpPr>
        <p:spPr>
          <a:xfrm>
            <a:off x="457200" y="3383280"/>
            <a:ext cx="11247120" cy="2743200"/>
          </a:xfrm>
          <a:prstGeom prst="rect">
            <a:avLst/>
          </a:prstGeom>
          <a:noFill/>
        </p:spPr>
        <p:txBody>
          <a:bodyPr wrap="square" lIns="36576" rIns="36576" tIns="18288" bIns="18288" anchor="t">
            <a:spAutoFit/>
          </a:bodyPr>
          <a:lstStyle/>
          <a:p>
            <a:pPr algn="l">
              <a:spcAft>
                <a:spcPts val="900"/>
              </a:spcAft>
            </a:pPr>
            <a:r>
              <a:rPr sz="1300" b="0" i="0">
                <a:solidFill>
                  <a:srgbClr val="142B22"/>
                </a:solidFill>
                <a:latin typeface="Segoe UI"/>
                <a:cs typeface="Tahoma"/>
              </a:rPr>
              <a:t>• November and December: every piece is claim level NONE. People, place, thanks, careers, local industry, solidarity greetings.</a:t>
            </a:r>
          </a:p>
          <a:p>
            <a:pPr algn="l">
              <a:spcAft>
                <a:spcPts val="900"/>
              </a:spcAft>
            </a:pPr>
            <a:r>
              <a:rPr sz="1300" b="0" i="0">
                <a:solidFill>
                  <a:srgbClr val="142B22"/>
                </a:solidFill>
                <a:latin typeface="Segoe UI"/>
                <a:cs typeface="Tahoma"/>
              </a:rPr>
              <a:t>• January: process, technology and quality-statement pieces are allowed but flagged. They describe how the line runs; none states an effect, a safety outcome, a statistic or a product.</a:t>
            </a:r>
          </a:p>
          <a:p>
            <a:pPr algn="l">
              <a:spcAft>
                <a:spcPts val="900"/>
              </a:spcAft>
            </a:pPr>
            <a:r>
              <a:rPr sz="1300" b="0" i="0">
                <a:solidFill>
                  <a:srgbClr val="142B22"/>
                </a:solidFill>
                <a:latin typeface="Segoe UI"/>
                <a:cs typeface="Tahoma"/>
              </a:rPr>
              <a:t>• The flagged list with what the client must verify is a separate file: Sudair_3Month_Claims_and_Approval_Review.md.</a:t>
            </a:r>
          </a:p>
          <a:p>
            <a:pPr algn="l">
              <a:spcAft>
                <a:spcPts val="900"/>
              </a:spcAft>
            </a:pPr>
            <a:r>
              <a:rPr sz="1300" b="0" i="0">
                <a:solidFill>
                  <a:srgbClr val="142B22"/>
                </a:solidFill>
                <a:latin typeface="Segoe UI"/>
                <a:cs typeface="Tahoma"/>
              </a:rPr>
              <a:t>• An automated audit scans every headline, caption, slide, shot and voice-over in English and Arabic: 96 pieces, 0 problems.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48640"/>
          </a:xfrm>
          <a:prstGeom prst="rect">
            <a:avLst/>
          </a:prstGeom>
          <a:noFill/>
        </p:spPr>
        <p:txBody>
          <a:bodyPr wrap="square" lIns="36576" rIns="36576" tIns="18288" bIns="18288" anchor="t">
            <a:spAutoFit/>
          </a:bodyPr>
          <a:lstStyle/>
          <a:p>
            <a:pPr algn="l"/>
            <a:r>
              <a:rPr sz="2400" b="1" i="0">
                <a:solidFill>
                  <a:srgbClr val="0B4F35"/>
                </a:solidFill>
                <a:latin typeface="Segoe UI"/>
                <a:cs typeface="Tahoma"/>
              </a:rPr>
              <a:t>From prompt to post</a:t>
            </a:r>
          </a:p>
        </p:txBody>
      </p:sp>
      <p:sp>
        <p:nvSpPr>
          <p:cNvPr id="4" name="TextBox 3"/>
          <p:cNvSpPr txBox="1"/>
          <p:nvPr/>
        </p:nvSpPr>
        <p:spPr>
          <a:xfrm>
            <a:off x="457200" y="749808"/>
            <a:ext cx="11247120" cy="365760"/>
          </a:xfrm>
          <a:prstGeom prst="rect">
            <a:avLst/>
          </a:prstGeom>
          <a:noFill/>
        </p:spPr>
        <p:txBody>
          <a:bodyPr wrap="square" lIns="36576" rIns="36576" tIns="18288" bIns="18288" anchor="t">
            <a:spAutoFit/>
          </a:bodyPr>
          <a:lstStyle/>
          <a:p>
            <a:pPr algn="l"/>
            <a:r>
              <a:rPr sz="1200" b="0" i="0">
                <a:solidFill>
                  <a:srgbClr val="5B6B63"/>
                </a:solidFill>
                <a:latin typeface="Segoe UI"/>
                <a:cs typeface="Tahoma"/>
              </a:rPr>
              <a:t>Who does what</a:t>
            </a:r>
          </a:p>
        </p:txBody>
      </p:sp>
      <p:sp>
        <p:nvSpPr>
          <p:cNvPr id="5" name="TextBox 4"/>
          <p:cNvSpPr txBox="1"/>
          <p:nvPr/>
        </p:nvSpPr>
        <p:spPr>
          <a:xfrm>
            <a:off x="11155680" y="6492240"/>
            <a:ext cx="731520" cy="274320"/>
          </a:xfrm>
          <a:prstGeom prst="rect">
            <a:avLst/>
          </a:prstGeom>
          <a:noFill/>
        </p:spPr>
        <p:txBody>
          <a:bodyPr wrap="square" lIns="36576" rIns="36576" tIns="18288" bIns="18288" anchor="t">
            <a:spAutoFit/>
          </a:bodyPr>
          <a:lstStyle/>
          <a:p>
            <a:pPr algn="r"/>
            <a:r>
              <a:rPr sz="900" b="0" i="0">
                <a:solidFill>
                  <a:srgbClr val="5B6B63"/>
                </a:solidFill>
                <a:latin typeface="Segoe UI"/>
                <a:cs typeface="Tahoma"/>
              </a:rPr>
              <a:t>10</a:t>
            </a:r>
          </a:p>
        </p:txBody>
      </p:sp>
      <p:sp>
        <p:nvSpPr>
          <p:cNvPr id="6" name="Rounded Rectangle 5"/>
          <p:cNvSpPr/>
          <p:nvPr/>
        </p:nvSpPr>
        <p:spPr>
          <a:xfrm>
            <a:off x="457200" y="1828800"/>
            <a:ext cx="2103120" cy="2377440"/>
          </a:xfrm>
          <a:prstGeom prst="roundRect">
            <a:avLst>
              <a:gd name="adj" fmla="val 6000"/>
            </a:avLst>
          </a:prstGeom>
          <a:solidFill>
            <a:srgbClr val="FFFFFF"/>
          </a:solidFill>
          <a:ln w="12700">
            <a:solidFill>
              <a:srgbClr val="09A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1920240" cy="365760"/>
          </a:xfrm>
          <a:prstGeom prst="rect">
            <a:avLst/>
          </a:prstGeom>
          <a:noFill/>
        </p:spPr>
        <p:txBody>
          <a:bodyPr wrap="square" lIns="36576" rIns="36576" tIns="18288" bIns="18288" anchor="t">
            <a:spAutoFit/>
          </a:bodyPr>
          <a:lstStyle/>
          <a:p>
            <a:pPr algn="l"/>
            <a:r>
              <a:rPr sz="1400" b="1" i="0">
                <a:solidFill>
                  <a:srgbClr val="0B4F35"/>
                </a:solidFill>
                <a:latin typeface="Segoe UI"/>
                <a:cs typeface="Tahoma"/>
              </a:rPr>
              <a:t>1  Prompt book</a:t>
            </a:r>
          </a:p>
        </p:txBody>
      </p:sp>
      <p:sp>
        <p:nvSpPr>
          <p:cNvPr id="8" name="TextBox 7"/>
          <p:cNvSpPr txBox="1"/>
          <p:nvPr/>
        </p:nvSpPr>
        <p:spPr>
          <a:xfrm>
            <a:off x="548640" y="2468880"/>
            <a:ext cx="1920240" cy="640080"/>
          </a:xfrm>
          <a:prstGeom prst="rect">
            <a:avLst/>
          </a:prstGeom>
          <a:noFill/>
        </p:spPr>
        <p:txBody>
          <a:bodyPr wrap="square" lIns="36576" rIns="36576" tIns="18288" bIns="18288" anchor="t">
            <a:spAutoFit/>
          </a:bodyPr>
          <a:lstStyle/>
          <a:p>
            <a:pPr algn="l"/>
            <a:r>
              <a:rPr sz="1200" b="0" i="0">
                <a:solidFill>
                  <a:srgbClr val="142B22"/>
                </a:solidFill>
                <a:latin typeface="Segoe UI"/>
                <a:cs typeface="Tahoma"/>
              </a:rPr>
              <a:t>Strategy + creative</a:t>
            </a:r>
          </a:p>
        </p:txBody>
      </p:sp>
      <p:sp>
        <p:nvSpPr>
          <p:cNvPr id="9" name="TextBox 8"/>
          <p:cNvSpPr txBox="1"/>
          <p:nvPr/>
        </p:nvSpPr>
        <p:spPr>
          <a:xfrm>
            <a:off x="548640" y="3200400"/>
            <a:ext cx="1920240" cy="822960"/>
          </a:xfrm>
          <a:prstGeom prst="rect">
            <a:avLst/>
          </a:prstGeom>
          <a:noFill/>
        </p:spPr>
        <p:txBody>
          <a:bodyPr wrap="square" lIns="36576" rIns="36576" tIns="18288" bIns="18288" anchor="t">
            <a:spAutoFit/>
          </a:bodyPr>
          <a:lstStyle/>
          <a:p>
            <a:pPr algn="l"/>
            <a:r>
              <a:rPr sz="1100" b="0" i="0">
                <a:solidFill>
                  <a:srgbClr val="5B6B63"/>
                </a:solidFill>
                <a:latin typeface="Segoe UI"/>
                <a:cs typeface="Tahoma"/>
              </a:rPr>
              <a:t>This file set</a:t>
            </a:r>
          </a:p>
        </p:txBody>
      </p:sp>
      <p:sp>
        <p:nvSpPr>
          <p:cNvPr id="10" name="Rounded Rectangle 9"/>
          <p:cNvSpPr/>
          <p:nvPr/>
        </p:nvSpPr>
        <p:spPr>
          <a:xfrm>
            <a:off x="2697480" y="1828800"/>
            <a:ext cx="2103120" cy="2377440"/>
          </a:xfrm>
          <a:prstGeom prst="roundRect">
            <a:avLst>
              <a:gd name="adj" fmla="val 6000"/>
            </a:avLst>
          </a:prstGeom>
          <a:solidFill>
            <a:srgbClr val="FFFFFF"/>
          </a:solidFill>
          <a:ln w="12700">
            <a:solidFill>
              <a:srgbClr val="09A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88920" y="1920240"/>
            <a:ext cx="1920240" cy="365760"/>
          </a:xfrm>
          <a:prstGeom prst="rect">
            <a:avLst/>
          </a:prstGeom>
          <a:noFill/>
        </p:spPr>
        <p:txBody>
          <a:bodyPr wrap="square" lIns="36576" rIns="36576" tIns="18288" bIns="18288" anchor="t">
            <a:spAutoFit/>
          </a:bodyPr>
          <a:lstStyle/>
          <a:p>
            <a:pPr algn="l"/>
            <a:r>
              <a:rPr sz="1400" b="1" i="0">
                <a:solidFill>
                  <a:srgbClr val="0B4F35"/>
                </a:solidFill>
                <a:latin typeface="Segoe UI"/>
                <a:cs typeface="Tahoma"/>
              </a:rPr>
              <a:t>2  Generate</a:t>
            </a:r>
          </a:p>
        </p:txBody>
      </p:sp>
      <p:sp>
        <p:nvSpPr>
          <p:cNvPr id="12" name="TextBox 11"/>
          <p:cNvSpPr txBox="1"/>
          <p:nvPr/>
        </p:nvSpPr>
        <p:spPr>
          <a:xfrm>
            <a:off x="2788920" y="2468880"/>
            <a:ext cx="1920240" cy="640080"/>
          </a:xfrm>
          <a:prstGeom prst="rect">
            <a:avLst/>
          </a:prstGeom>
          <a:noFill/>
        </p:spPr>
        <p:txBody>
          <a:bodyPr wrap="square" lIns="36576" rIns="36576" tIns="18288" bIns="18288" anchor="t">
            <a:spAutoFit/>
          </a:bodyPr>
          <a:lstStyle/>
          <a:p>
            <a:pPr algn="l"/>
            <a:r>
              <a:rPr sz="1200" b="0" i="0">
                <a:solidFill>
                  <a:srgbClr val="142B22"/>
                </a:solidFill>
                <a:latin typeface="Segoe UI"/>
                <a:cs typeface="Tahoma"/>
              </a:rPr>
              <a:t>Design team</a:t>
            </a:r>
          </a:p>
        </p:txBody>
      </p:sp>
      <p:sp>
        <p:nvSpPr>
          <p:cNvPr id="13" name="TextBox 12"/>
          <p:cNvSpPr txBox="1"/>
          <p:nvPr/>
        </p:nvSpPr>
        <p:spPr>
          <a:xfrm>
            <a:off x="2788920" y="3200400"/>
            <a:ext cx="1920240" cy="822960"/>
          </a:xfrm>
          <a:prstGeom prst="rect">
            <a:avLst/>
          </a:prstGeom>
          <a:noFill/>
        </p:spPr>
        <p:txBody>
          <a:bodyPr wrap="square" lIns="36576" rIns="36576" tIns="18288" bIns="18288" anchor="t">
            <a:spAutoFit/>
          </a:bodyPr>
          <a:lstStyle/>
          <a:p>
            <a:pPr algn="l"/>
            <a:r>
              <a:rPr sz="1100" b="0" i="0">
                <a:solidFill>
                  <a:srgbClr val="5B6B63"/>
                </a:solidFill>
                <a:latin typeface="Segoe UI"/>
                <a:cs typeface="Tahoma"/>
              </a:rPr>
              <a:t>4 variations per prompt</a:t>
            </a:r>
          </a:p>
        </p:txBody>
      </p:sp>
      <p:sp>
        <p:nvSpPr>
          <p:cNvPr id="14" name="Rounded Rectangle 13"/>
          <p:cNvSpPr/>
          <p:nvPr/>
        </p:nvSpPr>
        <p:spPr>
          <a:xfrm>
            <a:off x="4937760" y="1828800"/>
            <a:ext cx="2103120" cy="2377440"/>
          </a:xfrm>
          <a:prstGeom prst="roundRect">
            <a:avLst>
              <a:gd name="adj" fmla="val 6000"/>
            </a:avLst>
          </a:prstGeom>
          <a:solidFill>
            <a:srgbClr val="FFFFFF"/>
          </a:solidFill>
          <a:ln w="12700">
            <a:solidFill>
              <a:srgbClr val="09A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0" y="1920240"/>
            <a:ext cx="1920240" cy="365760"/>
          </a:xfrm>
          <a:prstGeom prst="rect">
            <a:avLst/>
          </a:prstGeom>
          <a:noFill/>
        </p:spPr>
        <p:txBody>
          <a:bodyPr wrap="square" lIns="36576" rIns="36576" tIns="18288" bIns="18288" anchor="t">
            <a:spAutoFit/>
          </a:bodyPr>
          <a:lstStyle/>
          <a:p>
            <a:pPr algn="l"/>
            <a:r>
              <a:rPr sz="1400" b="1" i="0">
                <a:solidFill>
                  <a:srgbClr val="0B4F35"/>
                </a:solidFill>
                <a:latin typeface="Segoe UI"/>
                <a:cs typeface="Tahoma"/>
              </a:rPr>
              <a:t>3  Layout</a:t>
            </a:r>
          </a:p>
        </p:txBody>
      </p:sp>
      <p:sp>
        <p:nvSpPr>
          <p:cNvPr id="16" name="TextBox 15"/>
          <p:cNvSpPr txBox="1"/>
          <p:nvPr/>
        </p:nvSpPr>
        <p:spPr>
          <a:xfrm>
            <a:off x="5029200" y="2468880"/>
            <a:ext cx="1920240" cy="640080"/>
          </a:xfrm>
          <a:prstGeom prst="rect">
            <a:avLst/>
          </a:prstGeom>
          <a:noFill/>
        </p:spPr>
        <p:txBody>
          <a:bodyPr wrap="square" lIns="36576" rIns="36576" tIns="18288" bIns="18288" anchor="t">
            <a:spAutoFit/>
          </a:bodyPr>
          <a:lstStyle/>
          <a:p>
            <a:pPr algn="l"/>
            <a:r>
              <a:rPr sz="1200" b="0" i="0">
                <a:solidFill>
                  <a:srgbClr val="142B22"/>
                </a:solidFill>
                <a:latin typeface="Segoe UI"/>
                <a:cs typeface="Tahoma"/>
              </a:rPr>
              <a:t>Design team</a:t>
            </a:r>
          </a:p>
        </p:txBody>
      </p:sp>
      <p:sp>
        <p:nvSpPr>
          <p:cNvPr id="17" name="TextBox 16"/>
          <p:cNvSpPr txBox="1"/>
          <p:nvPr/>
        </p:nvSpPr>
        <p:spPr>
          <a:xfrm>
            <a:off x="5029200" y="3200400"/>
            <a:ext cx="1920240" cy="822960"/>
          </a:xfrm>
          <a:prstGeom prst="rect">
            <a:avLst/>
          </a:prstGeom>
          <a:noFill/>
        </p:spPr>
        <p:txBody>
          <a:bodyPr wrap="square" lIns="36576" rIns="36576" tIns="18288" bIns="18288" anchor="t">
            <a:spAutoFit/>
          </a:bodyPr>
          <a:lstStyle/>
          <a:p>
            <a:pPr algn="l"/>
            <a:r>
              <a:rPr sz="1100" b="0" i="0">
                <a:solidFill>
                  <a:srgbClr val="5B6B63"/>
                </a:solidFill>
                <a:latin typeface="Segoe UI"/>
                <a:cs typeface="Tahoma"/>
              </a:rPr>
              <a:t>Brand fonts, real logo, text fixed</a:t>
            </a:r>
          </a:p>
        </p:txBody>
      </p:sp>
      <p:sp>
        <p:nvSpPr>
          <p:cNvPr id="18" name="Rounded Rectangle 17"/>
          <p:cNvSpPr/>
          <p:nvPr/>
        </p:nvSpPr>
        <p:spPr>
          <a:xfrm>
            <a:off x="7178040" y="1828800"/>
            <a:ext cx="2103120" cy="2377440"/>
          </a:xfrm>
          <a:prstGeom prst="roundRect">
            <a:avLst>
              <a:gd name="adj" fmla="val 6000"/>
            </a:avLst>
          </a:prstGeom>
          <a:solidFill>
            <a:srgbClr val="FFFFFF"/>
          </a:solidFill>
          <a:ln w="12700">
            <a:solidFill>
              <a:srgbClr val="09A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69480" y="1920240"/>
            <a:ext cx="1920240" cy="365760"/>
          </a:xfrm>
          <a:prstGeom prst="rect">
            <a:avLst/>
          </a:prstGeom>
          <a:noFill/>
        </p:spPr>
        <p:txBody>
          <a:bodyPr wrap="square" lIns="36576" rIns="36576" tIns="18288" bIns="18288" anchor="t">
            <a:spAutoFit/>
          </a:bodyPr>
          <a:lstStyle/>
          <a:p>
            <a:pPr algn="l"/>
            <a:r>
              <a:rPr sz="1400" b="1" i="0">
                <a:solidFill>
                  <a:srgbClr val="0B4F35"/>
                </a:solidFill>
                <a:latin typeface="Segoe UI"/>
                <a:cs typeface="Tahoma"/>
              </a:rPr>
              <a:t>4  Review</a:t>
            </a:r>
          </a:p>
        </p:txBody>
      </p:sp>
      <p:sp>
        <p:nvSpPr>
          <p:cNvPr id="20" name="TextBox 19"/>
          <p:cNvSpPr txBox="1"/>
          <p:nvPr/>
        </p:nvSpPr>
        <p:spPr>
          <a:xfrm>
            <a:off x="7269480" y="2468880"/>
            <a:ext cx="1920240" cy="640080"/>
          </a:xfrm>
          <a:prstGeom prst="rect">
            <a:avLst/>
          </a:prstGeom>
          <a:noFill/>
        </p:spPr>
        <p:txBody>
          <a:bodyPr wrap="square" lIns="36576" rIns="36576" tIns="18288" bIns="18288" anchor="t">
            <a:spAutoFit/>
          </a:bodyPr>
          <a:lstStyle/>
          <a:p>
            <a:pPr algn="l"/>
            <a:r>
              <a:rPr sz="1200" b="0" i="0">
                <a:solidFill>
                  <a:srgbClr val="142B22"/>
                </a:solidFill>
                <a:latin typeface="Segoe UI"/>
                <a:cs typeface="Tahoma"/>
              </a:rPr>
              <a:t>Cultural + regulatory</a:t>
            </a:r>
          </a:p>
        </p:txBody>
      </p:sp>
      <p:sp>
        <p:nvSpPr>
          <p:cNvPr id="21" name="TextBox 20"/>
          <p:cNvSpPr txBox="1"/>
          <p:nvPr/>
        </p:nvSpPr>
        <p:spPr>
          <a:xfrm>
            <a:off x="7269480" y="3200400"/>
            <a:ext cx="1920240" cy="822960"/>
          </a:xfrm>
          <a:prstGeom prst="rect">
            <a:avLst/>
          </a:prstGeom>
          <a:noFill/>
        </p:spPr>
        <p:txBody>
          <a:bodyPr wrap="square" lIns="36576" rIns="36576" tIns="18288" bIns="18288" anchor="t">
            <a:spAutoFit/>
          </a:bodyPr>
          <a:lstStyle/>
          <a:p>
            <a:pPr algn="l"/>
            <a:r>
              <a:rPr sz="1100" b="0" i="0">
                <a:solidFill>
                  <a:srgbClr val="5B6B63"/>
                </a:solidFill>
                <a:latin typeface="Segoe UI"/>
                <a:cs typeface="Tahoma"/>
              </a:rPr>
              <a:t>Arabic, facts, consent</a:t>
            </a:r>
          </a:p>
        </p:txBody>
      </p:sp>
      <p:sp>
        <p:nvSpPr>
          <p:cNvPr id="22" name="Rounded Rectangle 21"/>
          <p:cNvSpPr/>
          <p:nvPr/>
        </p:nvSpPr>
        <p:spPr>
          <a:xfrm>
            <a:off x="9418320" y="1828800"/>
            <a:ext cx="2103120" cy="2377440"/>
          </a:xfrm>
          <a:prstGeom prst="roundRect">
            <a:avLst>
              <a:gd name="adj" fmla="val 6000"/>
            </a:avLst>
          </a:prstGeom>
          <a:solidFill>
            <a:srgbClr val="FFFFFF"/>
          </a:solidFill>
          <a:ln w="12700">
            <a:solidFill>
              <a:srgbClr val="09A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9760" y="1920240"/>
            <a:ext cx="1920240" cy="365760"/>
          </a:xfrm>
          <a:prstGeom prst="rect">
            <a:avLst/>
          </a:prstGeom>
          <a:noFill/>
        </p:spPr>
        <p:txBody>
          <a:bodyPr wrap="square" lIns="36576" rIns="36576" tIns="18288" bIns="18288" anchor="t">
            <a:spAutoFit/>
          </a:bodyPr>
          <a:lstStyle/>
          <a:p>
            <a:pPr algn="l"/>
            <a:r>
              <a:rPr sz="1400" b="1" i="0">
                <a:solidFill>
                  <a:srgbClr val="0B4F35"/>
                </a:solidFill>
                <a:latin typeface="Segoe UI"/>
                <a:cs typeface="Tahoma"/>
              </a:rPr>
              <a:t>5  Schedule</a:t>
            </a:r>
          </a:p>
        </p:txBody>
      </p:sp>
      <p:sp>
        <p:nvSpPr>
          <p:cNvPr id="24" name="TextBox 23"/>
          <p:cNvSpPr txBox="1"/>
          <p:nvPr/>
        </p:nvSpPr>
        <p:spPr>
          <a:xfrm>
            <a:off x="9509760" y="2468880"/>
            <a:ext cx="1920240" cy="640080"/>
          </a:xfrm>
          <a:prstGeom prst="rect">
            <a:avLst/>
          </a:prstGeom>
          <a:noFill/>
        </p:spPr>
        <p:txBody>
          <a:bodyPr wrap="square" lIns="36576" rIns="36576" tIns="18288" bIns="18288" anchor="t">
            <a:spAutoFit/>
          </a:bodyPr>
          <a:lstStyle/>
          <a:p>
            <a:pPr algn="l"/>
            <a:r>
              <a:rPr sz="1200" b="0" i="0">
                <a:solidFill>
                  <a:srgbClr val="142B22"/>
                </a:solidFill>
                <a:latin typeface="Segoe UI"/>
                <a:cs typeface="Tahoma"/>
              </a:rPr>
              <a:t>Social manager</a:t>
            </a:r>
          </a:p>
        </p:txBody>
      </p:sp>
      <p:sp>
        <p:nvSpPr>
          <p:cNvPr id="25" name="TextBox 24"/>
          <p:cNvSpPr txBox="1"/>
          <p:nvPr/>
        </p:nvSpPr>
        <p:spPr>
          <a:xfrm>
            <a:off x="9509760" y="3200400"/>
            <a:ext cx="1920240" cy="822960"/>
          </a:xfrm>
          <a:prstGeom prst="rect">
            <a:avLst/>
          </a:prstGeom>
          <a:noFill/>
        </p:spPr>
        <p:txBody>
          <a:bodyPr wrap="square" lIns="36576" rIns="36576" tIns="18288" bIns="18288" anchor="t">
            <a:spAutoFit/>
          </a:bodyPr>
          <a:lstStyle/>
          <a:p>
            <a:pPr algn="l"/>
            <a:r>
              <a:rPr sz="1100" b="0" i="0">
                <a:solidFill>
                  <a:srgbClr val="5B6B63"/>
                </a:solidFill>
                <a:latin typeface="Segoe UI"/>
                <a:cs typeface="Tahoma"/>
              </a:rPr>
              <a:t>Time slots, first comment</a:t>
            </a:r>
          </a:p>
        </p:txBody>
      </p:sp>
      <p:sp>
        <p:nvSpPr>
          <p:cNvPr id="26" name="TextBox 25"/>
          <p:cNvSpPr txBox="1"/>
          <p:nvPr/>
        </p:nvSpPr>
        <p:spPr>
          <a:xfrm>
            <a:off x="457200" y="4572000"/>
            <a:ext cx="11247120" cy="1280160"/>
          </a:xfrm>
          <a:prstGeom prst="rect">
            <a:avLst/>
          </a:prstGeom>
          <a:noFill/>
        </p:spPr>
        <p:txBody>
          <a:bodyPr wrap="square" lIns="36576" rIns="36576" tIns="18288" bIns="18288" anchor="t">
            <a:spAutoFit/>
          </a:bodyPr>
          <a:lstStyle/>
          <a:p>
            <a:pPr algn="l">
              <a:spcAft>
                <a:spcPts val="600"/>
              </a:spcAft>
            </a:pPr>
            <a:r>
              <a:rPr sz="1250" b="0" i="0">
                <a:solidFill>
                  <a:srgbClr val="142B22"/>
                </a:solidFill>
                <a:latin typeface="Segoe UI"/>
                <a:cs typeface="Tahoma"/>
              </a:rPr>
              <a:t>Two weeks ahead is the working window: prompts for week N+2 are generated while week N+1 is in review.</a:t>
            </a:r>
          </a:p>
          <a:p>
            <a:pPr algn="l">
              <a:spcAft>
                <a:spcPts val="600"/>
              </a:spcAft>
            </a:pPr>
            <a:r>
              <a:rPr sz="1250" b="0" i="0">
                <a:solidFill>
                  <a:srgbClr val="142B22"/>
                </a:solidFill>
                <a:latin typeface="Segoe UI"/>
                <a:cs typeface="Tahoma"/>
              </a:rPr>
              <a:t>Reels: key frames first, then animation, then edit and subtitles in Arabic and English.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48640"/>
          </a:xfrm>
          <a:prstGeom prst="rect">
            <a:avLst/>
          </a:prstGeom>
          <a:noFill/>
        </p:spPr>
        <p:txBody>
          <a:bodyPr wrap="square" lIns="36576" rIns="36576" tIns="18288" bIns="18288" anchor="t">
            <a:spAutoFit/>
          </a:bodyPr>
          <a:lstStyle/>
          <a:p>
            <a:pPr algn="l"/>
            <a:r>
              <a:rPr sz="2400" b="1" i="0">
                <a:solidFill>
                  <a:srgbClr val="0B4F35"/>
                </a:solidFill>
                <a:latin typeface="Segoe UI"/>
                <a:cs typeface="Tahoma"/>
              </a:rPr>
              <a:t>Assets and what we need from the client</a:t>
            </a:r>
          </a:p>
        </p:txBody>
      </p:sp>
      <p:sp>
        <p:nvSpPr>
          <p:cNvPr id="4" name="TextBox 3"/>
          <p:cNvSpPr txBox="1"/>
          <p:nvPr/>
        </p:nvSpPr>
        <p:spPr>
          <a:xfrm>
            <a:off x="457200" y="749808"/>
            <a:ext cx="11247120" cy="365760"/>
          </a:xfrm>
          <a:prstGeom prst="rect">
            <a:avLst/>
          </a:prstGeom>
          <a:noFill/>
        </p:spPr>
        <p:txBody>
          <a:bodyPr wrap="square" lIns="36576" rIns="36576" tIns="18288" bIns="18288" anchor="t">
            <a:spAutoFit/>
          </a:bodyPr>
          <a:lstStyle/>
          <a:p>
            <a:pPr algn="l"/>
            <a:r>
              <a:rPr sz="1200" b="0" i="0">
                <a:solidFill>
                  <a:srgbClr val="5B6B63"/>
                </a:solidFill>
                <a:latin typeface="Segoe UI"/>
                <a:cs typeface="Tahoma"/>
              </a:rPr>
              <a:t>Real first, generated only when no asset fits</a:t>
            </a:r>
          </a:p>
        </p:txBody>
      </p:sp>
      <p:sp>
        <p:nvSpPr>
          <p:cNvPr id="5" name="TextBox 4"/>
          <p:cNvSpPr txBox="1"/>
          <p:nvPr/>
        </p:nvSpPr>
        <p:spPr>
          <a:xfrm>
            <a:off x="11155680" y="6492240"/>
            <a:ext cx="731520" cy="274320"/>
          </a:xfrm>
          <a:prstGeom prst="rect">
            <a:avLst/>
          </a:prstGeom>
          <a:noFill/>
        </p:spPr>
        <p:txBody>
          <a:bodyPr wrap="square" lIns="36576" rIns="36576" tIns="18288" bIns="18288" anchor="t">
            <a:spAutoFit/>
          </a:bodyPr>
          <a:lstStyle/>
          <a:p>
            <a:pPr algn="r"/>
            <a:r>
              <a:rPr sz="900" b="0" i="0">
                <a:solidFill>
                  <a:srgbClr val="5B6B63"/>
                </a:solidFill>
                <a:latin typeface="Segoe UI"/>
                <a:cs typeface="Tahoma"/>
              </a:rPr>
              <a:t>11</a:t>
            </a:r>
          </a:p>
        </p:txBody>
      </p:sp>
      <p:sp>
        <p:nvSpPr>
          <p:cNvPr id="6" name="TextBox 5"/>
          <p:cNvSpPr txBox="1"/>
          <p:nvPr/>
        </p:nvSpPr>
        <p:spPr>
          <a:xfrm>
            <a:off x="457200" y="1371600"/>
            <a:ext cx="6858000" cy="4572000"/>
          </a:xfrm>
          <a:prstGeom prst="rect">
            <a:avLst/>
          </a:prstGeom>
          <a:noFill/>
        </p:spPr>
        <p:txBody>
          <a:bodyPr wrap="square" lIns="36576" rIns="36576" tIns="18288" bIns="18288" anchor="t">
            <a:spAutoFit/>
          </a:bodyPr>
          <a:lstStyle/>
          <a:p>
            <a:pPr algn="l">
              <a:spcAft>
                <a:spcPts val="900"/>
              </a:spcAft>
            </a:pPr>
            <a:r>
              <a:rPr sz="1300" b="0" i="0">
                <a:solidFill>
                  <a:srgbClr val="142B22"/>
                </a:solidFill>
                <a:latin typeface="Segoe UI"/>
                <a:cs typeface="Tahoma"/>
              </a:rPr>
              <a:t>• Written consent for real staff and executive portraits used in posts (marked on every piece).</a:t>
            </a:r>
          </a:p>
          <a:p>
            <a:pPr algn="l">
              <a:spcAft>
                <a:spcPts val="900"/>
              </a:spcAft>
            </a:pPr>
            <a:r>
              <a:rPr sz="1300" b="0" i="0">
                <a:solidFill>
                  <a:srgbClr val="142B22"/>
                </a:solidFill>
                <a:latin typeface="Segoe UI"/>
                <a:cs typeface="Tahoma"/>
              </a:rPr>
              <a:t>• Extract and review the zipped footage (about 50 GB in 27 archives) so more real shots can replace generated ones.</a:t>
            </a:r>
          </a:p>
          <a:p>
            <a:pPr algn="l">
              <a:spcAft>
                <a:spcPts val="900"/>
              </a:spcAft>
            </a:pPr>
            <a:r>
              <a:rPr sz="1300" b="0" i="0">
                <a:solidFill>
                  <a:srgbClr val="142B22"/>
                </a:solidFill>
                <a:latin typeface="Segoe UI"/>
                <a:cs typeface="Tahoma"/>
              </a:rPr>
              <a:t>• Approved facts for any number (marked [NEEDS APPROVED FACT]).</a:t>
            </a:r>
          </a:p>
          <a:p>
            <a:pPr algn="l">
              <a:spcAft>
                <a:spcPts val="900"/>
              </a:spcAft>
            </a:pPr>
            <a:r>
              <a:rPr sz="1300" b="0" i="0">
                <a:solidFill>
                  <a:srgbClr val="142B22"/>
                </a:solidFill>
                <a:latin typeface="Segoe UI"/>
                <a:cs typeface="Tahoma"/>
              </a:rPr>
              <a:t>• Client regulatory sign-off on every health-related caption.</a:t>
            </a:r>
          </a:p>
          <a:p>
            <a:pPr algn="l">
              <a:spcAft>
                <a:spcPts val="900"/>
              </a:spcAft>
            </a:pPr>
            <a:r>
              <a:rPr sz="1300" b="0" i="0">
                <a:solidFill>
                  <a:srgbClr val="142B22"/>
                </a:solidFill>
                <a:latin typeface="Segoe UI"/>
                <a:cs typeface="Tahoma"/>
              </a:rPr>
              <a:t>• Confirmation of the current tagline and the logo master for pink and awareness months.</a:t>
            </a:r>
          </a:p>
          <a:p>
            <a:pPr algn="l">
              <a:spcAft>
                <a:spcPts val="900"/>
              </a:spcAft>
            </a:pPr>
            <a:r>
              <a:rPr sz="1300" b="0" i="0">
                <a:solidFill>
                  <a:srgbClr val="142B22"/>
                </a:solidFill>
                <a:latin typeface="Segoe UI"/>
                <a:cs typeface="Tahoma"/>
              </a:rPr>
              <a:t>• A list of third-party logos allowed in event posts (Forbes, Made in Saudi, BIO).</a:t>
            </a:r>
          </a:p>
        </p:txBody>
      </p:sp>
      <p:sp>
        <p:nvSpPr>
          <p:cNvPr id="7" name="Rounded Rectangle 6"/>
          <p:cNvSpPr/>
          <p:nvPr/>
        </p:nvSpPr>
        <p:spPr>
          <a:xfrm>
            <a:off x="7680960" y="1371600"/>
            <a:ext cx="4023360" cy="4572000"/>
          </a:xfrm>
          <a:prstGeom prst="roundRect">
            <a:avLst>
              <a:gd name="adj" fmla="val 3000"/>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0" y="1463040"/>
            <a:ext cx="3657600" cy="365760"/>
          </a:xfrm>
          <a:prstGeom prst="rect">
            <a:avLst/>
          </a:prstGeom>
          <a:noFill/>
        </p:spPr>
        <p:txBody>
          <a:bodyPr wrap="square" lIns="36576" rIns="36576" tIns="18288" bIns="18288" anchor="t">
            <a:spAutoFit/>
          </a:bodyPr>
          <a:lstStyle/>
          <a:p>
            <a:pPr algn="l"/>
            <a:r>
              <a:rPr sz="1400" b="1" i="0">
                <a:solidFill>
                  <a:srgbClr val="0B4F35"/>
                </a:solidFill>
                <a:latin typeface="Segoe UI"/>
                <a:cs typeface="Tahoma"/>
              </a:rPr>
              <a:t>Most-used real assets</a:t>
            </a:r>
          </a:p>
        </p:txBody>
      </p:sp>
      <p:sp>
        <p:nvSpPr>
          <p:cNvPr id="9" name="TextBox 8"/>
          <p:cNvSpPr txBox="1"/>
          <p:nvPr/>
        </p:nvSpPr>
        <p:spPr>
          <a:xfrm>
            <a:off x="7863840" y="1920240"/>
            <a:ext cx="3657600" cy="3840480"/>
          </a:xfrm>
          <a:prstGeom prst="rect">
            <a:avLst/>
          </a:prstGeom>
          <a:noFill/>
        </p:spPr>
        <p:txBody>
          <a:bodyPr wrap="square" lIns="36576" rIns="36576" tIns="18288" bIns="18288" anchor="t">
            <a:spAutoFit/>
          </a:bodyPr>
          <a:lstStyle/>
          <a:p>
            <a:pPr algn="l">
              <a:spcAft>
                <a:spcPts val="600"/>
              </a:spcAft>
            </a:pPr>
            <a:r>
              <a:rPr sz="1050" b="0" i="0">
                <a:solidFill>
                  <a:srgbClr val="142B22"/>
                </a:solidFill>
                <a:latin typeface="Segoe UI"/>
                <a:cs typeface="Tahoma"/>
              </a:rPr>
              <a:t>A013  (31x)  Packaging hall: women and men team at the line (still S08)</a:t>
            </a:r>
          </a:p>
          <a:p>
            <a:pPr algn="l">
              <a:spcAft>
                <a:spcPts val="600"/>
              </a:spcAft>
            </a:pPr>
            <a:r>
              <a:rPr sz="1050" b="0" i="0">
                <a:solidFill>
                  <a:srgbClr val="142B22"/>
                </a:solidFill>
                <a:latin typeface="Segoe UI"/>
                <a:cs typeface="Tahoma"/>
              </a:rPr>
              <a:t>A002  (27x)  Drone: whole Sudair City site in the desert (still S11 sourc</a:t>
            </a:r>
          </a:p>
          <a:p>
            <a:pPr algn="l">
              <a:spcAft>
                <a:spcPts val="600"/>
              </a:spcAft>
            </a:pPr>
            <a:r>
              <a:rPr sz="1050" b="0" i="0">
                <a:solidFill>
                  <a:srgbClr val="142B22"/>
                </a:solidFill>
                <a:latin typeface="Segoe UI"/>
                <a:cs typeface="Tahoma"/>
              </a:rPr>
              <a:t>A007  (24x)  Lab analyst working at the bench (still S02)</a:t>
            </a:r>
          </a:p>
          <a:p>
            <a:pPr algn="l">
              <a:spcAft>
                <a:spcPts val="600"/>
              </a:spcAft>
            </a:pPr>
            <a:r>
              <a:rPr sz="1050" b="0" i="0">
                <a:solidFill>
                  <a:srgbClr val="142B22"/>
                </a:solidFill>
                <a:latin typeface="Segoe UI"/>
                <a:cs typeface="Tahoma"/>
              </a:rPr>
              <a:t>A001  (22x)  Drone: palm-lined building and campus, golden light (still S</a:t>
            </a:r>
          </a:p>
          <a:p>
            <a:pPr algn="l">
              <a:spcAft>
                <a:spcPts val="600"/>
              </a:spcAft>
            </a:pPr>
            <a:r>
              <a:rPr sz="1050" b="0" i="0">
                <a:solidFill>
                  <a:srgbClr val="142B22"/>
                </a:solidFill>
                <a:latin typeface="Segoe UI"/>
                <a:cs typeface="Tahoma"/>
              </a:rPr>
              <a:t>A003  (20x)  Interior clean-room corridor (still S12 source)</a:t>
            </a:r>
          </a:p>
          <a:p>
            <a:pPr algn="l">
              <a:spcAft>
                <a:spcPts val="600"/>
              </a:spcAft>
            </a:pPr>
            <a:r>
              <a:rPr sz="1050" b="0" i="0">
                <a:solidFill>
                  <a:srgbClr val="142B22"/>
                </a:solidFill>
                <a:latin typeface="Segoe UI"/>
                <a:cs typeface="Tahoma"/>
              </a:rPr>
              <a:t>A005  (16x)  Lab team standing in the lab (still S13)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48640"/>
          </a:xfrm>
          <a:prstGeom prst="rect">
            <a:avLst/>
          </a:prstGeom>
          <a:noFill/>
        </p:spPr>
        <p:txBody>
          <a:bodyPr wrap="square" lIns="36576" rIns="36576" tIns="18288" bIns="18288" anchor="t">
            <a:spAutoFit/>
          </a:bodyPr>
          <a:lstStyle/>
          <a:p>
            <a:pPr algn="l"/>
            <a:r>
              <a:rPr sz="2400" b="1" i="0">
                <a:solidFill>
                  <a:srgbClr val="0B4F35"/>
                </a:solidFill>
                <a:latin typeface="Segoe UI"/>
                <a:cs typeface="Tahoma"/>
              </a:rPr>
              <a:t>How we will read the results</a:t>
            </a:r>
          </a:p>
        </p:txBody>
      </p:sp>
      <p:sp>
        <p:nvSpPr>
          <p:cNvPr id="4" name="TextBox 3"/>
          <p:cNvSpPr txBox="1"/>
          <p:nvPr/>
        </p:nvSpPr>
        <p:spPr>
          <a:xfrm>
            <a:off x="457200" y="749808"/>
            <a:ext cx="11247120" cy="365760"/>
          </a:xfrm>
          <a:prstGeom prst="rect">
            <a:avLst/>
          </a:prstGeom>
          <a:noFill/>
        </p:spPr>
        <p:txBody>
          <a:bodyPr wrap="square" lIns="36576" rIns="36576" tIns="18288" bIns="18288" anchor="t">
            <a:spAutoFit/>
          </a:bodyPr>
          <a:lstStyle/>
          <a:p>
            <a:pPr algn="l"/>
            <a:r>
              <a:rPr sz="1200" b="0" i="0">
                <a:solidFill>
                  <a:srgbClr val="5B6B63"/>
                </a:solidFill>
                <a:latin typeface="Segoe UI"/>
                <a:cs typeface="Tahoma"/>
              </a:rPr>
              <a:t>Measure what the theme promises</a:t>
            </a:r>
          </a:p>
        </p:txBody>
      </p:sp>
      <p:sp>
        <p:nvSpPr>
          <p:cNvPr id="5" name="TextBox 4"/>
          <p:cNvSpPr txBox="1"/>
          <p:nvPr/>
        </p:nvSpPr>
        <p:spPr>
          <a:xfrm>
            <a:off x="11155680" y="6492240"/>
            <a:ext cx="731520" cy="274320"/>
          </a:xfrm>
          <a:prstGeom prst="rect">
            <a:avLst/>
          </a:prstGeom>
          <a:noFill/>
        </p:spPr>
        <p:txBody>
          <a:bodyPr wrap="square" lIns="36576" rIns="36576" tIns="18288" bIns="18288" anchor="t">
            <a:spAutoFit/>
          </a:bodyPr>
          <a:lstStyle/>
          <a:p>
            <a:pPr algn="r"/>
            <a:r>
              <a:rPr sz="900" b="0" i="0">
                <a:solidFill>
                  <a:srgbClr val="5B6B63"/>
                </a:solidFill>
                <a:latin typeface="Segoe UI"/>
                <a:cs typeface="Tahoma"/>
              </a:rPr>
              <a:t>12</a:t>
            </a:r>
          </a:p>
        </p:txBody>
      </p:sp>
      <p:sp>
        <p:nvSpPr>
          <p:cNvPr id="6" name="Rounded Rectangle 5"/>
          <p:cNvSpPr/>
          <p:nvPr/>
        </p:nvSpPr>
        <p:spPr>
          <a:xfrm>
            <a:off x="457200" y="1463040"/>
            <a:ext cx="3657600" cy="1737360"/>
          </a:xfrm>
          <a:prstGeom prst="roundRect">
            <a:avLst>
              <a:gd name="adj" fmla="val 5000"/>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00200"/>
            <a:ext cx="3291840" cy="365760"/>
          </a:xfrm>
          <a:prstGeom prst="rect">
            <a:avLst/>
          </a:prstGeom>
          <a:noFill/>
        </p:spPr>
        <p:txBody>
          <a:bodyPr wrap="square" lIns="36576" rIns="36576" tIns="18288" bIns="18288" anchor="t">
            <a:spAutoFit/>
          </a:bodyPr>
          <a:lstStyle/>
          <a:p>
            <a:pPr algn="l"/>
            <a:r>
              <a:rPr sz="1400" b="1" i="0">
                <a:solidFill>
                  <a:srgbClr val="0B4F35"/>
                </a:solidFill>
                <a:latin typeface="Segoe UI"/>
                <a:cs typeface="Tahoma"/>
              </a:rPr>
              <a:t>Reach and followers</a:t>
            </a:r>
          </a:p>
        </p:txBody>
      </p:sp>
      <p:sp>
        <p:nvSpPr>
          <p:cNvPr id="8" name="TextBox 7"/>
          <p:cNvSpPr txBox="1"/>
          <p:nvPr/>
        </p:nvSpPr>
        <p:spPr>
          <a:xfrm>
            <a:off x="640080" y="2057400"/>
            <a:ext cx="3291840" cy="1005840"/>
          </a:xfrm>
          <a:prstGeom prst="rect">
            <a:avLst/>
          </a:prstGeom>
          <a:noFill/>
        </p:spPr>
        <p:txBody>
          <a:bodyPr wrap="square" lIns="36576" rIns="36576" tIns="18288" bIns="18288" anchor="t">
            <a:spAutoFit/>
          </a:bodyPr>
          <a:lstStyle/>
          <a:p>
            <a:pPr algn="l"/>
            <a:r>
              <a:rPr sz="1200" b="0" i="0">
                <a:solidFill>
                  <a:srgbClr val="142B22"/>
                </a:solidFill>
                <a:latin typeface="Segoe UI"/>
                <a:cs typeface="Tahoma"/>
              </a:rPr>
              <a:t>Growth by channel, month over month</a:t>
            </a:r>
          </a:p>
        </p:txBody>
      </p:sp>
      <p:sp>
        <p:nvSpPr>
          <p:cNvPr id="9" name="Rounded Rectangle 8"/>
          <p:cNvSpPr/>
          <p:nvPr/>
        </p:nvSpPr>
        <p:spPr>
          <a:xfrm>
            <a:off x="4251960" y="1463040"/>
            <a:ext cx="3657600" cy="1737360"/>
          </a:xfrm>
          <a:prstGeom prst="roundRect">
            <a:avLst>
              <a:gd name="adj" fmla="val 5000"/>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34840" y="1600200"/>
            <a:ext cx="3291840" cy="365760"/>
          </a:xfrm>
          <a:prstGeom prst="rect">
            <a:avLst/>
          </a:prstGeom>
          <a:noFill/>
        </p:spPr>
        <p:txBody>
          <a:bodyPr wrap="square" lIns="36576" rIns="36576" tIns="18288" bIns="18288" anchor="t">
            <a:spAutoFit/>
          </a:bodyPr>
          <a:lstStyle/>
          <a:p>
            <a:pPr algn="l"/>
            <a:r>
              <a:rPr sz="1400" b="1" i="0">
                <a:solidFill>
                  <a:srgbClr val="0B4F35"/>
                </a:solidFill>
                <a:latin typeface="Segoe UI"/>
                <a:cs typeface="Tahoma"/>
              </a:rPr>
              <a:t>Engagement</a:t>
            </a:r>
          </a:p>
        </p:txBody>
      </p:sp>
      <p:sp>
        <p:nvSpPr>
          <p:cNvPr id="11" name="TextBox 10"/>
          <p:cNvSpPr txBox="1"/>
          <p:nvPr/>
        </p:nvSpPr>
        <p:spPr>
          <a:xfrm>
            <a:off x="4434840" y="2057400"/>
            <a:ext cx="3291840" cy="1005840"/>
          </a:xfrm>
          <a:prstGeom prst="rect">
            <a:avLst/>
          </a:prstGeom>
          <a:noFill/>
        </p:spPr>
        <p:txBody>
          <a:bodyPr wrap="square" lIns="36576" rIns="36576" tIns="18288" bIns="18288" anchor="t">
            <a:spAutoFit/>
          </a:bodyPr>
          <a:lstStyle/>
          <a:p>
            <a:pPr algn="l"/>
            <a:r>
              <a:rPr sz="1200" b="0" i="0">
                <a:solidFill>
                  <a:srgbClr val="142B22"/>
                </a:solidFill>
                <a:latin typeface="Segoe UI"/>
                <a:cs typeface="Tahoma"/>
              </a:rPr>
              <a:t>Saves and shares matter more than likes for explainers</a:t>
            </a:r>
          </a:p>
        </p:txBody>
      </p:sp>
      <p:sp>
        <p:nvSpPr>
          <p:cNvPr id="12" name="Rounded Rectangle 11"/>
          <p:cNvSpPr/>
          <p:nvPr/>
        </p:nvSpPr>
        <p:spPr>
          <a:xfrm>
            <a:off x="8046720" y="1463040"/>
            <a:ext cx="3657600" cy="1737360"/>
          </a:xfrm>
          <a:prstGeom prst="roundRect">
            <a:avLst>
              <a:gd name="adj" fmla="val 5000"/>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600200"/>
            <a:ext cx="3291840" cy="365760"/>
          </a:xfrm>
          <a:prstGeom prst="rect">
            <a:avLst/>
          </a:prstGeom>
          <a:noFill/>
        </p:spPr>
        <p:txBody>
          <a:bodyPr wrap="square" lIns="36576" rIns="36576" tIns="18288" bIns="18288" anchor="t">
            <a:spAutoFit/>
          </a:bodyPr>
          <a:lstStyle/>
          <a:p>
            <a:pPr algn="l"/>
            <a:r>
              <a:rPr sz="1400" b="1" i="0">
                <a:solidFill>
                  <a:srgbClr val="0B4F35"/>
                </a:solidFill>
                <a:latin typeface="Segoe UI"/>
                <a:cs typeface="Tahoma"/>
              </a:rPr>
              <a:t>Carousel completion</a:t>
            </a:r>
          </a:p>
        </p:txBody>
      </p:sp>
      <p:sp>
        <p:nvSpPr>
          <p:cNvPr id="14" name="TextBox 13"/>
          <p:cNvSpPr txBox="1"/>
          <p:nvPr/>
        </p:nvSpPr>
        <p:spPr>
          <a:xfrm>
            <a:off x="8229600" y="2057400"/>
            <a:ext cx="3291840" cy="1005840"/>
          </a:xfrm>
          <a:prstGeom prst="rect">
            <a:avLst/>
          </a:prstGeom>
          <a:noFill/>
        </p:spPr>
        <p:txBody>
          <a:bodyPr wrap="square" lIns="36576" rIns="36576" tIns="18288" bIns="18288" anchor="t">
            <a:spAutoFit/>
          </a:bodyPr>
          <a:lstStyle/>
          <a:p>
            <a:pPr algn="l"/>
            <a:r>
              <a:rPr sz="1200" b="0" i="0">
                <a:solidFill>
                  <a:srgbClr val="142B22"/>
                </a:solidFill>
                <a:latin typeface="Segoe UI"/>
                <a:cs typeface="Tahoma"/>
              </a:rPr>
              <a:t>Share of viewers who reach the last slide</a:t>
            </a:r>
          </a:p>
        </p:txBody>
      </p:sp>
      <p:sp>
        <p:nvSpPr>
          <p:cNvPr id="15" name="Rounded Rectangle 14"/>
          <p:cNvSpPr/>
          <p:nvPr/>
        </p:nvSpPr>
        <p:spPr>
          <a:xfrm>
            <a:off x="457200" y="3474720"/>
            <a:ext cx="3657600" cy="1737360"/>
          </a:xfrm>
          <a:prstGeom prst="roundRect">
            <a:avLst>
              <a:gd name="adj" fmla="val 5000"/>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611880"/>
            <a:ext cx="3291840" cy="365760"/>
          </a:xfrm>
          <a:prstGeom prst="rect">
            <a:avLst/>
          </a:prstGeom>
          <a:noFill/>
        </p:spPr>
        <p:txBody>
          <a:bodyPr wrap="square" lIns="36576" rIns="36576" tIns="18288" bIns="18288" anchor="t">
            <a:spAutoFit/>
          </a:bodyPr>
          <a:lstStyle/>
          <a:p>
            <a:pPr algn="l"/>
            <a:r>
              <a:rPr sz="1400" b="1" i="0">
                <a:solidFill>
                  <a:srgbClr val="0B4F35"/>
                </a:solidFill>
                <a:latin typeface="Segoe UI"/>
                <a:cs typeface="Tahoma"/>
              </a:rPr>
              <a:t>Reel watch time</a:t>
            </a:r>
          </a:p>
        </p:txBody>
      </p:sp>
      <p:sp>
        <p:nvSpPr>
          <p:cNvPr id="17" name="TextBox 16"/>
          <p:cNvSpPr txBox="1"/>
          <p:nvPr/>
        </p:nvSpPr>
        <p:spPr>
          <a:xfrm>
            <a:off x="640080" y="4069080"/>
            <a:ext cx="3291840" cy="1005840"/>
          </a:xfrm>
          <a:prstGeom prst="rect">
            <a:avLst/>
          </a:prstGeom>
          <a:noFill/>
        </p:spPr>
        <p:txBody>
          <a:bodyPr wrap="square" lIns="36576" rIns="36576" tIns="18288" bIns="18288" anchor="t">
            <a:spAutoFit/>
          </a:bodyPr>
          <a:lstStyle/>
          <a:p>
            <a:pPr algn="l"/>
            <a:r>
              <a:rPr sz="1200" b="0" i="0">
                <a:solidFill>
                  <a:srgbClr val="142B22"/>
                </a:solidFill>
                <a:latin typeface="Segoe UI"/>
                <a:cs typeface="Tahoma"/>
              </a:rPr>
              <a:t>Average view duration and replays</a:t>
            </a:r>
          </a:p>
        </p:txBody>
      </p:sp>
      <p:sp>
        <p:nvSpPr>
          <p:cNvPr id="18" name="Rounded Rectangle 17"/>
          <p:cNvSpPr/>
          <p:nvPr/>
        </p:nvSpPr>
        <p:spPr>
          <a:xfrm>
            <a:off x="4251960" y="3474720"/>
            <a:ext cx="3657600" cy="1737360"/>
          </a:xfrm>
          <a:prstGeom prst="roundRect">
            <a:avLst>
              <a:gd name="adj" fmla="val 5000"/>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3611880"/>
            <a:ext cx="3291840" cy="365760"/>
          </a:xfrm>
          <a:prstGeom prst="rect">
            <a:avLst/>
          </a:prstGeom>
          <a:noFill/>
        </p:spPr>
        <p:txBody>
          <a:bodyPr wrap="square" lIns="36576" rIns="36576" tIns="18288" bIns="18288" anchor="t">
            <a:spAutoFit/>
          </a:bodyPr>
          <a:lstStyle/>
          <a:p>
            <a:pPr algn="l"/>
            <a:r>
              <a:rPr sz="1400" b="1" i="0">
                <a:solidFill>
                  <a:srgbClr val="0B4F35"/>
                </a:solidFill>
                <a:latin typeface="Segoe UI"/>
                <a:cs typeface="Tahoma"/>
              </a:rPr>
              <a:t>Profile actions</a:t>
            </a:r>
          </a:p>
        </p:txBody>
      </p:sp>
      <p:sp>
        <p:nvSpPr>
          <p:cNvPr id="20" name="TextBox 19"/>
          <p:cNvSpPr txBox="1"/>
          <p:nvPr/>
        </p:nvSpPr>
        <p:spPr>
          <a:xfrm>
            <a:off x="4434840" y="4069080"/>
            <a:ext cx="3291840" cy="1005840"/>
          </a:xfrm>
          <a:prstGeom prst="rect">
            <a:avLst/>
          </a:prstGeom>
          <a:noFill/>
        </p:spPr>
        <p:txBody>
          <a:bodyPr wrap="square" lIns="36576" rIns="36576" tIns="18288" bIns="18288" anchor="t">
            <a:spAutoFit/>
          </a:bodyPr>
          <a:lstStyle/>
          <a:p>
            <a:pPr algn="l"/>
            <a:r>
              <a:rPr sz="1200" b="0" i="0">
                <a:solidFill>
                  <a:srgbClr val="142B22"/>
                </a:solidFill>
                <a:latin typeface="Segoe UI"/>
                <a:cs typeface="Tahoma"/>
              </a:rPr>
              <a:t>Website taps, follows from posts</a:t>
            </a:r>
          </a:p>
        </p:txBody>
      </p:sp>
      <p:sp>
        <p:nvSpPr>
          <p:cNvPr id="21" name="Rounded Rectangle 20"/>
          <p:cNvSpPr/>
          <p:nvPr/>
        </p:nvSpPr>
        <p:spPr>
          <a:xfrm>
            <a:off x="8046720" y="3474720"/>
            <a:ext cx="3657600" cy="1737360"/>
          </a:xfrm>
          <a:prstGeom prst="roundRect">
            <a:avLst>
              <a:gd name="adj" fmla="val 5000"/>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3611880"/>
            <a:ext cx="3291840" cy="365760"/>
          </a:xfrm>
          <a:prstGeom prst="rect">
            <a:avLst/>
          </a:prstGeom>
          <a:noFill/>
        </p:spPr>
        <p:txBody>
          <a:bodyPr wrap="square" lIns="36576" rIns="36576" tIns="18288" bIns="18288" anchor="t">
            <a:spAutoFit/>
          </a:bodyPr>
          <a:lstStyle/>
          <a:p>
            <a:pPr algn="l"/>
            <a:r>
              <a:rPr sz="1400" b="1" i="0">
                <a:solidFill>
                  <a:srgbClr val="0B4F35"/>
                </a:solidFill>
                <a:latin typeface="Segoe UI"/>
                <a:cs typeface="Tahoma"/>
              </a:rPr>
              <a:t>Recruitment</a:t>
            </a:r>
          </a:p>
        </p:txBody>
      </p:sp>
      <p:sp>
        <p:nvSpPr>
          <p:cNvPr id="23" name="TextBox 22"/>
          <p:cNvSpPr txBox="1"/>
          <p:nvPr/>
        </p:nvSpPr>
        <p:spPr>
          <a:xfrm>
            <a:off x="8229600" y="4069080"/>
            <a:ext cx="3291840" cy="1005840"/>
          </a:xfrm>
          <a:prstGeom prst="rect">
            <a:avLst/>
          </a:prstGeom>
          <a:noFill/>
        </p:spPr>
        <p:txBody>
          <a:bodyPr wrap="square" lIns="36576" rIns="36576" tIns="18288" bIns="18288" anchor="t">
            <a:spAutoFit/>
          </a:bodyPr>
          <a:lstStyle/>
          <a:p>
            <a:pPr algn="l"/>
            <a:r>
              <a:rPr sz="1200" b="0" i="0">
                <a:solidFill>
                  <a:srgbClr val="142B22"/>
                </a:solidFill>
                <a:latin typeface="Segoe UI"/>
                <a:cs typeface="Tahoma"/>
              </a:rPr>
              <a:t>Career page visits from social</a:t>
            </a:r>
          </a:p>
        </p:txBody>
      </p:sp>
      <p:sp>
        <p:nvSpPr>
          <p:cNvPr id="24" name="TextBox 23"/>
          <p:cNvSpPr txBox="1"/>
          <p:nvPr/>
        </p:nvSpPr>
        <p:spPr>
          <a:xfrm>
            <a:off x="457200" y="5669280"/>
            <a:ext cx="11247120" cy="731520"/>
          </a:xfrm>
          <a:prstGeom prst="rect">
            <a:avLst/>
          </a:prstGeom>
          <a:noFill/>
        </p:spPr>
        <p:txBody>
          <a:bodyPr wrap="square" lIns="36576" rIns="36576" tIns="18288" bIns="18288" anchor="t">
            <a:spAutoFit/>
          </a:bodyPr>
          <a:lstStyle/>
          <a:p>
            <a:pPr algn="l"/>
            <a:r>
              <a:rPr sz="1200" b="0" i="1">
                <a:solidFill>
                  <a:srgbClr val="5B6B63"/>
                </a:solidFill>
                <a:latin typeface="Segoe UI"/>
                <a:cs typeface="Tahoma"/>
              </a:rPr>
              <a:t>Targets are set after the first month's baseline. No number is promised in this plan.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4301F"/>
        </a:solidFill>
        <a:effectLst/>
      </p:bgPr>
    </p:bg>
    <p:spTree>
      <p:nvGrpSpPr>
        <p:cNvPr id="1" name=""/>
        <p:cNvGrpSpPr/>
        <p:nvPr/>
      </p:nvGrpSpPr>
      <p:grpSpPr/>
      <p:sp>
        <p:nvSpPr>
          <p:cNvPr id="2" name="TextBox 1"/>
          <p:cNvSpPr txBox="1"/>
          <p:nvPr/>
        </p:nvSpPr>
        <p:spPr>
          <a:xfrm>
            <a:off x="640080" y="2194560"/>
            <a:ext cx="10058400" cy="914400"/>
          </a:xfrm>
          <a:prstGeom prst="rect">
            <a:avLst/>
          </a:prstGeom>
          <a:noFill/>
        </p:spPr>
        <p:txBody>
          <a:bodyPr wrap="square" lIns="36576" rIns="36576" tIns="18288" bIns="18288" anchor="t">
            <a:spAutoFit/>
          </a:bodyPr>
          <a:lstStyle/>
          <a:p>
            <a:pPr algn="l"/>
            <a:r>
              <a:rPr sz="4000" b="1" i="0">
                <a:solidFill>
                  <a:srgbClr val="FFFFFF"/>
                </a:solidFill>
                <a:latin typeface="Segoe UI"/>
                <a:cs typeface="Tahoma"/>
              </a:rPr>
              <a:t>November 2026</a:t>
            </a:r>
          </a:p>
        </p:txBody>
      </p:sp>
      <p:sp>
        <p:nvSpPr>
          <p:cNvPr id="3" name="TextBox 2"/>
          <p:cNvSpPr txBox="1"/>
          <p:nvPr/>
        </p:nvSpPr>
        <p:spPr>
          <a:xfrm>
            <a:off x="640080" y="3200400"/>
            <a:ext cx="10058400" cy="548640"/>
          </a:xfrm>
          <a:prstGeom prst="rect">
            <a:avLst/>
          </a:prstGeom>
          <a:noFill/>
        </p:spPr>
        <p:txBody>
          <a:bodyPr wrap="square" lIns="36576" rIns="36576" tIns="18288" bIns="18288" anchor="t">
            <a:spAutoFit/>
          </a:bodyPr>
          <a:lstStyle/>
          <a:p>
            <a:pPr algn="l"/>
            <a:r>
              <a:rPr sz="1600" b="0" i="0">
                <a:solidFill>
                  <a:srgbClr val="8EF0B0"/>
                </a:solidFill>
                <a:latin typeface="Segoe UI"/>
                <a:cs typeface="Tahoma"/>
              </a:rPr>
              <a:t>32 pieces: 12 feed, 12 stories, 8 LinkedIn + X carousels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48640"/>
          </a:xfrm>
          <a:prstGeom prst="rect">
            <a:avLst/>
          </a:prstGeom>
          <a:noFill/>
        </p:spPr>
        <p:txBody>
          <a:bodyPr wrap="square" lIns="36576" rIns="36576" tIns="18288" bIns="18288" anchor="t">
            <a:spAutoFit/>
          </a:bodyPr>
          <a:lstStyle/>
          <a:p>
            <a:pPr algn="l"/>
            <a:r>
              <a:rPr sz="2400" b="1" i="0">
                <a:solidFill>
                  <a:srgbClr val="0B4F35"/>
                </a:solidFill>
                <a:latin typeface="Segoe UI"/>
                <a:cs typeface="Tahoma"/>
              </a:rPr>
              <a:t>November 2026: Instagram + Facebook feed</a:t>
            </a:r>
          </a:p>
        </p:txBody>
      </p:sp>
      <p:sp>
        <p:nvSpPr>
          <p:cNvPr id="4" name="TextBox 3"/>
          <p:cNvSpPr txBox="1"/>
          <p:nvPr/>
        </p:nvSpPr>
        <p:spPr>
          <a:xfrm>
            <a:off x="457200" y="749808"/>
            <a:ext cx="11247120" cy="365760"/>
          </a:xfrm>
          <a:prstGeom prst="rect">
            <a:avLst/>
          </a:prstGeom>
          <a:noFill/>
        </p:spPr>
        <p:txBody>
          <a:bodyPr wrap="square" lIns="36576" rIns="36576" tIns="18288" bIns="18288" anchor="t">
            <a:spAutoFit/>
          </a:bodyPr>
          <a:lstStyle/>
          <a:p>
            <a:pPr algn="l"/>
            <a:r>
              <a:rPr sz="1200" b="0" i="0">
                <a:solidFill>
                  <a:srgbClr val="5B6B63"/>
                </a:solidFill>
                <a:latin typeface="Segoe UI"/>
                <a:cs typeface="Tahoma"/>
              </a:rPr>
              <a:t>12 pieces</a:t>
            </a:r>
          </a:p>
        </p:txBody>
      </p:sp>
      <p:sp>
        <p:nvSpPr>
          <p:cNvPr id="5" name="TextBox 4"/>
          <p:cNvSpPr txBox="1"/>
          <p:nvPr/>
        </p:nvSpPr>
        <p:spPr>
          <a:xfrm>
            <a:off x="11155680" y="6492240"/>
            <a:ext cx="731520" cy="274320"/>
          </a:xfrm>
          <a:prstGeom prst="rect">
            <a:avLst/>
          </a:prstGeom>
          <a:noFill/>
        </p:spPr>
        <p:txBody>
          <a:bodyPr wrap="square" lIns="36576" rIns="36576" tIns="18288" bIns="18288" anchor="t">
            <a:spAutoFit/>
          </a:bodyPr>
          <a:lstStyle/>
          <a:p>
            <a:pPr algn="r"/>
            <a:r>
              <a:rPr sz="900" b="0" i="0">
                <a:solidFill>
                  <a:srgbClr val="5B6B63"/>
                </a:solidFill>
                <a:latin typeface="Segoe UI"/>
                <a:cs typeface="Tahoma"/>
              </a:rPr>
              <a:t>14</a:t>
            </a:r>
          </a:p>
        </p:txBody>
      </p:sp>
      <p:sp>
        <p:nvSpPr>
          <p:cNvPr id="6" name="Rectangle 5"/>
          <p:cNvSpPr/>
          <p:nvPr/>
        </p:nvSpPr>
        <p:spPr>
          <a:xfrm>
            <a:off x="457200" y="1234440"/>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52728"/>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NOV-F01  11-01</a:t>
            </a:r>
          </a:p>
        </p:txBody>
      </p:sp>
      <p:sp>
        <p:nvSpPr>
          <p:cNvPr id="8" name="TextBox 7"/>
          <p:cNvSpPr txBox="1"/>
          <p:nvPr/>
        </p:nvSpPr>
        <p:spPr>
          <a:xfrm>
            <a:off x="1737360" y="1252728"/>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Sun · Reel</a:t>
            </a:r>
          </a:p>
        </p:txBody>
      </p:sp>
      <p:sp>
        <p:nvSpPr>
          <p:cNvPr id="9" name="TextBox 8"/>
          <p:cNvSpPr txBox="1"/>
          <p:nvPr/>
        </p:nvSpPr>
        <p:spPr>
          <a:xfrm>
            <a:off x="2743200" y="1252728"/>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A day at Sudair City</a:t>
            </a:r>
          </a:p>
        </p:txBody>
      </p:sp>
      <p:sp>
        <p:nvSpPr>
          <p:cNvPr id="10" name="TextBox 9"/>
          <p:cNvSpPr txBox="1"/>
          <p:nvPr/>
        </p:nvSpPr>
        <p:spPr>
          <a:xfrm>
            <a:off x="7772400" y="1252728"/>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Meet the makers</a:t>
            </a:r>
          </a:p>
        </p:txBody>
      </p:sp>
      <p:sp>
        <p:nvSpPr>
          <p:cNvPr id="11" name="TextBox 10"/>
          <p:cNvSpPr txBox="1"/>
          <p:nvPr/>
        </p:nvSpPr>
        <p:spPr>
          <a:xfrm>
            <a:off x="9875520" y="1252728"/>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T6 · REAL+GENERATED</a:t>
            </a:r>
          </a:p>
        </p:txBody>
      </p:sp>
      <p:sp>
        <p:nvSpPr>
          <p:cNvPr id="12" name="Rectangle 11"/>
          <p:cNvSpPr/>
          <p:nvPr/>
        </p:nvSpPr>
        <p:spPr>
          <a:xfrm>
            <a:off x="457200" y="1618488"/>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636776"/>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NOV-F02  11-03</a:t>
            </a:r>
          </a:p>
        </p:txBody>
      </p:sp>
      <p:sp>
        <p:nvSpPr>
          <p:cNvPr id="14" name="TextBox 13"/>
          <p:cNvSpPr txBox="1"/>
          <p:nvPr/>
        </p:nvSpPr>
        <p:spPr>
          <a:xfrm>
            <a:off x="1737360" y="1636776"/>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Tue · Still</a:t>
            </a:r>
          </a:p>
        </p:txBody>
      </p:sp>
      <p:sp>
        <p:nvSpPr>
          <p:cNvPr id="15" name="TextBox 14"/>
          <p:cNvSpPr txBox="1"/>
          <p:nvPr/>
        </p:nvSpPr>
        <p:spPr>
          <a:xfrm>
            <a:off x="2743200" y="1636776"/>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Meet the team behind the lab</a:t>
            </a:r>
          </a:p>
        </p:txBody>
      </p:sp>
      <p:sp>
        <p:nvSpPr>
          <p:cNvPr id="16" name="TextBox 15"/>
          <p:cNvSpPr txBox="1"/>
          <p:nvPr/>
        </p:nvSpPr>
        <p:spPr>
          <a:xfrm>
            <a:off x="7772400" y="1636776"/>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Meet the makers</a:t>
            </a:r>
          </a:p>
        </p:txBody>
      </p:sp>
      <p:sp>
        <p:nvSpPr>
          <p:cNvPr id="17" name="TextBox 16"/>
          <p:cNvSpPr txBox="1"/>
          <p:nvPr/>
        </p:nvSpPr>
        <p:spPr>
          <a:xfrm>
            <a:off x="9875520" y="1636776"/>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T2 · REAL</a:t>
            </a:r>
          </a:p>
        </p:txBody>
      </p:sp>
      <p:sp>
        <p:nvSpPr>
          <p:cNvPr id="18" name="Rectangle 17"/>
          <p:cNvSpPr/>
          <p:nvPr/>
        </p:nvSpPr>
        <p:spPr>
          <a:xfrm>
            <a:off x="457200" y="2002536"/>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020824"/>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NOV-F03  11-05</a:t>
            </a:r>
          </a:p>
        </p:txBody>
      </p:sp>
      <p:sp>
        <p:nvSpPr>
          <p:cNvPr id="20" name="TextBox 19"/>
          <p:cNvSpPr txBox="1"/>
          <p:nvPr/>
        </p:nvSpPr>
        <p:spPr>
          <a:xfrm>
            <a:off x="1737360" y="2020824"/>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Thu · Carousel</a:t>
            </a:r>
          </a:p>
        </p:txBody>
      </p:sp>
      <p:sp>
        <p:nvSpPr>
          <p:cNvPr id="21" name="TextBox 20"/>
          <p:cNvSpPr txBox="1"/>
          <p:nvPr/>
        </p:nvSpPr>
        <p:spPr>
          <a:xfrm>
            <a:off x="2743200" y="2020824"/>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Made here, in the Kingdom</a:t>
            </a:r>
          </a:p>
        </p:txBody>
      </p:sp>
      <p:sp>
        <p:nvSpPr>
          <p:cNvPr id="22" name="TextBox 21"/>
          <p:cNvSpPr txBox="1"/>
          <p:nvPr/>
        </p:nvSpPr>
        <p:spPr>
          <a:xfrm>
            <a:off x="7772400" y="2020824"/>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Local manufacturing</a:t>
            </a:r>
          </a:p>
        </p:txBody>
      </p:sp>
      <p:sp>
        <p:nvSpPr>
          <p:cNvPr id="23" name="TextBox 22"/>
          <p:cNvSpPr txBox="1"/>
          <p:nvPr/>
        </p:nvSpPr>
        <p:spPr>
          <a:xfrm>
            <a:off x="9875520" y="2020824"/>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T1 · REAL+GENERATED</a:t>
            </a:r>
          </a:p>
        </p:txBody>
      </p:sp>
      <p:sp>
        <p:nvSpPr>
          <p:cNvPr id="24" name="Rectangle 23"/>
          <p:cNvSpPr/>
          <p:nvPr/>
        </p:nvSpPr>
        <p:spPr>
          <a:xfrm>
            <a:off x="457200" y="2386584"/>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2404872"/>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NOV-F04  11-08</a:t>
            </a:r>
          </a:p>
        </p:txBody>
      </p:sp>
      <p:sp>
        <p:nvSpPr>
          <p:cNvPr id="26" name="TextBox 25"/>
          <p:cNvSpPr txBox="1"/>
          <p:nvPr/>
        </p:nvSpPr>
        <p:spPr>
          <a:xfrm>
            <a:off x="1737360" y="2404872"/>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Sun · Still</a:t>
            </a:r>
          </a:p>
        </p:txBody>
      </p:sp>
      <p:sp>
        <p:nvSpPr>
          <p:cNvPr id="27" name="TextBox 26"/>
          <p:cNvSpPr txBox="1"/>
          <p:nvPr/>
        </p:nvSpPr>
        <p:spPr>
          <a:xfrm>
            <a:off x="2743200" y="2404872"/>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Standing with the community on World Diabetes Day</a:t>
            </a:r>
          </a:p>
        </p:txBody>
      </p:sp>
      <p:sp>
        <p:nvSpPr>
          <p:cNvPr id="28" name="TextBox 27"/>
          <p:cNvSpPr txBox="1"/>
          <p:nvPr/>
        </p:nvSpPr>
        <p:spPr>
          <a:xfrm>
            <a:off x="7772400" y="2404872"/>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Awareness days</a:t>
            </a:r>
          </a:p>
        </p:txBody>
      </p:sp>
      <p:sp>
        <p:nvSpPr>
          <p:cNvPr id="29" name="TextBox 28"/>
          <p:cNvSpPr txBox="1"/>
          <p:nvPr/>
        </p:nvSpPr>
        <p:spPr>
          <a:xfrm>
            <a:off x="9875520" y="2404872"/>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T8 · GENERATED</a:t>
            </a:r>
          </a:p>
        </p:txBody>
      </p:sp>
      <p:sp>
        <p:nvSpPr>
          <p:cNvPr id="30" name="Rectangle 29"/>
          <p:cNvSpPr/>
          <p:nvPr/>
        </p:nvSpPr>
        <p:spPr>
          <a:xfrm>
            <a:off x="457200" y="2770632"/>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2788920"/>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NOV-F05  11-10</a:t>
            </a:r>
          </a:p>
        </p:txBody>
      </p:sp>
      <p:sp>
        <p:nvSpPr>
          <p:cNvPr id="32" name="TextBox 31"/>
          <p:cNvSpPr txBox="1"/>
          <p:nvPr/>
        </p:nvSpPr>
        <p:spPr>
          <a:xfrm>
            <a:off x="1737360" y="2788920"/>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Tue · Reel</a:t>
            </a:r>
          </a:p>
        </p:txBody>
      </p:sp>
      <p:sp>
        <p:nvSpPr>
          <p:cNvPr id="33" name="TextBox 32"/>
          <p:cNvSpPr txBox="1"/>
          <p:nvPr/>
        </p:nvSpPr>
        <p:spPr>
          <a:xfrm>
            <a:off x="2743200" y="2788920"/>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Day to night: the day shift, the night shift, one site</a:t>
            </a:r>
          </a:p>
        </p:txBody>
      </p:sp>
      <p:sp>
        <p:nvSpPr>
          <p:cNvPr id="34" name="TextBox 33"/>
          <p:cNvSpPr txBox="1"/>
          <p:nvPr/>
        </p:nvSpPr>
        <p:spPr>
          <a:xfrm>
            <a:off x="7772400" y="2788920"/>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Meet the makers</a:t>
            </a:r>
          </a:p>
        </p:txBody>
      </p:sp>
      <p:sp>
        <p:nvSpPr>
          <p:cNvPr id="35" name="TextBox 34"/>
          <p:cNvSpPr txBox="1"/>
          <p:nvPr/>
        </p:nvSpPr>
        <p:spPr>
          <a:xfrm>
            <a:off x="9875520" y="2788920"/>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T7 · REAL+GENERATED</a:t>
            </a:r>
          </a:p>
        </p:txBody>
      </p:sp>
      <p:sp>
        <p:nvSpPr>
          <p:cNvPr id="36" name="Rectangle 35"/>
          <p:cNvSpPr/>
          <p:nvPr/>
        </p:nvSpPr>
        <p:spPr>
          <a:xfrm>
            <a:off x="457200" y="3154679"/>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3172968"/>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NOV-F06  11-12</a:t>
            </a:r>
          </a:p>
        </p:txBody>
      </p:sp>
      <p:sp>
        <p:nvSpPr>
          <p:cNvPr id="38" name="TextBox 37"/>
          <p:cNvSpPr txBox="1"/>
          <p:nvPr/>
        </p:nvSpPr>
        <p:spPr>
          <a:xfrm>
            <a:off x="1737360" y="3172968"/>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Thu · Still</a:t>
            </a:r>
          </a:p>
        </p:txBody>
      </p:sp>
      <p:sp>
        <p:nvSpPr>
          <p:cNvPr id="39" name="TextBox 38"/>
          <p:cNvSpPr txBox="1"/>
          <p:nvPr/>
        </p:nvSpPr>
        <p:spPr>
          <a:xfrm>
            <a:off x="2743200" y="3172968"/>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Thank you to the night shift</a:t>
            </a:r>
          </a:p>
        </p:txBody>
      </p:sp>
      <p:sp>
        <p:nvSpPr>
          <p:cNvPr id="40" name="TextBox 39"/>
          <p:cNvSpPr txBox="1"/>
          <p:nvPr/>
        </p:nvSpPr>
        <p:spPr>
          <a:xfrm>
            <a:off x="7772400" y="3172968"/>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People and careers</a:t>
            </a:r>
          </a:p>
        </p:txBody>
      </p:sp>
      <p:sp>
        <p:nvSpPr>
          <p:cNvPr id="41" name="TextBox 40"/>
          <p:cNvSpPr txBox="1"/>
          <p:nvPr/>
        </p:nvSpPr>
        <p:spPr>
          <a:xfrm>
            <a:off x="9875520" y="3172968"/>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T1 · GENERATED</a:t>
            </a:r>
          </a:p>
        </p:txBody>
      </p:sp>
      <p:sp>
        <p:nvSpPr>
          <p:cNvPr id="42" name="Rectangle 41"/>
          <p:cNvSpPr/>
          <p:nvPr/>
        </p:nvSpPr>
        <p:spPr>
          <a:xfrm>
            <a:off x="457200" y="3538727"/>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3557015"/>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NOV-F07  11-15</a:t>
            </a:r>
          </a:p>
        </p:txBody>
      </p:sp>
      <p:sp>
        <p:nvSpPr>
          <p:cNvPr id="44" name="TextBox 43"/>
          <p:cNvSpPr txBox="1"/>
          <p:nvPr/>
        </p:nvSpPr>
        <p:spPr>
          <a:xfrm>
            <a:off x="1737360" y="3557015"/>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Sun · Carousel</a:t>
            </a:r>
          </a:p>
        </p:txBody>
      </p:sp>
      <p:sp>
        <p:nvSpPr>
          <p:cNvPr id="45" name="TextBox 44"/>
          <p:cNvSpPr txBox="1"/>
          <p:nvPr/>
        </p:nvSpPr>
        <p:spPr>
          <a:xfrm>
            <a:off x="2743200" y="3557015"/>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A word of thanks to our partners</a:t>
            </a:r>
          </a:p>
        </p:txBody>
      </p:sp>
      <p:sp>
        <p:nvSpPr>
          <p:cNvPr id="46" name="TextBox 45"/>
          <p:cNvSpPr txBox="1"/>
          <p:nvPr/>
        </p:nvSpPr>
        <p:spPr>
          <a:xfrm>
            <a:off x="7772400" y="3557015"/>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Recognition and events</a:t>
            </a:r>
          </a:p>
        </p:txBody>
      </p:sp>
      <p:sp>
        <p:nvSpPr>
          <p:cNvPr id="47" name="TextBox 46"/>
          <p:cNvSpPr txBox="1"/>
          <p:nvPr/>
        </p:nvSpPr>
        <p:spPr>
          <a:xfrm>
            <a:off x="9875520" y="3557015"/>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T2 · REAL+GENERATED</a:t>
            </a:r>
          </a:p>
        </p:txBody>
      </p:sp>
      <p:sp>
        <p:nvSpPr>
          <p:cNvPr id="48" name="Rectangle 47"/>
          <p:cNvSpPr/>
          <p:nvPr/>
        </p:nvSpPr>
        <p:spPr>
          <a:xfrm>
            <a:off x="457200" y="3922776"/>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2920" y="3941063"/>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NOV-F08  11-17</a:t>
            </a:r>
          </a:p>
        </p:txBody>
      </p:sp>
      <p:sp>
        <p:nvSpPr>
          <p:cNvPr id="50" name="TextBox 49"/>
          <p:cNvSpPr txBox="1"/>
          <p:nvPr/>
        </p:nvSpPr>
        <p:spPr>
          <a:xfrm>
            <a:off x="1737360" y="3941063"/>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Tue · Still</a:t>
            </a:r>
          </a:p>
        </p:txBody>
      </p:sp>
      <p:sp>
        <p:nvSpPr>
          <p:cNvPr id="51" name="TextBox 50"/>
          <p:cNvSpPr txBox="1"/>
          <p:nvPr/>
        </p:nvSpPr>
        <p:spPr>
          <a:xfrm>
            <a:off x="2743200" y="3941063"/>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Skill in every station</a:t>
            </a:r>
          </a:p>
        </p:txBody>
      </p:sp>
      <p:sp>
        <p:nvSpPr>
          <p:cNvPr id="52" name="TextBox 51"/>
          <p:cNvSpPr txBox="1"/>
          <p:nvPr/>
        </p:nvSpPr>
        <p:spPr>
          <a:xfrm>
            <a:off x="7772400" y="3941063"/>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Meet the makers</a:t>
            </a:r>
          </a:p>
        </p:txBody>
      </p:sp>
      <p:sp>
        <p:nvSpPr>
          <p:cNvPr id="53" name="TextBox 52"/>
          <p:cNvSpPr txBox="1"/>
          <p:nvPr/>
        </p:nvSpPr>
        <p:spPr>
          <a:xfrm>
            <a:off x="9875520" y="3941063"/>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T4 · GENERATED</a:t>
            </a:r>
          </a:p>
        </p:txBody>
      </p:sp>
      <p:sp>
        <p:nvSpPr>
          <p:cNvPr id="54" name="Rectangle 53"/>
          <p:cNvSpPr/>
          <p:nvPr/>
        </p:nvSpPr>
        <p:spPr>
          <a:xfrm>
            <a:off x="457200" y="4306824"/>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02920" y="4325112"/>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NOV-F09  11-19</a:t>
            </a:r>
          </a:p>
        </p:txBody>
      </p:sp>
      <p:sp>
        <p:nvSpPr>
          <p:cNvPr id="56" name="TextBox 55"/>
          <p:cNvSpPr txBox="1"/>
          <p:nvPr/>
        </p:nvSpPr>
        <p:spPr>
          <a:xfrm>
            <a:off x="1737360" y="4325112"/>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Thu · Still</a:t>
            </a:r>
          </a:p>
        </p:txBody>
      </p:sp>
      <p:sp>
        <p:nvSpPr>
          <p:cNvPr id="57" name="TextBox 56"/>
          <p:cNvSpPr txBox="1"/>
          <p:nvPr/>
        </p:nvSpPr>
        <p:spPr>
          <a:xfrm>
            <a:off x="2743200" y="4325112"/>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People of Sudair: a portrait</a:t>
            </a:r>
          </a:p>
        </p:txBody>
      </p:sp>
      <p:sp>
        <p:nvSpPr>
          <p:cNvPr id="58" name="TextBox 57"/>
          <p:cNvSpPr txBox="1"/>
          <p:nvPr/>
        </p:nvSpPr>
        <p:spPr>
          <a:xfrm>
            <a:off x="7772400" y="4325112"/>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People and careers</a:t>
            </a:r>
          </a:p>
        </p:txBody>
      </p:sp>
      <p:sp>
        <p:nvSpPr>
          <p:cNvPr id="59" name="TextBox 58"/>
          <p:cNvSpPr txBox="1"/>
          <p:nvPr/>
        </p:nvSpPr>
        <p:spPr>
          <a:xfrm>
            <a:off x="9875520" y="4325112"/>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T3 · REAL</a:t>
            </a:r>
          </a:p>
        </p:txBody>
      </p:sp>
      <p:sp>
        <p:nvSpPr>
          <p:cNvPr id="60" name="Rectangle 59"/>
          <p:cNvSpPr/>
          <p:nvPr/>
        </p:nvSpPr>
        <p:spPr>
          <a:xfrm>
            <a:off x="457200" y="4690872"/>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02920" y="4709159"/>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NOV-F10  11-22</a:t>
            </a:r>
          </a:p>
        </p:txBody>
      </p:sp>
      <p:sp>
        <p:nvSpPr>
          <p:cNvPr id="62" name="TextBox 61"/>
          <p:cNvSpPr txBox="1"/>
          <p:nvPr/>
        </p:nvSpPr>
        <p:spPr>
          <a:xfrm>
            <a:off x="1737360" y="4709159"/>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Sun · Carousel</a:t>
            </a:r>
          </a:p>
        </p:txBody>
      </p:sp>
      <p:sp>
        <p:nvSpPr>
          <p:cNvPr id="63" name="TextBox 62"/>
          <p:cNvSpPr txBox="1"/>
          <p:nvPr/>
        </p:nvSpPr>
        <p:spPr>
          <a:xfrm>
            <a:off x="2743200" y="4709159"/>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Why people join us</a:t>
            </a:r>
          </a:p>
        </p:txBody>
      </p:sp>
      <p:sp>
        <p:nvSpPr>
          <p:cNvPr id="64" name="TextBox 63"/>
          <p:cNvSpPr txBox="1"/>
          <p:nvPr/>
        </p:nvSpPr>
        <p:spPr>
          <a:xfrm>
            <a:off x="7772400" y="4709159"/>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People and careers</a:t>
            </a:r>
          </a:p>
        </p:txBody>
      </p:sp>
      <p:sp>
        <p:nvSpPr>
          <p:cNvPr id="65" name="TextBox 64"/>
          <p:cNvSpPr txBox="1"/>
          <p:nvPr/>
        </p:nvSpPr>
        <p:spPr>
          <a:xfrm>
            <a:off x="9875520" y="4709159"/>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T8 · REAL+GENERATED</a:t>
            </a:r>
          </a:p>
        </p:txBody>
      </p:sp>
      <p:sp>
        <p:nvSpPr>
          <p:cNvPr id="66" name="Rectangle 65"/>
          <p:cNvSpPr/>
          <p:nvPr/>
        </p:nvSpPr>
        <p:spPr>
          <a:xfrm>
            <a:off x="457200" y="5074920"/>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02920" y="5093207"/>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NOV-F11  11-24</a:t>
            </a:r>
          </a:p>
        </p:txBody>
      </p:sp>
      <p:sp>
        <p:nvSpPr>
          <p:cNvPr id="68" name="TextBox 67"/>
          <p:cNvSpPr txBox="1"/>
          <p:nvPr/>
        </p:nvSpPr>
        <p:spPr>
          <a:xfrm>
            <a:off x="1737360" y="5093207"/>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Tue · Reel</a:t>
            </a:r>
          </a:p>
        </p:txBody>
      </p:sp>
      <p:sp>
        <p:nvSpPr>
          <p:cNvPr id="69" name="TextBox 68"/>
          <p:cNvSpPr txBox="1"/>
          <p:nvPr/>
        </p:nvSpPr>
        <p:spPr>
          <a:xfrm>
            <a:off x="2743200" y="5093207"/>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Careers: the lab team</a:t>
            </a:r>
          </a:p>
        </p:txBody>
      </p:sp>
      <p:sp>
        <p:nvSpPr>
          <p:cNvPr id="70" name="TextBox 69"/>
          <p:cNvSpPr txBox="1"/>
          <p:nvPr/>
        </p:nvSpPr>
        <p:spPr>
          <a:xfrm>
            <a:off x="7772400" y="5093207"/>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People and careers</a:t>
            </a:r>
          </a:p>
        </p:txBody>
      </p:sp>
      <p:sp>
        <p:nvSpPr>
          <p:cNvPr id="71" name="TextBox 70"/>
          <p:cNvSpPr txBox="1"/>
          <p:nvPr/>
        </p:nvSpPr>
        <p:spPr>
          <a:xfrm>
            <a:off x="9875520" y="5093207"/>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T2 · REAL</a:t>
            </a:r>
          </a:p>
        </p:txBody>
      </p:sp>
      <p:sp>
        <p:nvSpPr>
          <p:cNvPr id="72" name="Rectangle 71"/>
          <p:cNvSpPr/>
          <p:nvPr/>
        </p:nvSpPr>
        <p:spPr>
          <a:xfrm>
            <a:off x="457200" y="5458968"/>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02920" y="5477255"/>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NOV-F12  11-26</a:t>
            </a:r>
          </a:p>
        </p:txBody>
      </p:sp>
      <p:sp>
        <p:nvSpPr>
          <p:cNvPr id="74" name="TextBox 73"/>
          <p:cNvSpPr txBox="1"/>
          <p:nvPr/>
        </p:nvSpPr>
        <p:spPr>
          <a:xfrm>
            <a:off x="1737360" y="5477255"/>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Thu · Still</a:t>
            </a:r>
          </a:p>
        </p:txBody>
      </p:sp>
      <p:sp>
        <p:nvSpPr>
          <p:cNvPr id="75" name="TextBox 74"/>
          <p:cNvSpPr txBox="1"/>
          <p:nvPr/>
        </p:nvSpPr>
        <p:spPr>
          <a:xfrm>
            <a:off x="2743200" y="5477255"/>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The month in one image</a:t>
            </a:r>
          </a:p>
        </p:txBody>
      </p:sp>
      <p:sp>
        <p:nvSpPr>
          <p:cNvPr id="76" name="TextBox 75"/>
          <p:cNvSpPr txBox="1"/>
          <p:nvPr/>
        </p:nvSpPr>
        <p:spPr>
          <a:xfrm>
            <a:off x="7772400" y="5477255"/>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Year and community</a:t>
            </a:r>
          </a:p>
        </p:txBody>
      </p:sp>
      <p:sp>
        <p:nvSpPr>
          <p:cNvPr id="77" name="TextBox 76"/>
          <p:cNvSpPr txBox="1"/>
          <p:nvPr/>
        </p:nvSpPr>
        <p:spPr>
          <a:xfrm>
            <a:off x="9875520" y="5477255"/>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T6 · REAL+GENERATED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48640"/>
          </a:xfrm>
          <a:prstGeom prst="rect">
            <a:avLst/>
          </a:prstGeom>
          <a:noFill/>
        </p:spPr>
        <p:txBody>
          <a:bodyPr wrap="square" lIns="36576" rIns="36576" tIns="18288" bIns="18288" anchor="t">
            <a:spAutoFit/>
          </a:bodyPr>
          <a:lstStyle/>
          <a:p>
            <a:pPr algn="l"/>
            <a:r>
              <a:rPr sz="2400" b="1" i="0">
                <a:solidFill>
                  <a:srgbClr val="0B4F35"/>
                </a:solidFill>
                <a:latin typeface="Segoe UI"/>
                <a:cs typeface="Tahoma"/>
              </a:rPr>
              <a:t>November 2026: Instagram + Facebook stories</a:t>
            </a:r>
          </a:p>
        </p:txBody>
      </p:sp>
      <p:sp>
        <p:nvSpPr>
          <p:cNvPr id="4" name="TextBox 3"/>
          <p:cNvSpPr txBox="1"/>
          <p:nvPr/>
        </p:nvSpPr>
        <p:spPr>
          <a:xfrm>
            <a:off x="457200" y="749808"/>
            <a:ext cx="11247120" cy="365760"/>
          </a:xfrm>
          <a:prstGeom prst="rect">
            <a:avLst/>
          </a:prstGeom>
          <a:noFill/>
        </p:spPr>
        <p:txBody>
          <a:bodyPr wrap="square" lIns="36576" rIns="36576" tIns="18288" bIns="18288" anchor="t">
            <a:spAutoFit/>
          </a:bodyPr>
          <a:lstStyle/>
          <a:p>
            <a:pPr algn="l"/>
            <a:r>
              <a:rPr sz="1200" b="0" i="0">
                <a:solidFill>
                  <a:srgbClr val="5B6B63"/>
                </a:solidFill>
                <a:latin typeface="Segoe UI"/>
                <a:cs typeface="Tahoma"/>
              </a:rPr>
              <a:t>12 pieces</a:t>
            </a:r>
          </a:p>
        </p:txBody>
      </p:sp>
      <p:sp>
        <p:nvSpPr>
          <p:cNvPr id="5" name="TextBox 4"/>
          <p:cNvSpPr txBox="1"/>
          <p:nvPr/>
        </p:nvSpPr>
        <p:spPr>
          <a:xfrm>
            <a:off x="11155680" y="6492240"/>
            <a:ext cx="731520" cy="274320"/>
          </a:xfrm>
          <a:prstGeom prst="rect">
            <a:avLst/>
          </a:prstGeom>
          <a:noFill/>
        </p:spPr>
        <p:txBody>
          <a:bodyPr wrap="square" lIns="36576" rIns="36576" tIns="18288" bIns="18288" anchor="t">
            <a:spAutoFit/>
          </a:bodyPr>
          <a:lstStyle/>
          <a:p>
            <a:pPr algn="r"/>
            <a:r>
              <a:rPr sz="900" b="0" i="0">
                <a:solidFill>
                  <a:srgbClr val="5B6B63"/>
                </a:solidFill>
                <a:latin typeface="Segoe UI"/>
                <a:cs typeface="Tahoma"/>
              </a:rPr>
              <a:t>15</a:t>
            </a:r>
          </a:p>
        </p:txBody>
      </p:sp>
      <p:sp>
        <p:nvSpPr>
          <p:cNvPr id="6" name="Rectangle 5"/>
          <p:cNvSpPr/>
          <p:nvPr/>
        </p:nvSpPr>
        <p:spPr>
          <a:xfrm>
            <a:off x="457200" y="1234440"/>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52728"/>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NOV-S01  11-02</a:t>
            </a:r>
          </a:p>
        </p:txBody>
      </p:sp>
      <p:sp>
        <p:nvSpPr>
          <p:cNvPr id="8" name="TextBox 7"/>
          <p:cNvSpPr txBox="1"/>
          <p:nvPr/>
        </p:nvSpPr>
        <p:spPr>
          <a:xfrm>
            <a:off x="1737360" y="1252728"/>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Mon · Story</a:t>
            </a:r>
          </a:p>
        </p:txBody>
      </p:sp>
      <p:sp>
        <p:nvSpPr>
          <p:cNvPr id="9" name="TextBox 8"/>
          <p:cNvSpPr txBox="1"/>
          <p:nvPr/>
        </p:nvSpPr>
        <p:spPr>
          <a:xfrm>
            <a:off x="2743200" y="1252728"/>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Shift change</a:t>
            </a:r>
          </a:p>
        </p:txBody>
      </p:sp>
      <p:sp>
        <p:nvSpPr>
          <p:cNvPr id="10" name="TextBox 9"/>
          <p:cNvSpPr txBox="1"/>
          <p:nvPr/>
        </p:nvSpPr>
        <p:spPr>
          <a:xfrm>
            <a:off x="7772400" y="1252728"/>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Meet the makers</a:t>
            </a:r>
          </a:p>
        </p:txBody>
      </p:sp>
      <p:sp>
        <p:nvSpPr>
          <p:cNvPr id="11" name="TextBox 10"/>
          <p:cNvSpPr txBox="1"/>
          <p:nvPr/>
        </p:nvSpPr>
        <p:spPr>
          <a:xfrm>
            <a:off x="9875520" y="1252728"/>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T2 · REAL</a:t>
            </a:r>
          </a:p>
        </p:txBody>
      </p:sp>
      <p:sp>
        <p:nvSpPr>
          <p:cNvPr id="12" name="Rectangle 11"/>
          <p:cNvSpPr/>
          <p:nvPr/>
        </p:nvSpPr>
        <p:spPr>
          <a:xfrm>
            <a:off x="457200" y="1618488"/>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636776"/>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NOV-S02  11-04</a:t>
            </a:r>
          </a:p>
        </p:txBody>
      </p:sp>
      <p:sp>
        <p:nvSpPr>
          <p:cNvPr id="14" name="TextBox 13"/>
          <p:cNvSpPr txBox="1"/>
          <p:nvPr/>
        </p:nvSpPr>
        <p:spPr>
          <a:xfrm>
            <a:off x="1737360" y="1636776"/>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Wed · Story</a:t>
            </a:r>
          </a:p>
        </p:txBody>
      </p:sp>
      <p:sp>
        <p:nvSpPr>
          <p:cNvPr id="15" name="TextBox 14"/>
          <p:cNvSpPr txBox="1"/>
          <p:nvPr/>
        </p:nvSpPr>
        <p:spPr>
          <a:xfrm>
            <a:off x="2743200" y="1636776"/>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Question box: ask our team about life at Sudair</a:t>
            </a:r>
          </a:p>
        </p:txBody>
      </p:sp>
      <p:sp>
        <p:nvSpPr>
          <p:cNvPr id="16" name="TextBox 15"/>
          <p:cNvSpPr txBox="1"/>
          <p:nvPr/>
        </p:nvSpPr>
        <p:spPr>
          <a:xfrm>
            <a:off x="7772400" y="1636776"/>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People and careers</a:t>
            </a:r>
          </a:p>
        </p:txBody>
      </p:sp>
      <p:sp>
        <p:nvSpPr>
          <p:cNvPr id="17" name="TextBox 16"/>
          <p:cNvSpPr txBox="1"/>
          <p:nvPr/>
        </p:nvSpPr>
        <p:spPr>
          <a:xfrm>
            <a:off x="9875520" y="1636776"/>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T8 · GENERATED</a:t>
            </a:r>
          </a:p>
        </p:txBody>
      </p:sp>
      <p:sp>
        <p:nvSpPr>
          <p:cNvPr id="18" name="Rectangle 17"/>
          <p:cNvSpPr/>
          <p:nvPr/>
        </p:nvSpPr>
        <p:spPr>
          <a:xfrm>
            <a:off x="457200" y="2002536"/>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020824"/>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NOV-S03  11-05</a:t>
            </a:r>
          </a:p>
        </p:txBody>
      </p:sp>
      <p:sp>
        <p:nvSpPr>
          <p:cNvPr id="20" name="TextBox 19"/>
          <p:cNvSpPr txBox="1"/>
          <p:nvPr/>
        </p:nvSpPr>
        <p:spPr>
          <a:xfrm>
            <a:off x="1737360" y="2020824"/>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Thu · Story</a:t>
            </a:r>
          </a:p>
        </p:txBody>
      </p:sp>
      <p:sp>
        <p:nvSpPr>
          <p:cNvPr id="21" name="TextBox 20"/>
          <p:cNvSpPr txBox="1"/>
          <p:nvPr/>
        </p:nvSpPr>
        <p:spPr>
          <a:xfrm>
            <a:off x="2743200" y="2020824"/>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Place card of the week: a corner of Sudair City</a:t>
            </a:r>
          </a:p>
        </p:txBody>
      </p:sp>
      <p:sp>
        <p:nvSpPr>
          <p:cNvPr id="22" name="TextBox 21"/>
          <p:cNvSpPr txBox="1"/>
          <p:nvPr/>
        </p:nvSpPr>
        <p:spPr>
          <a:xfrm>
            <a:off x="7772400" y="2020824"/>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Local manufacturing</a:t>
            </a:r>
          </a:p>
        </p:txBody>
      </p:sp>
      <p:sp>
        <p:nvSpPr>
          <p:cNvPr id="23" name="TextBox 22"/>
          <p:cNvSpPr txBox="1"/>
          <p:nvPr/>
        </p:nvSpPr>
        <p:spPr>
          <a:xfrm>
            <a:off x="9875520" y="2020824"/>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T6 · REAL+GENERATED</a:t>
            </a:r>
          </a:p>
        </p:txBody>
      </p:sp>
      <p:sp>
        <p:nvSpPr>
          <p:cNvPr id="24" name="Rectangle 23"/>
          <p:cNvSpPr/>
          <p:nvPr/>
        </p:nvSpPr>
        <p:spPr>
          <a:xfrm>
            <a:off x="457200" y="2386584"/>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2404872"/>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NOV-S04  11-09</a:t>
            </a:r>
          </a:p>
        </p:txBody>
      </p:sp>
      <p:sp>
        <p:nvSpPr>
          <p:cNvPr id="26" name="TextBox 25"/>
          <p:cNvSpPr txBox="1"/>
          <p:nvPr/>
        </p:nvSpPr>
        <p:spPr>
          <a:xfrm>
            <a:off x="1737360" y="2404872"/>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Mon · Story</a:t>
            </a:r>
          </a:p>
        </p:txBody>
      </p:sp>
      <p:sp>
        <p:nvSpPr>
          <p:cNvPr id="27" name="TextBox 26"/>
          <p:cNvSpPr txBox="1"/>
          <p:nvPr/>
        </p:nvSpPr>
        <p:spPr>
          <a:xfrm>
            <a:off x="2743200" y="2404872"/>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Countdown to 14 Nov</a:t>
            </a:r>
          </a:p>
        </p:txBody>
      </p:sp>
      <p:sp>
        <p:nvSpPr>
          <p:cNvPr id="28" name="TextBox 27"/>
          <p:cNvSpPr txBox="1"/>
          <p:nvPr/>
        </p:nvSpPr>
        <p:spPr>
          <a:xfrm>
            <a:off x="7772400" y="2404872"/>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Awareness days</a:t>
            </a:r>
          </a:p>
        </p:txBody>
      </p:sp>
      <p:sp>
        <p:nvSpPr>
          <p:cNvPr id="29" name="TextBox 28"/>
          <p:cNvSpPr txBox="1"/>
          <p:nvPr/>
        </p:nvSpPr>
        <p:spPr>
          <a:xfrm>
            <a:off x="9875520" y="2404872"/>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T8 · GENERATED</a:t>
            </a:r>
          </a:p>
        </p:txBody>
      </p:sp>
      <p:sp>
        <p:nvSpPr>
          <p:cNvPr id="30" name="Rectangle 29"/>
          <p:cNvSpPr/>
          <p:nvPr/>
        </p:nvSpPr>
        <p:spPr>
          <a:xfrm>
            <a:off x="457200" y="2770632"/>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2788920"/>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NOV-S05  11-11</a:t>
            </a:r>
          </a:p>
        </p:txBody>
      </p:sp>
      <p:sp>
        <p:nvSpPr>
          <p:cNvPr id="32" name="TextBox 31"/>
          <p:cNvSpPr txBox="1"/>
          <p:nvPr/>
        </p:nvSpPr>
        <p:spPr>
          <a:xfrm>
            <a:off x="1737360" y="2788920"/>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Wed · Story</a:t>
            </a:r>
          </a:p>
        </p:txBody>
      </p:sp>
      <p:sp>
        <p:nvSpPr>
          <p:cNvPr id="33" name="TextBox 32"/>
          <p:cNvSpPr txBox="1"/>
          <p:nvPr/>
        </p:nvSpPr>
        <p:spPr>
          <a:xfrm>
            <a:off x="2743200" y="2788920"/>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Who is on shift now</a:t>
            </a:r>
          </a:p>
        </p:txBody>
      </p:sp>
      <p:sp>
        <p:nvSpPr>
          <p:cNvPr id="34" name="TextBox 33"/>
          <p:cNvSpPr txBox="1"/>
          <p:nvPr/>
        </p:nvSpPr>
        <p:spPr>
          <a:xfrm>
            <a:off x="7772400" y="2788920"/>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Meet the makers</a:t>
            </a:r>
          </a:p>
        </p:txBody>
      </p:sp>
      <p:sp>
        <p:nvSpPr>
          <p:cNvPr id="35" name="TextBox 34"/>
          <p:cNvSpPr txBox="1"/>
          <p:nvPr/>
        </p:nvSpPr>
        <p:spPr>
          <a:xfrm>
            <a:off x="9875520" y="2788920"/>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T4 · REAL+GENERATED</a:t>
            </a:r>
          </a:p>
        </p:txBody>
      </p:sp>
      <p:sp>
        <p:nvSpPr>
          <p:cNvPr id="36" name="Rectangle 35"/>
          <p:cNvSpPr/>
          <p:nvPr/>
        </p:nvSpPr>
        <p:spPr>
          <a:xfrm>
            <a:off x="457200" y="3154679"/>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3172968"/>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NOV-S06  11-12</a:t>
            </a:r>
          </a:p>
        </p:txBody>
      </p:sp>
      <p:sp>
        <p:nvSpPr>
          <p:cNvPr id="38" name="TextBox 37"/>
          <p:cNvSpPr txBox="1"/>
          <p:nvPr/>
        </p:nvSpPr>
        <p:spPr>
          <a:xfrm>
            <a:off x="1737360" y="3172968"/>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Thu · Story</a:t>
            </a:r>
          </a:p>
        </p:txBody>
      </p:sp>
      <p:sp>
        <p:nvSpPr>
          <p:cNvPr id="39" name="TextBox 38"/>
          <p:cNvSpPr txBox="1"/>
          <p:nvPr/>
        </p:nvSpPr>
        <p:spPr>
          <a:xfrm>
            <a:off x="2743200" y="3172968"/>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A day in the life</a:t>
            </a:r>
          </a:p>
        </p:txBody>
      </p:sp>
      <p:sp>
        <p:nvSpPr>
          <p:cNvPr id="40" name="TextBox 39"/>
          <p:cNvSpPr txBox="1"/>
          <p:nvPr/>
        </p:nvSpPr>
        <p:spPr>
          <a:xfrm>
            <a:off x="7772400" y="3172968"/>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People and careers</a:t>
            </a:r>
          </a:p>
        </p:txBody>
      </p:sp>
      <p:sp>
        <p:nvSpPr>
          <p:cNvPr id="41" name="TextBox 40"/>
          <p:cNvSpPr txBox="1"/>
          <p:nvPr/>
        </p:nvSpPr>
        <p:spPr>
          <a:xfrm>
            <a:off x="9875520" y="3172968"/>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T3 · REAL</a:t>
            </a:r>
          </a:p>
        </p:txBody>
      </p:sp>
      <p:sp>
        <p:nvSpPr>
          <p:cNvPr id="42" name="Rectangle 41"/>
          <p:cNvSpPr/>
          <p:nvPr/>
        </p:nvSpPr>
        <p:spPr>
          <a:xfrm>
            <a:off x="457200" y="3538727"/>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3557015"/>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NOV-S07  11-16</a:t>
            </a:r>
          </a:p>
        </p:txBody>
      </p:sp>
      <p:sp>
        <p:nvSpPr>
          <p:cNvPr id="44" name="TextBox 43"/>
          <p:cNvSpPr txBox="1"/>
          <p:nvPr/>
        </p:nvSpPr>
        <p:spPr>
          <a:xfrm>
            <a:off x="1737360" y="3557015"/>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Mon · Story</a:t>
            </a:r>
          </a:p>
        </p:txBody>
      </p:sp>
      <p:sp>
        <p:nvSpPr>
          <p:cNvPr id="45" name="TextBox 44"/>
          <p:cNvSpPr txBox="1"/>
          <p:nvPr/>
        </p:nvSpPr>
        <p:spPr>
          <a:xfrm>
            <a:off x="2743200" y="3557015"/>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Question box: what would you like to see inside the plant?</a:t>
            </a:r>
          </a:p>
        </p:txBody>
      </p:sp>
      <p:sp>
        <p:nvSpPr>
          <p:cNvPr id="46" name="TextBox 45"/>
          <p:cNvSpPr txBox="1"/>
          <p:nvPr/>
        </p:nvSpPr>
        <p:spPr>
          <a:xfrm>
            <a:off x="7772400" y="3557015"/>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Meet the makers</a:t>
            </a:r>
          </a:p>
        </p:txBody>
      </p:sp>
      <p:sp>
        <p:nvSpPr>
          <p:cNvPr id="47" name="TextBox 46"/>
          <p:cNvSpPr txBox="1"/>
          <p:nvPr/>
        </p:nvSpPr>
        <p:spPr>
          <a:xfrm>
            <a:off x="9875520" y="3557015"/>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T8 · GENERATED</a:t>
            </a:r>
          </a:p>
        </p:txBody>
      </p:sp>
      <p:sp>
        <p:nvSpPr>
          <p:cNvPr id="48" name="Rectangle 47"/>
          <p:cNvSpPr/>
          <p:nvPr/>
        </p:nvSpPr>
        <p:spPr>
          <a:xfrm>
            <a:off x="457200" y="3922776"/>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2920" y="3941063"/>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NOV-S08  11-18</a:t>
            </a:r>
          </a:p>
        </p:txBody>
      </p:sp>
      <p:sp>
        <p:nvSpPr>
          <p:cNvPr id="50" name="TextBox 49"/>
          <p:cNvSpPr txBox="1"/>
          <p:nvPr/>
        </p:nvSpPr>
        <p:spPr>
          <a:xfrm>
            <a:off x="1737360" y="3941063"/>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Wed · Story</a:t>
            </a:r>
          </a:p>
        </p:txBody>
      </p:sp>
      <p:sp>
        <p:nvSpPr>
          <p:cNvPr id="51" name="TextBox 50"/>
          <p:cNvSpPr txBox="1"/>
          <p:nvPr/>
        </p:nvSpPr>
        <p:spPr>
          <a:xfrm>
            <a:off x="2743200" y="3941063"/>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Close-up: a day's tools and benches</a:t>
            </a:r>
          </a:p>
        </p:txBody>
      </p:sp>
      <p:sp>
        <p:nvSpPr>
          <p:cNvPr id="52" name="TextBox 51"/>
          <p:cNvSpPr txBox="1"/>
          <p:nvPr/>
        </p:nvSpPr>
        <p:spPr>
          <a:xfrm>
            <a:off x="7772400" y="3941063"/>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Meet the makers</a:t>
            </a:r>
          </a:p>
        </p:txBody>
      </p:sp>
      <p:sp>
        <p:nvSpPr>
          <p:cNvPr id="53" name="TextBox 52"/>
          <p:cNvSpPr txBox="1"/>
          <p:nvPr/>
        </p:nvSpPr>
        <p:spPr>
          <a:xfrm>
            <a:off x="9875520" y="3941063"/>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T2 · REAL</a:t>
            </a:r>
          </a:p>
        </p:txBody>
      </p:sp>
      <p:sp>
        <p:nvSpPr>
          <p:cNvPr id="54" name="Rectangle 53"/>
          <p:cNvSpPr/>
          <p:nvPr/>
        </p:nvSpPr>
        <p:spPr>
          <a:xfrm>
            <a:off x="457200" y="4306824"/>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02920" y="4325112"/>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NOV-S09  11-19</a:t>
            </a:r>
          </a:p>
        </p:txBody>
      </p:sp>
      <p:sp>
        <p:nvSpPr>
          <p:cNvPr id="56" name="TextBox 55"/>
          <p:cNvSpPr txBox="1"/>
          <p:nvPr/>
        </p:nvSpPr>
        <p:spPr>
          <a:xfrm>
            <a:off x="1737360" y="4325112"/>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Thu · Story</a:t>
            </a:r>
          </a:p>
        </p:txBody>
      </p:sp>
      <p:sp>
        <p:nvSpPr>
          <p:cNvPr id="57" name="TextBox 56"/>
          <p:cNvSpPr txBox="1"/>
          <p:nvPr/>
        </p:nvSpPr>
        <p:spPr>
          <a:xfrm>
            <a:off x="2743200" y="4325112"/>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Poll: which part of the plant do you want to see next?</a:t>
            </a:r>
          </a:p>
        </p:txBody>
      </p:sp>
      <p:sp>
        <p:nvSpPr>
          <p:cNvPr id="58" name="TextBox 57"/>
          <p:cNvSpPr txBox="1"/>
          <p:nvPr/>
        </p:nvSpPr>
        <p:spPr>
          <a:xfrm>
            <a:off x="7772400" y="4325112"/>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Meet the makers</a:t>
            </a:r>
          </a:p>
        </p:txBody>
      </p:sp>
      <p:sp>
        <p:nvSpPr>
          <p:cNvPr id="59" name="TextBox 58"/>
          <p:cNvSpPr txBox="1"/>
          <p:nvPr/>
        </p:nvSpPr>
        <p:spPr>
          <a:xfrm>
            <a:off x="9875520" y="4325112"/>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T4 · GENERATED</a:t>
            </a:r>
          </a:p>
        </p:txBody>
      </p:sp>
      <p:sp>
        <p:nvSpPr>
          <p:cNvPr id="60" name="Rectangle 59"/>
          <p:cNvSpPr/>
          <p:nvPr/>
        </p:nvSpPr>
        <p:spPr>
          <a:xfrm>
            <a:off x="457200" y="4690872"/>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02920" y="4709159"/>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NOV-S10  11-23</a:t>
            </a:r>
          </a:p>
        </p:txBody>
      </p:sp>
      <p:sp>
        <p:nvSpPr>
          <p:cNvPr id="62" name="TextBox 61"/>
          <p:cNvSpPr txBox="1"/>
          <p:nvPr/>
        </p:nvSpPr>
        <p:spPr>
          <a:xfrm>
            <a:off x="1737360" y="4709159"/>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Mon · Story</a:t>
            </a:r>
          </a:p>
        </p:txBody>
      </p:sp>
      <p:sp>
        <p:nvSpPr>
          <p:cNvPr id="63" name="TextBox 62"/>
          <p:cNvSpPr txBox="1"/>
          <p:nvPr/>
        </p:nvSpPr>
        <p:spPr>
          <a:xfrm>
            <a:off x="2743200" y="4709159"/>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Countdown: the new year at the plant</a:t>
            </a:r>
          </a:p>
        </p:txBody>
      </p:sp>
      <p:sp>
        <p:nvSpPr>
          <p:cNvPr id="64" name="TextBox 63"/>
          <p:cNvSpPr txBox="1"/>
          <p:nvPr/>
        </p:nvSpPr>
        <p:spPr>
          <a:xfrm>
            <a:off x="7772400" y="4709159"/>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Year and community</a:t>
            </a:r>
          </a:p>
        </p:txBody>
      </p:sp>
      <p:sp>
        <p:nvSpPr>
          <p:cNvPr id="65" name="TextBox 64"/>
          <p:cNvSpPr txBox="1"/>
          <p:nvPr/>
        </p:nvSpPr>
        <p:spPr>
          <a:xfrm>
            <a:off x="9875520" y="4709159"/>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T8 · GENERATED</a:t>
            </a:r>
          </a:p>
        </p:txBody>
      </p:sp>
      <p:sp>
        <p:nvSpPr>
          <p:cNvPr id="66" name="Rectangle 65"/>
          <p:cNvSpPr/>
          <p:nvPr/>
        </p:nvSpPr>
        <p:spPr>
          <a:xfrm>
            <a:off x="457200" y="5074920"/>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02920" y="5093207"/>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NOV-S11  11-25</a:t>
            </a:r>
          </a:p>
        </p:txBody>
      </p:sp>
      <p:sp>
        <p:nvSpPr>
          <p:cNvPr id="68" name="TextBox 67"/>
          <p:cNvSpPr txBox="1"/>
          <p:nvPr/>
        </p:nvSpPr>
        <p:spPr>
          <a:xfrm>
            <a:off x="1737360" y="5093207"/>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Wed · Story</a:t>
            </a:r>
          </a:p>
        </p:txBody>
      </p:sp>
      <p:sp>
        <p:nvSpPr>
          <p:cNvPr id="69" name="TextBox 68"/>
          <p:cNvSpPr txBox="1"/>
          <p:nvPr/>
        </p:nvSpPr>
        <p:spPr>
          <a:xfrm>
            <a:off x="2743200" y="5093207"/>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Meet the lab team</a:t>
            </a:r>
          </a:p>
        </p:txBody>
      </p:sp>
      <p:sp>
        <p:nvSpPr>
          <p:cNvPr id="70" name="TextBox 69"/>
          <p:cNvSpPr txBox="1"/>
          <p:nvPr/>
        </p:nvSpPr>
        <p:spPr>
          <a:xfrm>
            <a:off x="7772400" y="5093207"/>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People and careers</a:t>
            </a:r>
          </a:p>
        </p:txBody>
      </p:sp>
      <p:sp>
        <p:nvSpPr>
          <p:cNvPr id="71" name="TextBox 70"/>
          <p:cNvSpPr txBox="1"/>
          <p:nvPr/>
        </p:nvSpPr>
        <p:spPr>
          <a:xfrm>
            <a:off x="9875520" y="5093207"/>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T3 · REAL</a:t>
            </a:r>
          </a:p>
        </p:txBody>
      </p:sp>
      <p:sp>
        <p:nvSpPr>
          <p:cNvPr id="72" name="Rectangle 71"/>
          <p:cNvSpPr/>
          <p:nvPr/>
        </p:nvSpPr>
        <p:spPr>
          <a:xfrm>
            <a:off x="457200" y="5458968"/>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02920" y="5477255"/>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NOV-S12  11-26</a:t>
            </a:r>
          </a:p>
        </p:txBody>
      </p:sp>
      <p:sp>
        <p:nvSpPr>
          <p:cNvPr id="74" name="TextBox 73"/>
          <p:cNvSpPr txBox="1"/>
          <p:nvPr/>
        </p:nvSpPr>
        <p:spPr>
          <a:xfrm>
            <a:off x="1737360" y="5477255"/>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Thu · Story</a:t>
            </a:r>
          </a:p>
        </p:txBody>
      </p:sp>
      <p:sp>
        <p:nvSpPr>
          <p:cNvPr id="75" name="TextBox 74"/>
          <p:cNvSpPr txBox="1"/>
          <p:nvPr/>
        </p:nvSpPr>
        <p:spPr>
          <a:xfrm>
            <a:off x="2743200" y="5477255"/>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Place card of the week: the facade at golden hour</a:t>
            </a:r>
          </a:p>
        </p:txBody>
      </p:sp>
      <p:sp>
        <p:nvSpPr>
          <p:cNvPr id="76" name="TextBox 75"/>
          <p:cNvSpPr txBox="1"/>
          <p:nvPr/>
        </p:nvSpPr>
        <p:spPr>
          <a:xfrm>
            <a:off x="7772400" y="5477255"/>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Meet the makers</a:t>
            </a:r>
          </a:p>
        </p:txBody>
      </p:sp>
      <p:sp>
        <p:nvSpPr>
          <p:cNvPr id="77" name="TextBox 76"/>
          <p:cNvSpPr txBox="1"/>
          <p:nvPr/>
        </p:nvSpPr>
        <p:spPr>
          <a:xfrm>
            <a:off x="9875520" y="5477255"/>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T6 · REAL+GENERATED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48640"/>
          </a:xfrm>
          <a:prstGeom prst="rect">
            <a:avLst/>
          </a:prstGeom>
          <a:noFill/>
        </p:spPr>
        <p:txBody>
          <a:bodyPr wrap="square" lIns="36576" rIns="36576" tIns="18288" bIns="18288" anchor="t">
            <a:spAutoFit/>
          </a:bodyPr>
          <a:lstStyle/>
          <a:p>
            <a:pPr algn="l"/>
            <a:r>
              <a:rPr sz="2400" b="1" i="0">
                <a:solidFill>
                  <a:srgbClr val="0B4F35"/>
                </a:solidFill>
                <a:latin typeface="Segoe UI"/>
                <a:cs typeface="Tahoma"/>
              </a:rPr>
              <a:t>November 2026: LinkedIn + X carousels</a:t>
            </a:r>
          </a:p>
        </p:txBody>
      </p:sp>
      <p:sp>
        <p:nvSpPr>
          <p:cNvPr id="4" name="TextBox 3"/>
          <p:cNvSpPr txBox="1"/>
          <p:nvPr/>
        </p:nvSpPr>
        <p:spPr>
          <a:xfrm>
            <a:off x="457200" y="749808"/>
            <a:ext cx="11247120" cy="365760"/>
          </a:xfrm>
          <a:prstGeom prst="rect">
            <a:avLst/>
          </a:prstGeom>
          <a:noFill/>
        </p:spPr>
        <p:txBody>
          <a:bodyPr wrap="square" lIns="36576" rIns="36576" tIns="18288" bIns="18288" anchor="t">
            <a:spAutoFit/>
          </a:bodyPr>
          <a:lstStyle/>
          <a:p>
            <a:pPr algn="l"/>
            <a:r>
              <a:rPr sz="1200" b="0" i="0">
                <a:solidFill>
                  <a:srgbClr val="5B6B63"/>
                </a:solidFill>
                <a:latin typeface="Segoe UI"/>
                <a:cs typeface="Tahoma"/>
              </a:rPr>
              <a:t>8 pieces</a:t>
            </a:r>
          </a:p>
        </p:txBody>
      </p:sp>
      <p:sp>
        <p:nvSpPr>
          <p:cNvPr id="5" name="TextBox 4"/>
          <p:cNvSpPr txBox="1"/>
          <p:nvPr/>
        </p:nvSpPr>
        <p:spPr>
          <a:xfrm>
            <a:off x="11155680" y="6492240"/>
            <a:ext cx="731520" cy="274320"/>
          </a:xfrm>
          <a:prstGeom prst="rect">
            <a:avLst/>
          </a:prstGeom>
          <a:noFill/>
        </p:spPr>
        <p:txBody>
          <a:bodyPr wrap="square" lIns="36576" rIns="36576" tIns="18288" bIns="18288" anchor="t">
            <a:spAutoFit/>
          </a:bodyPr>
          <a:lstStyle/>
          <a:p>
            <a:pPr algn="r"/>
            <a:r>
              <a:rPr sz="900" b="0" i="0">
                <a:solidFill>
                  <a:srgbClr val="5B6B63"/>
                </a:solidFill>
                <a:latin typeface="Segoe UI"/>
                <a:cs typeface="Tahoma"/>
              </a:rPr>
              <a:t>16</a:t>
            </a:r>
          </a:p>
        </p:txBody>
      </p:sp>
      <p:sp>
        <p:nvSpPr>
          <p:cNvPr id="6" name="Rectangle 5"/>
          <p:cNvSpPr/>
          <p:nvPr/>
        </p:nvSpPr>
        <p:spPr>
          <a:xfrm>
            <a:off x="457200" y="1234440"/>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52728"/>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NOV-L01  11-02</a:t>
            </a:r>
          </a:p>
        </p:txBody>
      </p:sp>
      <p:sp>
        <p:nvSpPr>
          <p:cNvPr id="8" name="TextBox 7"/>
          <p:cNvSpPr txBox="1"/>
          <p:nvPr/>
        </p:nvSpPr>
        <p:spPr>
          <a:xfrm>
            <a:off x="1737360" y="1252728"/>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Mon · Carousel</a:t>
            </a:r>
          </a:p>
        </p:txBody>
      </p:sp>
      <p:sp>
        <p:nvSpPr>
          <p:cNvPr id="9" name="TextBox 8"/>
          <p:cNvSpPr txBox="1"/>
          <p:nvPr/>
        </p:nvSpPr>
        <p:spPr>
          <a:xfrm>
            <a:off x="2743200" y="1252728"/>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Inside Sudair City: the site, the people, the day</a:t>
            </a:r>
          </a:p>
        </p:txBody>
      </p:sp>
      <p:sp>
        <p:nvSpPr>
          <p:cNvPr id="10" name="TextBox 9"/>
          <p:cNvSpPr txBox="1"/>
          <p:nvPr/>
        </p:nvSpPr>
        <p:spPr>
          <a:xfrm>
            <a:off x="7772400" y="1252728"/>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Meet the makers</a:t>
            </a:r>
          </a:p>
        </p:txBody>
      </p:sp>
      <p:sp>
        <p:nvSpPr>
          <p:cNvPr id="11" name="TextBox 10"/>
          <p:cNvSpPr txBox="1"/>
          <p:nvPr/>
        </p:nvSpPr>
        <p:spPr>
          <a:xfrm>
            <a:off x="9875520" y="1252728"/>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T6 · REAL+GENERATED</a:t>
            </a:r>
          </a:p>
        </p:txBody>
      </p:sp>
      <p:sp>
        <p:nvSpPr>
          <p:cNvPr id="12" name="Rectangle 11"/>
          <p:cNvSpPr/>
          <p:nvPr/>
        </p:nvSpPr>
        <p:spPr>
          <a:xfrm>
            <a:off x="457200" y="1618488"/>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636776"/>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NOV-L02  11-04</a:t>
            </a:r>
          </a:p>
        </p:txBody>
      </p:sp>
      <p:sp>
        <p:nvSpPr>
          <p:cNvPr id="14" name="TextBox 13"/>
          <p:cNvSpPr txBox="1"/>
          <p:nvPr/>
        </p:nvSpPr>
        <p:spPr>
          <a:xfrm>
            <a:off x="1737360" y="1636776"/>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Wed · Carousel</a:t>
            </a:r>
          </a:p>
        </p:txBody>
      </p:sp>
      <p:sp>
        <p:nvSpPr>
          <p:cNvPr id="15" name="TextBox 14"/>
          <p:cNvSpPr txBox="1"/>
          <p:nvPr/>
        </p:nvSpPr>
        <p:spPr>
          <a:xfrm>
            <a:off x="2743200" y="1636776"/>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Careers at Sudair: what working here looks like</a:t>
            </a:r>
          </a:p>
        </p:txBody>
      </p:sp>
      <p:sp>
        <p:nvSpPr>
          <p:cNvPr id="16" name="TextBox 15"/>
          <p:cNvSpPr txBox="1"/>
          <p:nvPr/>
        </p:nvSpPr>
        <p:spPr>
          <a:xfrm>
            <a:off x="7772400" y="1636776"/>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People and careers</a:t>
            </a:r>
          </a:p>
        </p:txBody>
      </p:sp>
      <p:sp>
        <p:nvSpPr>
          <p:cNvPr id="17" name="TextBox 16"/>
          <p:cNvSpPr txBox="1"/>
          <p:nvPr/>
        </p:nvSpPr>
        <p:spPr>
          <a:xfrm>
            <a:off x="9875520" y="1636776"/>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T3 · REAL</a:t>
            </a:r>
          </a:p>
        </p:txBody>
      </p:sp>
      <p:sp>
        <p:nvSpPr>
          <p:cNvPr id="18" name="Rectangle 17"/>
          <p:cNvSpPr/>
          <p:nvPr/>
        </p:nvSpPr>
        <p:spPr>
          <a:xfrm>
            <a:off x="457200" y="2002536"/>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020824"/>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NOV-L03  11-09</a:t>
            </a:r>
          </a:p>
        </p:txBody>
      </p:sp>
      <p:sp>
        <p:nvSpPr>
          <p:cNvPr id="20" name="TextBox 19"/>
          <p:cNvSpPr txBox="1"/>
          <p:nvPr/>
        </p:nvSpPr>
        <p:spPr>
          <a:xfrm>
            <a:off x="1737360" y="2020824"/>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Mon · Carousel</a:t>
            </a:r>
          </a:p>
        </p:txBody>
      </p:sp>
      <p:sp>
        <p:nvSpPr>
          <p:cNvPr id="21" name="TextBox 20"/>
          <p:cNvSpPr txBox="1"/>
          <p:nvPr/>
        </p:nvSpPr>
        <p:spPr>
          <a:xfrm>
            <a:off x="2743200" y="2020824"/>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World Diabetes Day: a thank-you to the people who care</a:t>
            </a:r>
          </a:p>
        </p:txBody>
      </p:sp>
      <p:sp>
        <p:nvSpPr>
          <p:cNvPr id="22" name="TextBox 21"/>
          <p:cNvSpPr txBox="1"/>
          <p:nvPr/>
        </p:nvSpPr>
        <p:spPr>
          <a:xfrm>
            <a:off x="7772400" y="2020824"/>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Awareness days</a:t>
            </a:r>
          </a:p>
        </p:txBody>
      </p:sp>
      <p:sp>
        <p:nvSpPr>
          <p:cNvPr id="23" name="TextBox 22"/>
          <p:cNvSpPr txBox="1"/>
          <p:nvPr/>
        </p:nvSpPr>
        <p:spPr>
          <a:xfrm>
            <a:off x="9875520" y="2020824"/>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T8 · GENERATED</a:t>
            </a:r>
          </a:p>
        </p:txBody>
      </p:sp>
      <p:sp>
        <p:nvSpPr>
          <p:cNvPr id="24" name="Rectangle 23"/>
          <p:cNvSpPr/>
          <p:nvPr/>
        </p:nvSpPr>
        <p:spPr>
          <a:xfrm>
            <a:off x="457200" y="2386584"/>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2404872"/>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NOV-L04  11-11</a:t>
            </a:r>
          </a:p>
        </p:txBody>
      </p:sp>
      <p:sp>
        <p:nvSpPr>
          <p:cNvPr id="26" name="TextBox 25"/>
          <p:cNvSpPr txBox="1"/>
          <p:nvPr/>
        </p:nvSpPr>
        <p:spPr>
          <a:xfrm>
            <a:off x="1737360" y="2404872"/>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Wed · Carousel</a:t>
            </a:r>
          </a:p>
        </p:txBody>
      </p:sp>
      <p:sp>
        <p:nvSpPr>
          <p:cNvPr id="27" name="TextBox 26"/>
          <p:cNvSpPr txBox="1"/>
          <p:nvPr/>
        </p:nvSpPr>
        <p:spPr>
          <a:xfrm>
            <a:off x="2743200" y="2404872"/>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Thank you, pharmacists</a:t>
            </a:r>
          </a:p>
        </p:txBody>
      </p:sp>
      <p:sp>
        <p:nvSpPr>
          <p:cNvPr id="28" name="TextBox 27"/>
          <p:cNvSpPr txBox="1"/>
          <p:nvPr/>
        </p:nvSpPr>
        <p:spPr>
          <a:xfrm>
            <a:off x="7772400" y="2404872"/>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Year and community</a:t>
            </a:r>
          </a:p>
        </p:txBody>
      </p:sp>
      <p:sp>
        <p:nvSpPr>
          <p:cNvPr id="29" name="TextBox 28"/>
          <p:cNvSpPr txBox="1"/>
          <p:nvPr/>
        </p:nvSpPr>
        <p:spPr>
          <a:xfrm>
            <a:off x="9875520" y="2404872"/>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T4 · GENERATED</a:t>
            </a:r>
          </a:p>
        </p:txBody>
      </p:sp>
      <p:sp>
        <p:nvSpPr>
          <p:cNvPr id="30" name="Rectangle 29"/>
          <p:cNvSpPr/>
          <p:nvPr/>
        </p:nvSpPr>
        <p:spPr>
          <a:xfrm>
            <a:off x="457200" y="2770632"/>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2788920"/>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NOV-L05  11-16</a:t>
            </a:r>
          </a:p>
        </p:txBody>
      </p:sp>
      <p:sp>
        <p:nvSpPr>
          <p:cNvPr id="32" name="TextBox 31"/>
          <p:cNvSpPr txBox="1"/>
          <p:nvPr/>
        </p:nvSpPr>
        <p:spPr>
          <a:xfrm>
            <a:off x="1737360" y="2788920"/>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Mon · Carousel</a:t>
            </a:r>
          </a:p>
        </p:txBody>
      </p:sp>
      <p:sp>
        <p:nvSpPr>
          <p:cNvPr id="33" name="TextBox 32"/>
          <p:cNvSpPr txBox="1"/>
          <p:nvPr/>
        </p:nvSpPr>
        <p:spPr>
          <a:xfrm>
            <a:off x="2743200" y="2788920"/>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Women and men of Sudair: a working day</a:t>
            </a:r>
          </a:p>
        </p:txBody>
      </p:sp>
      <p:sp>
        <p:nvSpPr>
          <p:cNvPr id="34" name="TextBox 33"/>
          <p:cNvSpPr txBox="1"/>
          <p:nvPr/>
        </p:nvSpPr>
        <p:spPr>
          <a:xfrm>
            <a:off x="7772400" y="2788920"/>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Meet the makers</a:t>
            </a:r>
          </a:p>
        </p:txBody>
      </p:sp>
      <p:sp>
        <p:nvSpPr>
          <p:cNvPr id="35" name="TextBox 34"/>
          <p:cNvSpPr txBox="1"/>
          <p:nvPr/>
        </p:nvSpPr>
        <p:spPr>
          <a:xfrm>
            <a:off x="9875520" y="2788920"/>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T2 · REAL</a:t>
            </a:r>
          </a:p>
        </p:txBody>
      </p:sp>
      <p:sp>
        <p:nvSpPr>
          <p:cNvPr id="36" name="Rectangle 35"/>
          <p:cNvSpPr/>
          <p:nvPr/>
        </p:nvSpPr>
        <p:spPr>
          <a:xfrm>
            <a:off x="457200" y="3154679"/>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3172968"/>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NOV-L06  11-18</a:t>
            </a:r>
          </a:p>
        </p:txBody>
      </p:sp>
      <p:sp>
        <p:nvSpPr>
          <p:cNvPr id="38" name="TextBox 37"/>
          <p:cNvSpPr txBox="1"/>
          <p:nvPr/>
        </p:nvSpPr>
        <p:spPr>
          <a:xfrm>
            <a:off x="1737360" y="3172968"/>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Wed · Carousel</a:t>
            </a:r>
          </a:p>
        </p:txBody>
      </p:sp>
      <p:sp>
        <p:nvSpPr>
          <p:cNvPr id="39" name="TextBox 38"/>
          <p:cNvSpPr txBox="1"/>
          <p:nvPr/>
        </p:nvSpPr>
        <p:spPr>
          <a:xfrm>
            <a:off x="2743200" y="3172968"/>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Why we build here: local industry, in plain words</a:t>
            </a:r>
          </a:p>
        </p:txBody>
      </p:sp>
      <p:sp>
        <p:nvSpPr>
          <p:cNvPr id="40" name="TextBox 39"/>
          <p:cNvSpPr txBox="1"/>
          <p:nvPr/>
        </p:nvSpPr>
        <p:spPr>
          <a:xfrm>
            <a:off x="7772400" y="3172968"/>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Local manufacturing</a:t>
            </a:r>
          </a:p>
        </p:txBody>
      </p:sp>
      <p:sp>
        <p:nvSpPr>
          <p:cNvPr id="41" name="TextBox 40"/>
          <p:cNvSpPr txBox="1"/>
          <p:nvPr/>
        </p:nvSpPr>
        <p:spPr>
          <a:xfrm>
            <a:off x="9875520" y="3172968"/>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T7 · REAL+GENERATED</a:t>
            </a:r>
          </a:p>
        </p:txBody>
      </p:sp>
      <p:sp>
        <p:nvSpPr>
          <p:cNvPr id="42" name="Rectangle 41"/>
          <p:cNvSpPr/>
          <p:nvPr/>
        </p:nvSpPr>
        <p:spPr>
          <a:xfrm>
            <a:off x="457200" y="3538727"/>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3557015"/>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NOV-L07  11-23</a:t>
            </a:r>
          </a:p>
        </p:txBody>
      </p:sp>
      <p:sp>
        <p:nvSpPr>
          <p:cNvPr id="44" name="TextBox 43"/>
          <p:cNvSpPr txBox="1"/>
          <p:nvPr/>
        </p:nvSpPr>
        <p:spPr>
          <a:xfrm>
            <a:off x="1737360" y="3557015"/>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Mon · Carousel</a:t>
            </a:r>
          </a:p>
        </p:txBody>
      </p:sp>
      <p:sp>
        <p:nvSpPr>
          <p:cNvPr id="45" name="TextBox 44"/>
          <p:cNvSpPr txBox="1"/>
          <p:nvPr/>
        </p:nvSpPr>
        <p:spPr>
          <a:xfrm>
            <a:off x="2743200" y="3557015"/>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Graduates and early careers: what we look for</a:t>
            </a:r>
          </a:p>
        </p:txBody>
      </p:sp>
      <p:sp>
        <p:nvSpPr>
          <p:cNvPr id="46" name="TextBox 45"/>
          <p:cNvSpPr txBox="1"/>
          <p:nvPr/>
        </p:nvSpPr>
        <p:spPr>
          <a:xfrm>
            <a:off x="7772400" y="3557015"/>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People and careers</a:t>
            </a:r>
          </a:p>
        </p:txBody>
      </p:sp>
      <p:sp>
        <p:nvSpPr>
          <p:cNvPr id="47" name="TextBox 46"/>
          <p:cNvSpPr txBox="1"/>
          <p:nvPr/>
        </p:nvSpPr>
        <p:spPr>
          <a:xfrm>
            <a:off x="9875520" y="3557015"/>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T1 · REAL+GENERATED</a:t>
            </a:r>
          </a:p>
        </p:txBody>
      </p:sp>
      <p:sp>
        <p:nvSpPr>
          <p:cNvPr id="48" name="Rectangle 47"/>
          <p:cNvSpPr/>
          <p:nvPr/>
        </p:nvSpPr>
        <p:spPr>
          <a:xfrm>
            <a:off x="457200" y="3922776"/>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2920" y="3941063"/>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NOV-L08  11-25</a:t>
            </a:r>
          </a:p>
        </p:txBody>
      </p:sp>
      <p:sp>
        <p:nvSpPr>
          <p:cNvPr id="50" name="TextBox 49"/>
          <p:cNvSpPr txBox="1"/>
          <p:nvPr/>
        </p:nvSpPr>
        <p:spPr>
          <a:xfrm>
            <a:off x="1737360" y="3941063"/>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Wed · Carousel</a:t>
            </a:r>
          </a:p>
        </p:txBody>
      </p:sp>
      <p:sp>
        <p:nvSpPr>
          <p:cNvPr id="51" name="TextBox 50"/>
          <p:cNvSpPr txBox="1"/>
          <p:nvPr/>
        </p:nvSpPr>
        <p:spPr>
          <a:xfrm>
            <a:off x="2743200" y="3941063"/>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Careers: join the line</a:t>
            </a:r>
          </a:p>
        </p:txBody>
      </p:sp>
      <p:sp>
        <p:nvSpPr>
          <p:cNvPr id="52" name="TextBox 51"/>
          <p:cNvSpPr txBox="1"/>
          <p:nvPr/>
        </p:nvSpPr>
        <p:spPr>
          <a:xfrm>
            <a:off x="7772400" y="3941063"/>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People and careers</a:t>
            </a:r>
          </a:p>
        </p:txBody>
      </p:sp>
      <p:sp>
        <p:nvSpPr>
          <p:cNvPr id="53" name="TextBox 52"/>
          <p:cNvSpPr txBox="1"/>
          <p:nvPr/>
        </p:nvSpPr>
        <p:spPr>
          <a:xfrm>
            <a:off x="9875520" y="3941063"/>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T2 · REAL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NOV-F01 · COVER</a:t>
            </a:r>
          </a:p>
          <a:p>
            <a:pPr algn="ctr"/>
            <a:r>
              <a:rPr sz="900" b="1" i="0">
                <a:solidFill>
                  <a:srgbClr val="5B6B63"/>
                </a:solidFill>
                <a:latin typeface="Segoe UI"/>
                <a:cs typeface="Tahoma"/>
              </a:rPr>
              <a:t>9:16</a:t>
            </a:r>
          </a:p>
        </p:txBody>
      </p:sp>
      <p:sp>
        <p:nvSpPr>
          <p:cNvPr id="5" name="TextBox 4"/>
          <p:cNvSpPr txBox="1"/>
          <p:nvPr/>
        </p:nvSpPr>
        <p:spPr>
          <a:xfrm>
            <a:off x="457200" y="2877312"/>
            <a:ext cx="1371600" cy="64008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Cover</a:t>
            </a:r>
          </a:p>
          <a:p>
            <a:pPr rtl="1" algn="r"/>
            <a:r>
              <a:rPr sz="850" b="0" i="0">
                <a:solidFill>
                  <a:srgbClr val="5B6B63"/>
                </a:solidFill>
                <a:latin typeface="Segoe UI"/>
                <a:cs typeface="Tahoma"/>
              </a:rPr>
              <a:t>يومٌ في مدينة سدير</a:t>
            </a:r>
          </a:p>
        </p:txBody>
      </p:sp>
      <p:sp>
        <p:nvSpPr>
          <p:cNvPr id="6" name="Rounded Rectangle 5"/>
          <p:cNvSpPr/>
          <p:nvPr/>
        </p:nvSpPr>
        <p:spPr>
          <a:xfrm>
            <a:off x="1901952"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01952"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NOV-F01 · SHOT 1</a:t>
            </a:r>
          </a:p>
          <a:p>
            <a:pPr algn="ctr"/>
            <a:r>
              <a:rPr sz="900" b="1" i="0">
                <a:solidFill>
                  <a:srgbClr val="5B6B63"/>
                </a:solidFill>
                <a:latin typeface="Segoe UI"/>
                <a:cs typeface="Tahoma"/>
              </a:rPr>
              <a:t>0s to 3s</a:t>
            </a:r>
          </a:p>
        </p:txBody>
      </p:sp>
      <p:sp>
        <p:nvSpPr>
          <p:cNvPr id="8" name="TextBox 7"/>
          <p:cNvSpPr txBox="1"/>
          <p:nvPr/>
        </p:nvSpPr>
        <p:spPr>
          <a:xfrm>
            <a:off x="1901952"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0–3s</a:t>
            </a:r>
          </a:p>
          <a:p>
            <a:pPr rtl="1" algn="r"/>
            <a:r>
              <a:rPr sz="800" b="0" i="0">
                <a:solidFill>
                  <a:srgbClr val="5B6B63"/>
                </a:solidFill>
                <a:latin typeface="Segoe UI"/>
                <a:cs typeface="Tahoma"/>
              </a:rPr>
              <a:t>مدينة سدير</a:t>
            </a:r>
          </a:p>
          <a:p>
            <a:pPr algn="l"/>
            <a:r>
              <a:rPr sz="800" b="0" i="0">
                <a:solidFill>
                  <a:srgbClr val="5B6B63"/>
                </a:solidFill>
                <a:latin typeface="Segoe UI"/>
                <a:cs typeface="Tahoma"/>
              </a:rPr>
              <a:t>Sudair City</a:t>
            </a:r>
          </a:p>
        </p:txBody>
      </p:sp>
      <p:sp>
        <p:nvSpPr>
          <p:cNvPr id="9" name="Rounded Rectangle 8"/>
          <p:cNvSpPr/>
          <p:nvPr/>
        </p:nvSpPr>
        <p:spPr>
          <a:xfrm>
            <a:off x="3346704"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46704"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NOV-F01 · SHOT 2</a:t>
            </a:r>
          </a:p>
          <a:p>
            <a:pPr algn="ctr"/>
            <a:r>
              <a:rPr sz="900" b="1" i="0">
                <a:solidFill>
                  <a:srgbClr val="5B6B63"/>
                </a:solidFill>
                <a:latin typeface="Segoe UI"/>
                <a:cs typeface="Tahoma"/>
              </a:rPr>
              <a:t>3s to 7s</a:t>
            </a:r>
          </a:p>
        </p:txBody>
      </p:sp>
      <p:sp>
        <p:nvSpPr>
          <p:cNvPr id="11" name="TextBox 10"/>
          <p:cNvSpPr txBox="1"/>
          <p:nvPr/>
        </p:nvSpPr>
        <p:spPr>
          <a:xfrm>
            <a:off x="3346704"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3–7s</a:t>
            </a:r>
          </a:p>
          <a:p>
            <a:pPr rtl="1" algn="r"/>
            <a:r>
              <a:rPr sz="800" b="0" i="0">
                <a:solidFill>
                  <a:srgbClr val="5B6B63"/>
                </a:solidFill>
                <a:latin typeface="Segoe UI"/>
                <a:cs typeface="Tahoma"/>
              </a:rPr>
              <a:t>في قلب نجد</a:t>
            </a:r>
          </a:p>
          <a:p>
            <a:pPr algn="l"/>
            <a:r>
              <a:rPr sz="800" b="0" i="0">
                <a:solidFill>
                  <a:srgbClr val="5B6B63"/>
                </a:solidFill>
                <a:latin typeface="Segoe UI"/>
                <a:cs typeface="Tahoma"/>
              </a:rPr>
              <a:t>In the heart of Najd</a:t>
            </a:r>
          </a:p>
        </p:txBody>
      </p:sp>
      <p:sp>
        <p:nvSpPr>
          <p:cNvPr id="12" name="Rounded Rectangle 11"/>
          <p:cNvSpPr/>
          <p:nvPr/>
        </p:nvSpPr>
        <p:spPr>
          <a:xfrm>
            <a:off x="4791456"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91456"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NOV-F01 · SHOT 3</a:t>
            </a:r>
          </a:p>
          <a:p>
            <a:pPr algn="ctr"/>
            <a:r>
              <a:rPr sz="900" b="1" i="0">
                <a:solidFill>
                  <a:srgbClr val="5B6B63"/>
                </a:solidFill>
                <a:latin typeface="Segoe UI"/>
                <a:cs typeface="Tahoma"/>
              </a:rPr>
              <a:t>7s to 10s</a:t>
            </a:r>
          </a:p>
        </p:txBody>
      </p:sp>
      <p:sp>
        <p:nvSpPr>
          <p:cNvPr id="14" name="TextBox 13"/>
          <p:cNvSpPr txBox="1"/>
          <p:nvPr/>
        </p:nvSpPr>
        <p:spPr>
          <a:xfrm>
            <a:off x="4791456"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7–10s</a:t>
            </a:r>
          </a:p>
          <a:p>
            <a:pPr rtl="1" algn="r"/>
            <a:r>
              <a:rPr sz="800" b="0" i="0">
                <a:solidFill>
                  <a:srgbClr val="5B6B63"/>
                </a:solidFill>
                <a:latin typeface="Segoe UI"/>
                <a:cs typeface="Tahoma"/>
              </a:rPr>
              <a:t>وجوهٌ تعرفه</a:t>
            </a:r>
          </a:p>
          <a:p>
            <a:pPr algn="l"/>
            <a:r>
              <a:rPr sz="800" b="0" i="0">
                <a:solidFill>
                  <a:srgbClr val="5B6B63"/>
                </a:solidFill>
                <a:latin typeface="Segoe UI"/>
                <a:cs typeface="Tahoma"/>
              </a:rPr>
              <a:t>Faces that know it</a:t>
            </a:r>
          </a:p>
        </p:txBody>
      </p:sp>
      <p:sp>
        <p:nvSpPr>
          <p:cNvPr id="15" name="Rounded Rectangle 14"/>
          <p:cNvSpPr/>
          <p:nvPr/>
        </p:nvSpPr>
        <p:spPr>
          <a:xfrm>
            <a:off x="6236208"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36208"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NOV-F01 · SHOT 4</a:t>
            </a:r>
          </a:p>
          <a:p>
            <a:pPr algn="ctr"/>
            <a:r>
              <a:rPr sz="900" b="1" i="0">
                <a:solidFill>
                  <a:srgbClr val="5B6B63"/>
                </a:solidFill>
                <a:latin typeface="Segoe UI"/>
                <a:cs typeface="Tahoma"/>
              </a:rPr>
              <a:t>10s to 14s</a:t>
            </a:r>
          </a:p>
        </p:txBody>
      </p:sp>
      <p:sp>
        <p:nvSpPr>
          <p:cNvPr id="17" name="TextBox 16"/>
          <p:cNvSpPr txBox="1"/>
          <p:nvPr/>
        </p:nvSpPr>
        <p:spPr>
          <a:xfrm>
            <a:off x="6236208"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10–14s</a:t>
            </a:r>
          </a:p>
          <a:p>
            <a:pPr rtl="1" algn="r"/>
            <a:r>
              <a:rPr sz="800" b="0" i="0">
                <a:solidFill>
                  <a:srgbClr val="5B6B63"/>
                </a:solidFill>
                <a:latin typeface="Segoe UI"/>
                <a:cs typeface="Tahoma"/>
              </a:rPr>
              <a:t>أيدٌ هادئة</a:t>
            </a:r>
          </a:p>
          <a:p>
            <a:pPr algn="l"/>
            <a:r>
              <a:rPr sz="800" b="0" i="0">
                <a:solidFill>
                  <a:srgbClr val="5B6B63"/>
                </a:solidFill>
                <a:latin typeface="Segoe UI"/>
                <a:cs typeface="Tahoma"/>
              </a:rPr>
              <a:t>Quiet hands</a:t>
            </a:r>
          </a:p>
        </p:txBody>
      </p:sp>
      <p:sp>
        <p:nvSpPr>
          <p:cNvPr id="18" name="Rounded Rectangle 17"/>
          <p:cNvSpPr/>
          <p:nvPr/>
        </p:nvSpPr>
        <p:spPr>
          <a:xfrm>
            <a:off x="7680960"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0"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NOV-F01 · SHOT 5</a:t>
            </a:r>
          </a:p>
          <a:p>
            <a:pPr algn="ctr"/>
            <a:r>
              <a:rPr sz="900" b="1" i="0">
                <a:solidFill>
                  <a:srgbClr val="5B6B63"/>
                </a:solidFill>
                <a:latin typeface="Segoe UI"/>
                <a:cs typeface="Tahoma"/>
              </a:rPr>
              <a:t>14s to 17s</a:t>
            </a:r>
          </a:p>
        </p:txBody>
      </p:sp>
      <p:sp>
        <p:nvSpPr>
          <p:cNvPr id="20" name="TextBox 19"/>
          <p:cNvSpPr txBox="1"/>
          <p:nvPr/>
        </p:nvSpPr>
        <p:spPr>
          <a:xfrm>
            <a:off x="7680960"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14–17s</a:t>
            </a:r>
          </a:p>
          <a:p>
            <a:pPr rtl="1" algn="r"/>
            <a:r>
              <a:rPr sz="800" b="0" i="0">
                <a:solidFill>
                  <a:srgbClr val="5B6B63"/>
                </a:solidFill>
                <a:latin typeface="Segoe UI"/>
                <a:cs typeface="Tahoma"/>
              </a:rPr>
              <a:t>فريقٌ واحد</a:t>
            </a:r>
          </a:p>
          <a:p>
            <a:pPr algn="l"/>
            <a:r>
              <a:rPr sz="800" b="0" i="0">
                <a:solidFill>
                  <a:srgbClr val="5B6B63"/>
                </a:solidFill>
                <a:latin typeface="Segoe UI"/>
                <a:cs typeface="Tahoma"/>
              </a:rPr>
              <a:t>One team</a:t>
            </a:r>
          </a:p>
        </p:txBody>
      </p:sp>
      <p:sp>
        <p:nvSpPr>
          <p:cNvPr id="21" name="Rounded Rectangle 20"/>
          <p:cNvSpPr/>
          <p:nvPr/>
        </p:nvSpPr>
        <p:spPr>
          <a:xfrm>
            <a:off x="9125712"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25712"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NOV-F01 · SHOT 6</a:t>
            </a:r>
          </a:p>
          <a:p>
            <a:pPr algn="ctr"/>
            <a:r>
              <a:rPr sz="900" b="1" i="0">
                <a:solidFill>
                  <a:srgbClr val="5B6B63"/>
                </a:solidFill>
                <a:latin typeface="Segoe UI"/>
                <a:cs typeface="Tahoma"/>
              </a:rPr>
              <a:t>17s to 20s</a:t>
            </a:r>
          </a:p>
        </p:txBody>
      </p:sp>
      <p:sp>
        <p:nvSpPr>
          <p:cNvPr id="23" name="TextBox 22"/>
          <p:cNvSpPr txBox="1"/>
          <p:nvPr/>
        </p:nvSpPr>
        <p:spPr>
          <a:xfrm>
            <a:off x="9125712"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17–20s</a:t>
            </a:r>
          </a:p>
          <a:p>
            <a:pPr rtl="1" algn="r"/>
            <a:r>
              <a:rPr sz="800" b="0" i="0">
                <a:solidFill>
                  <a:srgbClr val="5B6B63"/>
                </a:solidFill>
                <a:latin typeface="Segoe UI"/>
                <a:cs typeface="Tahoma"/>
              </a:rPr>
              <a:t>صناعة تُرى، وأثر يُقاس.  sudairpharma.com</a:t>
            </a:r>
          </a:p>
          <a:p>
            <a:pPr algn="l"/>
            <a:r>
              <a:rPr sz="800" b="0" i="0">
                <a:solidFill>
                  <a:srgbClr val="5B6B63"/>
                </a:solidFill>
                <a:latin typeface="Segoe UI"/>
                <a:cs typeface="Tahoma"/>
              </a:rPr>
              <a:t>Visible capability. Measurable impact.  sudairpharma.com</a:t>
            </a:r>
          </a:p>
        </p:txBody>
      </p:sp>
      <p:sp>
        <p:nvSpPr>
          <p:cNvPr id="24" name="Rounded Rectangle 23"/>
          <p:cNvSpPr/>
          <p:nvPr/>
        </p:nvSpPr>
        <p:spPr>
          <a:xfrm>
            <a:off x="457200" y="376428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76428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NOV-F01 · Sun 2026-11-01 · Instagram + Facebook · Reel</a:t>
            </a:r>
          </a:p>
        </p:txBody>
      </p:sp>
      <p:sp>
        <p:nvSpPr>
          <p:cNvPr id="26" name="TextBox 25"/>
          <p:cNvSpPr txBox="1"/>
          <p:nvPr/>
        </p:nvSpPr>
        <p:spPr>
          <a:xfrm>
            <a:off x="457200" y="422148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A day at Sudair City  ·  Meet the makers  ·  T6 Key-visual petal</a:t>
            </a:r>
          </a:p>
        </p:txBody>
      </p:sp>
      <p:sp>
        <p:nvSpPr>
          <p:cNvPr id="27" name="TextBox 26"/>
          <p:cNvSpPr txBox="1"/>
          <p:nvPr/>
        </p:nvSpPr>
        <p:spPr>
          <a:xfrm>
            <a:off x="457200" y="4568952"/>
            <a:ext cx="11247120"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يومٌ في مدينة سدير</a:t>
            </a:r>
          </a:p>
        </p:txBody>
      </p:sp>
      <p:sp>
        <p:nvSpPr>
          <p:cNvPr id="28" name="TextBox 27"/>
          <p:cNvSpPr txBox="1"/>
          <p:nvPr/>
        </p:nvSpPr>
        <p:spPr>
          <a:xfrm>
            <a:off x="457200" y="4980432"/>
            <a:ext cx="11247120"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كما يعيشه أهله</a:t>
            </a:r>
          </a:p>
        </p:txBody>
      </p:sp>
      <p:sp>
        <p:nvSpPr>
          <p:cNvPr id="29" name="TextBox 28"/>
          <p:cNvSpPr txBox="1"/>
          <p:nvPr/>
        </p:nvSpPr>
        <p:spPr>
          <a:xfrm>
            <a:off x="457200" y="5327904"/>
            <a:ext cx="11247120"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A day at Sudair City · Told by the people who live it</a:t>
            </a:r>
          </a:p>
        </p:txBody>
      </p:sp>
      <p:sp>
        <p:nvSpPr>
          <p:cNvPr id="30" name="TextBox 29"/>
          <p:cNvSpPr txBox="1"/>
          <p:nvPr/>
        </p:nvSpPr>
        <p:spPr>
          <a:xfrm>
            <a:off x="457200" y="5785104"/>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Sudair City is a place with people in it. Cover frame in the key-visual petal style: dark emerald left side for the headline, three tall glowing petal windows in a fan above the real campus at golden hour with palms and warm walkway lights; inside the petals a drone view of the site, steady hands at a bench and a team standing together. Calm, cinematic, no product, no readable label, logo area top-left kept </a:t>
            </a:r>
          </a:p>
        </p:txBody>
      </p:sp>
      <p:sp>
        <p:nvSpPr>
          <p:cNvPr id="31" name="TextBox 30"/>
          <p:cNvSpPr txBox="1"/>
          <p:nvPr/>
        </p:nvSpPr>
        <p:spPr>
          <a:xfrm>
            <a:off x="457200" y="6562344"/>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A001  Collective footage-20261001T081156Z-1-008/Collective footage/DJI_20260121084222_0001_D.MOV | A002  Collective footage-20261001T081156Z-1-008/Collective footage/DJI_20260121084636_0010_D.MOV | A013  Collective footage-20261001T081156Z-1-008/Collective footage/Camera/2/jaradi20260121_8608.MP4 | </a:t>
            </a:r>
          </a:p>
        </p:txBody>
      </p:sp>
      <p:sp>
        <p:nvSpPr>
          <p:cNvPr id="32" name="TextBox 31"/>
          <p:cNvSpPr txBox="1"/>
          <p:nvPr/>
        </p:nvSpPr>
        <p:spPr>
          <a:xfrm>
            <a:off x="457200" y="7110984"/>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يبدأ يومنا في مدينة سدير مع ضوء الصباح، ويمتد بين وجوهٍ وأيدٍ وأماكن نعرفها جيدًا. نصحبكم اليوم في جولة قصيرة من الجو إلى الوجوه. تابعونا طوال الشهر لنتعمّق أكثر في الناس والمكان.</a:t>
            </a:r>
          </a:p>
          <a:p>
            <a:pPr algn="l"/>
            <a:r>
              <a:rPr sz="900" b="0" i="0">
                <a:solidFill>
                  <a:srgbClr val="142B22"/>
                </a:solidFill>
                <a:latin typeface="Segoe UI"/>
                <a:cs typeface="Tahoma"/>
              </a:rPr>
              <a:t>EN: Our day begins in Sudair City with the morning light and moves through faces, hands and places we know well. Come along on a short tour, from the sky down to the faces. Stay with us this month as we go deeper into the people and the place.</a:t>
            </a:r>
          </a:p>
        </p:txBody>
      </p:sp>
      <p:sp>
        <p:nvSpPr>
          <p:cNvPr id="33" name="TextBox 32"/>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People at work only; no process explained, no figures, no assurance wording; frame A013 to faces and hands so no pack or label reads.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NOV-L01 · S1</a:t>
            </a:r>
          </a:p>
          <a:p>
            <a:pPr algn="ctr"/>
            <a:r>
              <a:rPr sz="900" b="1" i="0">
                <a:solidFill>
                  <a:srgbClr val="5B6B63"/>
                </a:solidFill>
                <a:latin typeface="Segoe UI"/>
                <a:cs typeface="Tahoma"/>
              </a:rPr>
              <a:t>1080 × 1350</a:t>
            </a:r>
          </a:p>
        </p:txBody>
      </p:sp>
      <p:sp>
        <p:nvSpPr>
          <p:cNvPr id="5" name="TextBox 4"/>
          <p:cNvSpPr txBox="1"/>
          <p:nvPr/>
        </p:nvSpPr>
        <p:spPr>
          <a:xfrm>
            <a:off x="45720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داخل مدينة سدير</a:t>
            </a:r>
          </a:p>
          <a:p>
            <a:pPr algn="l"/>
            <a:r>
              <a:rPr sz="850" b="0" i="0">
                <a:solidFill>
                  <a:srgbClr val="5B6B63"/>
                </a:solidFill>
                <a:latin typeface="Segoe UI"/>
                <a:cs typeface="Tahoma"/>
              </a:rPr>
              <a:t>Inside Sudair City</a:t>
            </a:r>
          </a:p>
        </p:txBody>
      </p:sp>
      <p:sp>
        <p:nvSpPr>
          <p:cNvPr id="6" name="Rounded Rectangle 5"/>
          <p:cNvSpPr/>
          <p:nvPr/>
        </p:nvSpPr>
        <p:spPr>
          <a:xfrm>
            <a:off x="265176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NOV-L01 · S2</a:t>
            </a:r>
          </a:p>
          <a:p>
            <a:pPr algn="ctr"/>
            <a:r>
              <a:rPr sz="900" b="1" i="0">
                <a:solidFill>
                  <a:srgbClr val="5B6B63"/>
                </a:solidFill>
                <a:latin typeface="Segoe UI"/>
                <a:cs typeface="Tahoma"/>
              </a:rPr>
              <a:t>1080 × 1350</a:t>
            </a:r>
          </a:p>
        </p:txBody>
      </p:sp>
      <p:sp>
        <p:nvSpPr>
          <p:cNvPr id="8" name="TextBox 7"/>
          <p:cNvSpPr txBox="1"/>
          <p:nvPr/>
        </p:nvSpPr>
        <p:spPr>
          <a:xfrm>
            <a:off x="265176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مكانٌ في قلب نجد</a:t>
            </a:r>
          </a:p>
          <a:p>
            <a:pPr algn="l"/>
            <a:r>
              <a:rPr sz="850" b="0" i="0">
                <a:solidFill>
                  <a:srgbClr val="5B6B63"/>
                </a:solidFill>
                <a:latin typeface="Segoe UI"/>
                <a:cs typeface="Tahoma"/>
              </a:rPr>
              <a:t>A place in Najd called Sudair</a:t>
            </a:r>
          </a:p>
        </p:txBody>
      </p:sp>
      <p:sp>
        <p:nvSpPr>
          <p:cNvPr id="9" name="Rounded Rectangle 8"/>
          <p:cNvSpPr/>
          <p:nvPr/>
        </p:nvSpPr>
        <p:spPr>
          <a:xfrm>
            <a:off x="484632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NOV-L01 · S3</a:t>
            </a:r>
          </a:p>
          <a:p>
            <a:pPr algn="ctr"/>
            <a:r>
              <a:rPr sz="900" b="1" i="0">
                <a:solidFill>
                  <a:srgbClr val="5B6B63"/>
                </a:solidFill>
                <a:latin typeface="Segoe UI"/>
                <a:cs typeface="Tahoma"/>
              </a:rPr>
              <a:t>1080 × 1350</a:t>
            </a:r>
          </a:p>
        </p:txBody>
      </p:sp>
      <p:sp>
        <p:nvSpPr>
          <p:cNvPr id="11" name="TextBox 10"/>
          <p:cNvSpPr txBox="1"/>
          <p:nvPr/>
        </p:nvSpPr>
        <p:spPr>
          <a:xfrm>
            <a:off x="484632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idea</a:t>
            </a:r>
          </a:p>
          <a:p>
            <a:pPr rtl="1" algn="r"/>
            <a:r>
              <a:rPr sz="850" b="0" i="0">
                <a:solidFill>
                  <a:srgbClr val="5B6B63"/>
                </a:solidFill>
                <a:latin typeface="Segoe UI"/>
                <a:cs typeface="Tahoma"/>
              </a:rPr>
              <a:t>وفيه ناس</a:t>
            </a:r>
          </a:p>
          <a:p>
            <a:pPr algn="l"/>
            <a:r>
              <a:rPr sz="850" b="0" i="0">
                <a:solidFill>
                  <a:srgbClr val="5B6B63"/>
                </a:solidFill>
                <a:latin typeface="Segoe UI"/>
                <a:cs typeface="Tahoma"/>
              </a:rPr>
              <a:t>And in it, people</a:t>
            </a:r>
          </a:p>
        </p:txBody>
      </p:sp>
      <p:sp>
        <p:nvSpPr>
          <p:cNvPr id="12" name="Rounded Rectangle 11"/>
          <p:cNvSpPr/>
          <p:nvPr/>
        </p:nvSpPr>
        <p:spPr>
          <a:xfrm>
            <a:off x="7040879"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79"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NOV-L01 · S4</a:t>
            </a:r>
          </a:p>
          <a:p>
            <a:pPr algn="ctr"/>
            <a:r>
              <a:rPr sz="900" b="1" i="0">
                <a:solidFill>
                  <a:srgbClr val="5B6B63"/>
                </a:solidFill>
                <a:latin typeface="Segoe UI"/>
                <a:cs typeface="Tahoma"/>
              </a:rPr>
              <a:t>1080 × 1350</a:t>
            </a:r>
          </a:p>
        </p:txBody>
      </p:sp>
      <p:sp>
        <p:nvSpPr>
          <p:cNvPr id="14" name="TextBox 13"/>
          <p:cNvSpPr txBox="1"/>
          <p:nvPr/>
        </p:nvSpPr>
        <p:spPr>
          <a:xfrm>
            <a:off x="7040879"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idea</a:t>
            </a:r>
          </a:p>
          <a:p>
            <a:pPr rtl="1" algn="r"/>
            <a:r>
              <a:rPr sz="850" b="0" i="0">
                <a:solidFill>
                  <a:srgbClr val="5B6B63"/>
                </a:solidFill>
                <a:latin typeface="Segoe UI"/>
                <a:cs typeface="Tahoma"/>
              </a:rPr>
              <a:t>ومن الصباح</a:t>
            </a:r>
          </a:p>
          <a:p>
            <a:pPr algn="l"/>
            <a:r>
              <a:rPr sz="850" b="0" i="0">
                <a:solidFill>
                  <a:srgbClr val="5B6B63"/>
                </a:solidFill>
                <a:latin typeface="Segoe UI"/>
                <a:cs typeface="Tahoma"/>
              </a:rPr>
              <a:t>From morning to evening</a:t>
            </a:r>
          </a:p>
        </p:txBody>
      </p:sp>
      <p:sp>
        <p:nvSpPr>
          <p:cNvPr id="15" name="Rounded Rectangle 14"/>
          <p:cNvSpPr/>
          <p:nvPr/>
        </p:nvSpPr>
        <p:spPr>
          <a:xfrm>
            <a:off x="923544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NOV-L01 · S5</a:t>
            </a:r>
          </a:p>
          <a:p>
            <a:pPr algn="ctr"/>
            <a:r>
              <a:rPr sz="900" b="1" i="0">
                <a:solidFill>
                  <a:srgbClr val="5B6B63"/>
                </a:solidFill>
                <a:latin typeface="Segoe UI"/>
                <a:cs typeface="Tahoma"/>
              </a:rPr>
              <a:t>1080 × 1350</a:t>
            </a:r>
          </a:p>
        </p:txBody>
      </p:sp>
      <p:sp>
        <p:nvSpPr>
          <p:cNvPr id="17" name="TextBox 16"/>
          <p:cNvSpPr txBox="1"/>
          <p:nvPr/>
        </p:nvSpPr>
        <p:spPr>
          <a:xfrm>
            <a:off x="923544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cta</a:t>
            </a:r>
          </a:p>
          <a:p>
            <a:pPr rtl="1" algn="r"/>
            <a:r>
              <a:rPr sz="850" b="0" i="0">
                <a:solidFill>
                  <a:srgbClr val="5B6B63"/>
                </a:solidFill>
                <a:latin typeface="Segoe UI"/>
                <a:cs typeface="Tahoma"/>
              </a:rPr>
              <a:t>صناعة تُرى،</a:t>
            </a:r>
          </a:p>
          <a:p>
            <a:pPr algn="l"/>
            <a:r>
              <a:rPr sz="850" b="0" i="0">
                <a:solidFill>
                  <a:srgbClr val="5B6B63"/>
                </a:solidFill>
                <a:latin typeface="Segoe UI"/>
                <a:cs typeface="Tahoma"/>
              </a:rPr>
              <a:t>Visible capability. Measurable impact.</a:t>
            </a:r>
          </a:p>
        </p:txBody>
      </p:sp>
      <p:sp>
        <p:nvSpPr>
          <p:cNvPr id="18" name="Rounded Rectangle 17"/>
          <p:cNvSpPr/>
          <p:nvPr/>
        </p:nvSpPr>
        <p:spPr>
          <a:xfrm>
            <a:off x="457200" y="390906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0906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NOV-L01 · Mon 2026-11-02 · LinkedIn + X · Carousel</a:t>
            </a:r>
          </a:p>
        </p:txBody>
      </p:sp>
      <p:sp>
        <p:nvSpPr>
          <p:cNvPr id="20" name="TextBox 19"/>
          <p:cNvSpPr txBox="1"/>
          <p:nvPr/>
        </p:nvSpPr>
        <p:spPr>
          <a:xfrm>
            <a:off x="457200" y="436626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Inside Sudair City: the site, the people, the day  ·  Meet the makers  ·  T6 Key-visual petal</a:t>
            </a:r>
          </a:p>
        </p:txBody>
      </p:sp>
      <p:sp>
        <p:nvSpPr>
          <p:cNvPr id="21" name="TextBox 20"/>
          <p:cNvSpPr txBox="1"/>
          <p:nvPr/>
        </p:nvSpPr>
        <p:spPr>
          <a:xfrm>
            <a:off x="457200" y="471373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The picture must say 'this is a place, and people work in it'. Dark emerald left side fading to the real golden-hour drone view of the palm-lined campus; three tall petal-shaped glowing windows in a fan above the campus, each showing a calm scene of people at work from real photos (the lab team standing together, an analyst at the bench, women and men at the packaging line). Mint rim light on the petal edges, soft mi</a:t>
            </a:r>
          </a:p>
        </p:txBody>
      </p:sp>
      <p:sp>
        <p:nvSpPr>
          <p:cNvPr id="22" name="TextBox 21"/>
          <p:cNvSpPr txBox="1"/>
          <p:nvPr/>
        </p:nvSpPr>
        <p:spPr>
          <a:xfrm>
            <a:off x="457200" y="535381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A001  Collective footage-20261001T081156Z-1-008/Collective footage/DJI_20260121084222_0001_D.MOV | A002  Collective footage-20261001T081156Z-1-008/Collective footage/DJI_20260121084636_0010_D.MOV | A005  Collective footage-20261001T081156Z-1-008/Collective footage/Camera/1/ALABBASY.8829.MP4 | A007  </a:t>
            </a:r>
          </a:p>
        </p:txBody>
      </p:sp>
      <p:sp>
        <p:nvSpPr>
          <p:cNvPr id="23" name="TextBox 22"/>
          <p:cNvSpPr txBox="1"/>
          <p:nvPr/>
        </p:nvSpPr>
        <p:spPr>
          <a:xfrm>
            <a:off x="457200" y="590245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داخل مدينة سدير للصناعات الدوائية، يبدأ اليوم قبل أن تُضاء الواجهة. مكانٌ يتسع للمختبر وقاعة التعبئة والممرات والنخيل، ويتسع قبل ذلك كله لناسٍ يعرفون بعضهم بالاسم. جولة قصيرة بين المكان والناس واليوم. تابعوا الصفحة لنرافقكم أكثر من الداخل.</a:t>
            </a:r>
          </a:p>
          <a:p>
            <a:pPr algn="l"/>
            <a:r>
              <a:rPr sz="900" b="0" i="0">
                <a:solidFill>
                  <a:srgbClr val="142B22"/>
                </a:solidFill>
                <a:latin typeface="Segoe UI"/>
                <a:cs typeface="Tahoma"/>
              </a:rPr>
              <a:t>EN: Inside Sudair City, the day begins before the facade lights come on. The site holds the lab, the packaging hall, the corridors and the palms. Before all that, it holds people who know each other by name. A short walk through the place, the people and the day. Follow the page and see more from the in</a:t>
            </a:r>
          </a:p>
        </p:txBody>
      </p:sp>
      <p:sp>
        <p:nvSpPr>
          <p:cNvPr id="24" name="TextBox 23"/>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Description of place and people only: no figures, no claims, no products, no readable labels. Staff consent needed for the people in the petals.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NOV-S01</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NOV-S01 · Mon 2026-11-02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Shift change  ·  Meet the makers  ·  T2 Team landscape</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تبديل الورديّة</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مع الصباح</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Shift change · One team hands over to the next</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the place wakes up with its people. Full-bleed vertical crop of the women and men of the packaging hall team at the line at the start of the day, faces and hands, graded to morning light with a teal-green tone; no pack or label readable; top 250 px and bottom 340 px clear.</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A013  Collective footage-20261001T081156Z-1-008/Collective footage/Camera/2/jaradi20260121_8608.MP4</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صباحٌ جديد، وفريقٌ يتسلّم من فريق.</a:t>
            </a:r>
          </a:p>
          <a:p>
            <a:pPr algn="l"/>
            <a:r>
              <a:rPr sz="900" b="0" i="0">
                <a:solidFill>
                  <a:srgbClr val="142B22"/>
                </a:solidFill>
                <a:latin typeface="Segoe UI"/>
                <a:cs typeface="Tahoma"/>
              </a:rPr>
              <a:t>EN: A new morning, and one team hands over to the next.</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People at work only; no process shown or named; crop so no pack or label reads.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493776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493776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NOV-F02</a:t>
            </a:r>
          </a:p>
          <a:p>
            <a:pPr algn="ctr"/>
            <a:r>
              <a:rPr sz="900" b="1" i="0">
                <a:solidFill>
                  <a:srgbClr val="5B6B63"/>
                </a:solidFill>
                <a:latin typeface="Segoe UI"/>
                <a:cs typeface="Tahoma"/>
              </a:rPr>
              <a:t>1080 × 1350 px (4:5)</a:t>
            </a:r>
          </a:p>
        </p:txBody>
      </p:sp>
      <p:sp>
        <p:nvSpPr>
          <p:cNvPr id="5" name="Rounded Rectangle 4"/>
          <p:cNvSpPr/>
          <p:nvPr/>
        </p:nvSpPr>
        <p:spPr>
          <a:xfrm>
            <a:off x="5669280" y="457200"/>
            <a:ext cx="603504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0" y="457200"/>
            <a:ext cx="585215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NOV-F02 · Tue 2026-11-03 · Instagram + Facebook · Still</a:t>
            </a:r>
          </a:p>
        </p:txBody>
      </p:sp>
      <p:sp>
        <p:nvSpPr>
          <p:cNvPr id="7" name="TextBox 6"/>
          <p:cNvSpPr txBox="1"/>
          <p:nvPr/>
        </p:nvSpPr>
        <p:spPr>
          <a:xfrm>
            <a:off x="5669280" y="914400"/>
            <a:ext cx="603504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Meet the team behind the lab  ·  Meet the makers  ·  T2 Team landscape</a:t>
            </a:r>
          </a:p>
        </p:txBody>
      </p:sp>
      <p:sp>
        <p:nvSpPr>
          <p:cNvPr id="8" name="TextBox 7"/>
          <p:cNvSpPr txBox="1"/>
          <p:nvPr/>
        </p:nvSpPr>
        <p:spPr>
          <a:xfrm>
            <a:off x="5669280" y="1261872"/>
            <a:ext cx="6035040"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هذا هو الفريق</a:t>
            </a:r>
          </a:p>
        </p:txBody>
      </p:sp>
      <p:sp>
        <p:nvSpPr>
          <p:cNvPr id="9" name="TextBox 8"/>
          <p:cNvSpPr txBox="1"/>
          <p:nvPr/>
        </p:nvSpPr>
        <p:spPr>
          <a:xfrm>
            <a:off x="5669280" y="1673351"/>
            <a:ext cx="6035040"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خلف المختبر</a:t>
            </a:r>
          </a:p>
        </p:txBody>
      </p:sp>
      <p:sp>
        <p:nvSpPr>
          <p:cNvPr id="10" name="TextBox 9"/>
          <p:cNvSpPr txBox="1"/>
          <p:nvPr/>
        </p:nvSpPr>
        <p:spPr>
          <a:xfrm>
            <a:off x="5669280" y="2020824"/>
            <a:ext cx="6035040"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The team behind the lab · The people who are here every morning</a:t>
            </a:r>
          </a:p>
        </p:txBody>
      </p:sp>
      <p:sp>
        <p:nvSpPr>
          <p:cNvPr id="11" name="TextBox 10"/>
          <p:cNvSpPr txBox="1"/>
          <p:nvPr/>
        </p:nvSpPr>
        <p:spPr>
          <a:xfrm>
            <a:off x="5669280" y="2478024"/>
            <a:ext cx="603504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the lab is made of people. Wide documentary photograph of the lab team standing in a single row inside the lab, relaxed, facing camera with natural expressions, in the work clothing of the source clip; bench lines softly behind; teal-green sky grade from the window light, warm skin, no readable label on any container. Horizon line at about three fifths of the tile height, headline above, credit line below.</a:t>
            </a:r>
          </a:p>
        </p:txBody>
      </p:sp>
      <p:sp>
        <p:nvSpPr>
          <p:cNvPr id="12" name="TextBox 11"/>
          <p:cNvSpPr txBox="1"/>
          <p:nvPr/>
        </p:nvSpPr>
        <p:spPr>
          <a:xfrm>
            <a:off x="5669280" y="3255264"/>
            <a:ext cx="603504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A005  Collective footage-20261001T081156Z-1-008/Collective footage/Camera/1/ALABBASY.8829.MP4</a:t>
            </a:r>
          </a:p>
        </p:txBody>
      </p:sp>
      <p:sp>
        <p:nvSpPr>
          <p:cNvPr id="13" name="TextBox 12"/>
          <p:cNvSpPr txBox="1"/>
          <p:nvPr/>
        </p:nvSpPr>
        <p:spPr>
          <a:xfrm>
            <a:off x="5669280" y="3803904"/>
            <a:ext cx="603504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خلف كل باب في مدينة سدير فريقٌ يعمل بهدوء. نبدأ شهرنا بزملائنا في المختبر: وجوهٌ تحضر كل صباح. ما الذي تودّون معرفته عنهم؟ اكتبوا لنا في التعليقات.</a:t>
            </a:r>
          </a:p>
          <a:p>
            <a:pPr algn="l"/>
            <a:r>
              <a:rPr sz="900" b="0" i="0">
                <a:solidFill>
                  <a:srgbClr val="142B22"/>
                </a:solidFill>
                <a:latin typeface="Segoe UI"/>
                <a:cs typeface="Tahoma"/>
              </a:rPr>
              <a:t>EN: Behind every door in Sudair City there is a team that works quietly. We begin the month with our colleagues in the lab: faces that show up every morning. What would you like to know about them? Tell us in the comments.</a:t>
            </a:r>
          </a:p>
        </p:txBody>
      </p:sp>
      <p:sp>
        <p:nvSpPr>
          <p:cNvPr id="14" name="TextBox 13"/>
          <p:cNvSpPr txBox="1"/>
          <p:nvPr/>
        </p:nvSpPr>
        <p:spPr>
          <a:xfrm>
            <a:off x="5669280" y="6400800"/>
            <a:ext cx="603504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Team portrait only; no description of lab activity, no figures, no assurance wording.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NOV-L02 · S1</a:t>
            </a:r>
          </a:p>
          <a:p>
            <a:pPr algn="ctr"/>
            <a:r>
              <a:rPr sz="900" b="1" i="0">
                <a:solidFill>
                  <a:srgbClr val="5B6B63"/>
                </a:solidFill>
                <a:latin typeface="Segoe UI"/>
                <a:cs typeface="Tahoma"/>
              </a:rPr>
              <a:t>1080 × 1350</a:t>
            </a:r>
          </a:p>
        </p:txBody>
      </p:sp>
      <p:sp>
        <p:nvSpPr>
          <p:cNvPr id="5" name="TextBox 4"/>
          <p:cNvSpPr txBox="1"/>
          <p:nvPr/>
        </p:nvSpPr>
        <p:spPr>
          <a:xfrm>
            <a:off x="45720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كيف يبدو العمل</a:t>
            </a:r>
          </a:p>
          <a:p>
            <a:pPr algn="l"/>
            <a:r>
              <a:rPr sz="850" b="0" i="0">
                <a:solidFill>
                  <a:srgbClr val="5B6B63"/>
                </a:solidFill>
                <a:latin typeface="Segoe UI"/>
                <a:cs typeface="Tahoma"/>
              </a:rPr>
              <a:t>What working here looks like</a:t>
            </a:r>
          </a:p>
        </p:txBody>
      </p:sp>
      <p:sp>
        <p:nvSpPr>
          <p:cNvPr id="6" name="Rounded Rectangle 5"/>
          <p:cNvSpPr/>
          <p:nvPr/>
        </p:nvSpPr>
        <p:spPr>
          <a:xfrm>
            <a:off x="265176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NOV-L02 · S2</a:t>
            </a:r>
          </a:p>
          <a:p>
            <a:pPr algn="ctr"/>
            <a:r>
              <a:rPr sz="900" b="1" i="0">
                <a:solidFill>
                  <a:srgbClr val="5B6B63"/>
                </a:solidFill>
                <a:latin typeface="Segoe UI"/>
                <a:cs typeface="Tahoma"/>
              </a:rPr>
              <a:t>1080 × 1350</a:t>
            </a:r>
          </a:p>
        </p:txBody>
      </p:sp>
      <p:sp>
        <p:nvSpPr>
          <p:cNvPr id="8" name="TextBox 7"/>
          <p:cNvSpPr txBox="1"/>
          <p:nvPr/>
        </p:nvSpPr>
        <p:spPr>
          <a:xfrm>
            <a:off x="265176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فريقٌ بجانبك</a:t>
            </a:r>
          </a:p>
          <a:p>
            <a:pPr algn="l"/>
            <a:r>
              <a:rPr sz="850" b="0" i="0">
                <a:solidFill>
                  <a:srgbClr val="5B6B63"/>
                </a:solidFill>
                <a:latin typeface="Segoe UI"/>
                <a:cs typeface="Tahoma"/>
              </a:rPr>
              <a:t>A team beside you at every station</a:t>
            </a:r>
          </a:p>
        </p:txBody>
      </p:sp>
      <p:sp>
        <p:nvSpPr>
          <p:cNvPr id="9" name="Rounded Rectangle 8"/>
          <p:cNvSpPr/>
          <p:nvPr/>
        </p:nvSpPr>
        <p:spPr>
          <a:xfrm>
            <a:off x="484632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NOV-L02 · S3</a:t>
            </a:r>
          </a:p>
          <a:p>
            <a:pPr algn="ctr"/>
            <a:r>
              <a:rPr sz="900" b="1" i="0">
                <a:solidFill>
                  <a:srgbClr val="5B6B63"/>
                </a:solidFill>
                <a:latin typeface="Segoe UI"/>
                <a:cs typeface="Tahoma"/>
              </a:rPr>
              <a:t>1080 × 1350</a:t>
            </a:r>
          </a:p>
        </p:txBody>
      </p:sp>
      <p:sp>
        <p:nvSpPr>
          <p:cNvPr id="11" name="TextBox 10"/>
          <p:cNvSpPr txBox="1"/>
          <p:nvPr/>
        </p:nvSpPr>
        <p:spPr>
          <a:xfrm>
            <a:off x="484632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idea</a:t>
            </a:r>
          </a:p>
          <a:p>
            <a:pPr rtl="1" algn="r"/>
            <a:r>
              <a:rPr sz="850" b="0" i="0">
                <a:solidFill>
                  <a:srgbClr val="5B6B63"/>
                </a:solidFill>
                <a:latin typeface="Segoe UI"/>
                <a:cs typeface="Tahoma"/>
              </a:rPr>
              <a:t>مكانٌ تراه</a:t>
            </a:r>
          </a:p>
          <a:p>
            <a:pPr algn="l"/>
            <a:r>
              <a:rPr sz="850" b="0" i="0">
                <a:solidFill>
                  <a:srgbClr val="5B6B63"/>
                </a:solidFill>
                <a:latin typeface="Segoe UI"/>
                <a:cs typeface="Tahoma"/>
              </a:rPr>
              <a:t>A place you can see, work you can touch</a:t>
            </a:r>
          </a:p>
        </p:txBody>
      </p:sp>
      <p:sp>
        <p:nvSpPr>
          <p:cNvPr id="12" name="Rounded Rectangle 11"/>
          <p:cNvSpPr/>
          <p:nvPr/>
        </p:nvSpPr>
        <p:spPr>
          <a:xfrm>
            <a:off x="7040879"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79"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NOV-L02 · S4</a:t>
            </a:r>
          </a:p>
          <a:p>
            <a:pPr algn="ctr"/>
            <a:r>
              <a:rPr sz="900" b="1" i="0">
                <a:solidFill>
                  <a:srgbClr val="5B6B63"/>
                </a:solidFill>
                <a:latin typeface="Segoe UI"/>
                <a:cs typeface="Tahoma"/>
              </a:rPr>
              <a:t>1080 × 1350</a:t>
            </a:r>
          </a:p>
        </p:txBody>
      </p:sp>
      <p:sp>
        <p:nvSpPr>
          <p:cNvPr id="14" name="TextBox 13"/>
          <p:cNvSpPr txBox="1"/>
          <p:nvPr/>
        </p:nvSpPr>
        <p:spPr>
          <a:xfrm>
            <a:off x="7040879"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idea</a:t>
            </a:r>
          </a:p>
          <a:p>
            <a:pPr rtl="1" algn="r"/>
            <a:r>
              <a:rPr sz="850" b="0" i="0">
                <a:solidFill>
                  <a:srgbClr val="5B6B63"/>
                </a:solidFill>
                <a:latin typeface="Segoe UI"/>
                <a:cs typeface="Tahoma"/>
              </a:rPr>
              <a:t>وزمالةٌ</a:t>
            </a:r>
          </a:p>
          <a:p>
            <a:pPr algn="l"/>
            <a:r>
              <a:rPr sz="850" b="0" i="0">
                <a:solidFill>
                  <a:srgbClr val="5B6B63"/>
                </a:solidFill>
                <a:latin typeface="Segoe UI"/>
                <a:cs typeface="Tahoma"/>
              </a:rPr>
              <a:t>Colleagues who grow close over the days</a:t>
            </a:r>
          </a:p>
        </p:txBody>
      </p:sp>
      <p:sp>
        <p:nvSpPr>
          <p:cNvPr id="15" name="Rounded Rectangle 14"/>
          <p:cNvSpPr/>
          <p:nvPr/>
        </p:nvSpPr>
        <p:spPr>
          <a:xfrm>
            <a:off x="923544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NOV-L02 · S5</a:t>
            </a:r>
          </a:p>
          <a:p>
            <a:pPr algn="ctr"/>
            <a:r>
              <a:rPr sz="900" b="1" i="0">
                <a:solidFill>
                  <a:srgbClr val="5B6B63"/>
                </a:solidFill>
                <a:latin typeface="Segoe UI"/>
                <a:cs typeface="Tahoma"/>
              </a:rPr>
              <a:t>1080 × 1350</a:t>
            </a:r>
          </a:p>
        </p:txBody>
      </p:sp>
      <p:sp>
        <p:nvSpPr>
          <p:cNvPr id="17" name="TextBox 16"/>
          <p:cNvSpPr txBox="1"/>
          <p:nvPr/>
        </p:nvSpPr>
        <p:spPr>
          <a:xfrm>
            <a:off x="923544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cta</a:t>
            </a:r>
          </a:p>
          <a:p>
            <a:pPr rtl="1" algn="r"/>
            <a:r>
              <a:rPr sz="850" b="0" i="0">
                <a:solidFill>
                  <a:srgbClr val="5B6B63"/>
                </a:solidFill>
                <a:latin typeface="Segoe UI"/>
                <a:cs typeface="Tahoma"/>
              </a:rPr>
              <a:t>تعال وشاركنا</a:t>
            </a:r>
          </a:p>
          <a:p>
            <a:pPr algn="l"/>
            <a:r>
              <a:rPr sz="850" b="0" i="0">
                <a:solidFill>
                  <a:srgbClr val="5B6B63"/>
                </a:solidFill>
                <a:latin typeface="Segoe UI"/>
                <a:cs typeface="Tahoma"/>
              </a:rPr>
              <a:t>Come and share our day.</a:t>
            </a:r>
          </a:p>
        </p:txBody>
      </p:sp>
      <p:sp>
        <p:nvSpPr>
          <p:cNvPr id="18" name="Rounded Rectangle 17"/>
          <p:cNvSpPr/>
          <p:nvPr/>
        </p:nvSpPr>
        <p:spPr>
          <a:xfrm>
            <a:off x="457200" y="390906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0906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NOV-L02 · Wed 2026-11-04 · LinkedIn + X · Carousel</a:t>
            </a:r>
          </a:p>
        </p:txBody>
      </p:sp>
      <p:sp>
        <p:nvSpPr>
          <p:cNvPr id="20" name="TextBox 19"/>
          <p:cNvSpPr txBox="1"/>
          <p:nvPr/>
        </p:nvSpPr>
        <p:spPr>
          <a:xfrm>
            <a:off x="457200" y="436626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Careers at Sudair: what working here looks like  ·  People and careers  ·  T3 Portrait panel</a:t>
            </a:r>
          </a:p>
        </p:txBody>
      </p:sp>
      <p:sp>
        <p:nvSpPr>
          <p:cNvPr id="21" name="TextBox 20"/>
          <p:cNvSpPr txBox="1"/>
          <p:nvPr/>
        </p:nvSpPr>
        <p:spPr>
          <a:xfrm>
            <a:off x="457200" y="471373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The picture must say 'you would be working beside people'. A real staff member at the lab bench, three-quarter view, calm and focused, soft key light from the left; dark green panelled wall on the right with a faint vertical line pattern, the person fills the left half, the right side stays clear for the headline. No label legible on any container. Keep the top-left corner clear for the logo.</a:t>
            </a:r>
          </a:p>
        </p:txBody>
      </p:sp>
      <p:sp>
        <p:nvSpPr>
          <p:cNvPr id="22" name="TextBox 21"/>
          <p:cNvSpPr txBox="1"/>
          <p:nvPr/>
        </p:nvSpPr>
        <p:spPr>
          <a:xfrm>
            <a:off x="457200" y="535381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A007  Collective footage-20261001T081156Z-1-008/Collective footage/Camera/1/ALABBASY.8838.MP4 | A005  Collective footage-20261001T081156Z-1-008/Collective footage/Camera/1/ALABBASY.8829.MP4 | A001  Collective footage-20261001T081156Z-1-008/Collective footage/DJI_20260121084222_0001_D.MOV | A048  One</a:t>
            </a:r>
          </a:p>
        </p:txBody>
      </p:sp>
      <p:sp>
        <p:nvSpPr>
          <p:cNvPr id="23" name="TextBox 22"/>
          <p:cNvSpPr txBox="1"/>
          <p:nvPr/>
        </p:nvSpPr>
        <p:spPr>
          <a:xfrm>
            <a:off x="457200" y="590245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كيف يبدو العمل في سدير للأدوية؟ فريقٌ بجانبك في كل محطة، ومكانٌ تراه بعينك، وزمالةٌ تكبر بالأيام. هذه نظرة هادئة إلى يوم عملٍ بين الناس. تابعوا الصفحة لتعرفوا المزيد عن العمل معنا.</a:t>
            </a:r>
          </a:p>
          <a:p>
            <a:pPr algn="l"/>
            <a:r>
              <a:rPr sz="900" b="0" i="0">
                <a:solidFill>
                  <a:srgbClr val="142B22"/>
                </a:solidFill>
                <a:latin typeface="Segoe UI"/>
                <a:cs typeface="Tahoma"/>
              </a:rPr>
              <a:t>EN: What does working at Sudair Pharma look like? A team beside you at every station, a place you can see for yourself, and colleagues who become friends over the days. A quiet look at a working day among people. Follow the page to see more of working with us.</a:t>
            </a:r>
          </a:p>
        </p:txBody>
      </p:sp>
      <p:sp>
        <p:nvSpPr>
          <p:cNvPr id="24" name="TextBox 23"/>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People and place only: no promise of roles, pay or progression, no figures. Staff consent needed for every person in the carousel.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NOV-S02</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NOV-S02 · Wed 2026-11-04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Question box: ask our team about life at Sudair  ·  People and careers  ·  T8 Type card</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اسألوا فريقنا عن الحياة</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في سدير</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Ask our team · About life at Sudair</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the team is open to questions. Type card on deep emerald, centred two-level Arabic headline, thin mint rule, the question-box sticker placed in the lower middle, small white palm line icon; no photograph.</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Generated only</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اطرحوا سؤالكم، ونجيبكم من داخل الموقع.</a:t>
            </a:r>
          </a:p>
          <a:p>
            <a:pPr algn="l"/>
            <a:r>
              <a:rPr sz="900" b="0" i="0">
                <a:solidFill>
                  <a:srgbClr val="142B22"/>
                </a:solidFill>
                <a:latin typeface="Segoe UI"/>
                <a:cs typeface="Tahoma"/>
              </a:rPr>
              <a:t>EN: Send your question and we will answer from inside the site.</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Only questions about life and work at the site are answered on camera; questions outside that scope are not answered.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NOV-F03 · S1</a:t>
            </a:r>
          </a:p>
          <a:p>
            <a:pPr algn="ctr"/>
            <a:r>
              <a:rPr sz="900" b="1" i="0">
                <a:solidFill>
                  <a:srgbClr val="5B6B63"/>
                </a:solidFill>
                <a:latin typeface="Segoe UI"/>
                <a:cs typeface="Tahoma"/>
              </a:rPr>
              <a:t>1080 × 1350</a:t>
            </a:r>
          </a:p>
        </p:txBody>
      </p:sp>
      <p:sp>
        <p:nvSpPr>
          <p:cNvPr id="5" name="TextBox 4"/>
          <p:cNvSpPr txBox="1"/>
          <p:nvPr/>
        </p:nvSpPr>
        <p:spPr>
          <a:xfrm>
            <a:off x="45720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صُنع هنا</a:t>
            </a:r>
          </a:p>
          <a:p>
            <a:pPr algn="l"/>
            <a:r>
              <a:rPr sz="850" b="0" i="0">
                <a:solidFill>
                  <a:srgbClr val="5B6B63"/>
                </a:solidFill>
                <a:latin typeface="Segoe UI"/>
                <a:cs typeface="Tahoma"/>
              </a:rPr>
              <a:t>Made here, in the Kingdom</a:t>
            </a:r>
          </a:p>
        </p:txBody>
      </p:sp>
      <p:sp>
        <p:nvSpPr>
          <p:cNvPr id="6" name="Rounded Rectangle 5"/>
          <p:cNvSpPr/>
          <p:nvPr/>
        </p:nvSpPr>
        <p:spPr>
          <a:xfrm>
            <a:off x="265176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NOV-F03 · S2</a:t>
            </a:r>
          </a:p>
          <a:p>
            <a:pPr algn="ctr"/>
            <a:r>
              <a:rPr sz="900" b="1" i="0">
                <a:solidFill>
                  <a:srgbClr val="5B6B63"/>
                </a:solidFill>
                <a:latin typeface="Segoe UI"/>
                <a:cs typeface="Tahoma"/>
              </a:rPr>
              <a:t>1080 × 1350</a:t>
            </a:r>
          </a:p>
        </p:txBody>
      </p:sp>
      <p:sp>
        <p:nvSpPr>
          <p:cNvPr id="8" name="TextBox 7"/>
          <p:cNvSpPr txBox="1"/>
          <p:nvPr/>
        </p:nvSpPr>
        <p:spPr>
          <a:xfrm>
            <a:off x="265176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في قلب نجد</a:t>
            </a:r>
          </a:p>
          <a:p>
            <a:pPr algn="l"/>
            <a:r>
              <a:rPr sz="850" b="0" i="0">
                <a:solidFill>
                  <a:srgbClr val="5B6B63"/>
                </a:solidFill>
                <a:latin typeface="Segoe UI"/>
                <a:cs typeface="Tahoma"/>
              </a:rPr>
              <a:t>In the heart of Najd, Sudair City</a:t>
            </a:r>
          </a:p>
        </p:txBody>
      </p:sp>
      <p:sp>
        <p:nvSpPr>
          <p:cNvPr id="9" name="Rounded Rectangle 8"/>
          <p:cNvSpPr/>
          <p:nvPr/>
        </p:nvSpPr>
        <p:spPr>
          <a:xfrm>
            <a:off x="484632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NOV-F03 · S3</a:t>
            </a:r>
          </a:p>
          <a:p>
            <a:pPr algn="ctr"/>
            <a:r>
              <a:rPr sz="900" b="1" i="0">
                <a:solidFill>
                  <a:srgbClr val="5B6B63"/>
                </a:solidFill>
                <a:latin typeface="Segoe UI"/>
                <a:cs typeface="Tahoma"/>
              </a:rPr>
              <a:t>1080 × 1350</a:t>
            </a:r>
          </a:p>
        </p:txBody>
      </p:sp>
      <p:sp>
        <p:nvSpPr>
          <p:cNvPr id="11" name="TextBox 10"/>
          <p:cNvSpPr txBox="1"/>
          <p:nvPr/>
        </p:nvSpPr>
        <p:spPr>
          <a:xfrm>
            <a:off x="484632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proof</a:t>
            </a:r>
          </a:p>
          <a:p>
            <a:pPr rtl="1" algn="r"/>
            <a:r>
              <a:rPr sz="850" b="0" i="0">
                <a:solidFill>
                  <a:srgbClr val="5B6B63"/>
                </a:solidFill>
                <a:latin typeface="Segoe UI"/>
                <a:cs typeface="Tahoma"/>
              </a:rPr>
              <a:t>بين النخيل</a:t>
            </a:r>
          </a:p>
          <a:p>
            <a:pPr algn="l"/>
            <a:r>
              <a:rPr sz="850" b="0" i="0">
                <a:solidFill>
                  <a:srgbClr val="5B6B63"/>
                </a:solidFill>
                <a:latin typeface="Segoe UI"/>
                <a:cs typeface="Tahoma"/>
              </a:rPr>
              <a:t>Among the palms, people at work</a:t>
            </a:r>
          </a:p>
        </p:txBody>
      </p:sp>
      <p:sp>
        <p:nvSpPr>
          <p:cNvPr id="12" name="Rounded Rectangle 11"/>
          <p:cNvSpPr/>
          <p:nvPr/>
        </p:nvSpPr>
        <p:spPr>
          <a:xfrm>
            <a:off x="7040879"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79"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NOV-F03 · S4</a:t>
            </a:r>
          </a:p>
          <a:p>
            <a:pPr algn="ctr"/>
            <a:r>
              <a:rPr sz="900" b="1" i="0">
                <a:solidFill>
                  <a:srgbClr val="5B6B63"/>
                </a:solidFill>
                <a:latin typeface="Segoe UI"/>
                <a:cs typeface="Tahoma"/>
              </a:rPr>
              <a:t>1080 × 1350</a:t>
            </a:r>
          </a:p>
        </p:txBody>
      </p:sp>
      <p:sp>
        <p:nvSpPr>
          <p:cNvPr id="14" name="TextBox 13"/>
          <p:cNvSpPr txBox="1"/>
          <p:nvPr/>
        </p:nvSpPr>
        <p:spPr>
          <a:xfrm>
            <a:off x="7040879"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proof</a:t>
            </a:r>
          </a:p>
          <a:p>
            <a:pPr rtl="1" algn="r"/>
            <a:r>
              <a:rPr sz="850" b="0" i="0">
                <a:solidFill>
                  <a:srgbClr val="5B6B63"/>
                </a:solidFill>
                <a:latin typeface="Segoe UI"/>
                <a:cs typeface="Tahoma"/>
              </a:rPr>
              <a:t>نساءٌ ورجال</a:t>
            </a:r>
          </a:p>
          <a:p>
            <a:pPr algn="l"/>
            <a:r>
              <a:rPr sz="850" b="0" i="0">
                <a:solidFill>
                  <a:srgbClr val="5B6B63"/>
                </a:solidFill>
                <a:latin typeface="Segoe UI"/>
                <a:cs typeface="Tahoma"/>
              </a:rPr>
              <a:t>Women and men, one site</a:t>
            </a:r>
          </a:p>
        </p:txBody>
      </p:sp>
      <p:sp>
        <p:nvSpPr>
          <p:cNvPr id="15" name="Rounded Rectangle 14"/>
          <p:cNvSpPr/>
          <p:nvPr/>
        </p:nvSpPr>
        <p:spPr>
          <a:xfrm>
            <a:off x="923544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NOV-F03 · S5</a:t>
            </a:r>
          </a:p>
          <a:p>
            <a:pPr algn="ctr"/>
            <a:r>
              <a:rPr sz="900" b="1" i="0">
                <a:solidFill>
                  <a:srgbClr val="5B6B63"/>
                </a:solidFill>
                <a:latin typeface="Segoe UI"/>
                <a:cs typeface="Tahoma"/>
              </a:rPr>
              <a:t>1080 × 1350</a:t>
            </a:r>
          </a:p>
        </p:txBody>
      </p:sp>
      <p:sp>
        <p:nvSpPr>
          <p:cNvPr id="17" name="TextBox 16"/>
          <p:cNvSpPr txBox="1"/>
          <p:nvPr/>
        </p:nvSpPr>
        <p:spPr>
          <a:xfrm>
            <a:off x="923544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cta</a:t>
            </a:r>
          </a:p>
          <a:p>
            <a:pPr rtl="1" algn="r"/>
            <a:r>
              <a:rPr sz="850" b="0" i="0">
                <a:solidFill>
                  <a:srgbClr val="5B6B63"/>
                </a:solidFill>
                <a:latin typeface="Segoe UI"/>
                <a:cs typeface="Tahoma"/>
              </a:rPr>
              <a:t>صناعة تُرى،</a:t>
            </a:r>
          </a:p>
          <a:p>
            <a:pPr algn="l"/>
            <a:r>
              <a:rPr sz="850" b="0" i="0">
                <a:solidFill>
                  <a:srgbClr val="5B6B63"/>
                </a:solidFill>
                <a:latin typeface="Segoe UI"/>
                <a:cs typeface="Tahoma"/>
              </a:rPr>
              <a:t>Visible capability. Measurable impact.</a:t>
            </a:r>
          </a:p>
        </p:txBody>
      </p:sp>
      <p:sp>
        <p:nvSpPr>
          <p:cNvPr id="18" name="Rounded Rectangle 17"/>
          <p:cNvSpPr/>
          <p:nvPr/>
        </p:nvSpPr>
        <p:spPr>
          <a:xfrm>
            <a:off x="457200" y="390906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0906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NOV-F03 · Thu 2026-11-05 · Instagram + Facebook · Carousel</a:t>
            </a:r>
          </a:p>
        </p:txBody>
      </p:sp>
      <p:sp>
        <p:nvSpPr>
          <p:cNvPr id="20" name="TextBox 19"/>
          <p:cNvSpPr txBox="1"/>
          <p:nvPr/>
        </p:nvSpPr>
        <p:spPr>
          <a:xfrm>
            <a:off x="457200" y="436626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Made here, in the Kingdom  ·  Local manufacturing  ·  T1 Glass object</a:t>
            </a:r>
          </a:p>
        </p:txBody>
      </p:sp>
      <p:sp>
        <p:nvSpPr>
          <p:cNvPr id="21" name="TextBox 20"/>
          <p:cNvSpPr txBox="1"/>
          <p:nvPr/>
        </p:nvSpPr>
        <p:spPr>
          <a:xfrm>
            <a:off x="457200" y="471373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this is made here, in our own country. Cover: a single 3D palm tree in glass and brushed metal on a glossy emerald floor, the faint outline of the Kingdom etched into the floor around it, soft studio light from the upper left, mint rim light, faint lattice texture; no text on the object.</a:t>
            </a:r>
          </a:p>
        </p:txBody>
      </p:sp>
      <p:sp>
        <p:nvSpPr>
          <p:cNvPr id="22" name="TextBox 21"/>
          <p:cNvSpPr txBox="1"/>
          <p:nvPr/>
        </p:nvSpPr>
        <p:spPr>
          <a:xfrm>
            <a:off x="457200" y="535381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A002  Collective footage-20261001T081156Z-1-008/Collective footage/DJI_20260121084636_0010_D.MOV | A001  Collective footage-20261001T081156Z-1-008/Collective footage/DJI_20260121084222_0001_D.MOV | A013  Collective footage-20261001T081156Z-1-008/Collective footage/Camera/2/jaradi20260121_8608.MP4 | </a:t>
            </a:r>
          </a:p>
        </p:txBody>
      </p:sp>
      <p:sp>
        <p:nvSpPr>
          <p:cNvPr id="23" name="TextBox 22"/>
          <p:cNvSpPr txBox="1"/>
          <p:nvPr/>
        </p:nvSpPr>
        <p:spPr>
          <a:xfrm>
            <a:off x="457200" y="590245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ليس شعارًا، بل عنوان: مدينة سدير، المملكة العربية السعودية. هنا نعمل، وهنا يعمل أهلنا بين النخيل وفي قلب نجد. مرّروا لتروا المكان، وتابعوا الشهر لتعرفوه أكثر.</a:t>
            </a:r>
          </a:p>
          <a:p>
            <a:pPr algn="l"/>
            <a:r>
              <a:rPr sz="900" b="0" i="0">
                <a:solidFill>
                  <a:srgbClr val="142B22"/>
                </a:solidFill>
                <a:latin typeface="Segoe UI"/>
                <a:cs typeface="Tahoma"/>
              </a:rPr>
              <a:t>EN: Not a slogan, an address: Sudair City, Saudi Arabia. This is where we work, among the palms in the heart of Najd. Swipe to see the place, and follow the month to know it better.</a:t>
            </a:r>
          </a:p>
        </p:txBody>
      </p:sp>
      <p:sp>
        <p:nvSpPr>
          <p:cNvPr id="24" name="TextBox 23"/>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Place and people only; 'made in the Kingdom' used as a plain fact of place, no figures, no comparison, no assurance wording.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NOV-S03</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NOV-S03 · Thu 2026-11-05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Place card of the week: a corner of Sudair City  ·  Local manufacturing  ·  T6 Key-visual petal</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ركنٌ من مدينة سدير</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بطاقة المكان</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Place card of the week · A corner of Sudair City</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a place worth looking at. A tall petal-shaped window in the centre of the frame holding the real photo of a long bright interior corridor of the site, receding to a vanishing point, on a dark emerald background with mint rim light; headline at the foot; no people, no equipment named.</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A003  Collective footage-20261001T081156Z-1-008/Collective footage/DJI_20260121103516_0070_D.MOV</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ركنٌ هادئ من المكان الذي نعمل فيه.</a:t>
            </a:r>
          </a:p>
          <a:p>
            <a:pPr algn="l"/>
            <a:r>
              <a:rPr sz="900" b="0" i="0">
                <a:solidFill>
                  <a:srgbClr val="142B22"/>
                </a:solidFill>
                <a:latin typeface="Segoe UI"/>
                <a:cs typeface="Tahoma"/>
              </a:rPr>
              <a:t>EN: A quiet corner of the place where we work.</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Corridor shown as architecture only; no caption on what happens inside.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493776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493776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NOV-F04</a:t>
            </a:r>
          </a:p>
          <a:p>
            <a:pPr algn="ctr"/>
            <a:r>
              <a:rPr sz="900" b="1" i="0">
                <a:solidFill>
                  <a:srgbClr val="5B6B63"/>
                </a:solidFill>
                <a:latin typeface="Segoe UI"/>
                <a:cs typeface="Tahoma"/>
              </a:rPr>
              <a:t>1080 × 1350 px (4:5)</a:t>
            </a:r>
          </a:p>
        </p:txBody>
      </p:sp>
      <p:sp>
        <p:nvSpPr>
          <p:cNvPr id="5" name="Rounded Rectangle 4"/>
          <p:cNvSpPr/>
          <p:nvPr/>
        </p:nvSpPr>
        <p:spPr>
          <a:xfrm>
            <a:off x="5669280" y="457200"/>
            <a:ext cx="603504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0" y="457200"/>
            <a:ext cx="585215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NOV-F04 · Sun 2026-11-08 · Instagram + Facebook · Still</a:t>
            </a:r>
          </a:p>
        </p:txBody>
      </p:sp>
      <p:sp>
        <p:nvSpPr>
          <p:cNvPr id="7" name="TextBox 6"/>
          <p:cNvSpPr txBox="1"/>
          <p:nvPr/>
        </p:nvSpPr>
        <p:spPr>
          <a:xfrm>
            <a:off x="5669280" y="914400"/>
            <a:ext cx="603504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Standing with the community on World Diabetes Day  ·  Awareness days  ·  T8 Type card</a:t>
            </a:r>
          </a:p>
        </p:txBody>
      </p:sp>
      <p:sp>
        <p:nvSpPr>
          <p:cNvPr id="8" name="TextBox 7"/>
          <p:cNvSpPr txBox="1"/>
          <p:nvPr/>
        </p:nvSpPr>
        <p:spPr>
          <a:xfrm>
            <a:off x="5669280" y="1261872"/>
            <a:ext cx="6035040"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في اليوم العالمي للسكري</a:t>
            </a:r>
          </a:p>
        </p:txBody>
      </p:sp>
      <p:sp>
        <p:nvSpPr>
          <p:cNvPr id="9" name="TextBox 8"/>
          <p:cNvSpPr txBox="1"/>
          <p:nvPr/>
        </p:nvSpPr>
        <p:spPr>
          <a:xfrm>
            <a:off x="5669280" y="1673351"/>
            <a:ext cx="6035040"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نقف معكم</a:t>
            </a:r>
          </a:p>
        </p:txBody>
      </p:sp>
      <p:sp>
        <p:nvSpPr>
          <p:cNvPr id="10" name="TextBox 9"/>
          <p:cNvSpPr txBox="1"/>
          <p:nvPr/>
        </p:nvSpPr>
        <p:spPr>
          <a:xfrm>
            <a:off x="5669280" y="2020824"/>
            <a:ext cx="6035040"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Standing with you on World Diabetes Day · 14 November</a:t>
            </a:r>
          </a:p>
        </p:txBody>
      </p:sp>
      <p:sp>
        <p:nvSpPr>
          <p:cNvPr id="11" name="TextBox 10"/>
          <p:cNvSpPr txBox="1"/>
          <p:nvPr/>
        </p:nvSpPr>
        <p:spPr>
          <a:xfrm>
            <a:off x="5669280" y="2478024"/>
            <a:ext cx="603504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we stand with everyone living with diabetes. Type card on deep emerald gradient, centred two-level Arabic headline with the mint accent on the word for 'with you', thin mint rule, one small line icon of the blue circle (a thin blue ring, the only blue on the card) at 60 px, hairline inset frame 24 px from the edge. No photograph, no medical device, no figures.</a:t>
            </a:r>
          </a:p>
        </p:txBody>
      </p:sp>
      <p:sp>
        <p:nvSpPr>
          <p:cNvPr id="12" name="TextBox 11"/>
          <p:cNvSpPr txBox="1"/>
          <p:nvPr/>
        </p:nvSpPr>
        <p:spPr>
          <a:xfrm>
            <a:off x="5669280" y="3255264"/>
            <a:ext cx="603504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Generated only</a:t>
            </a:r>
          </a:p>
        </p:txBody>
      </p:sp>
      <p:sp>
        <p:nvSpPr>
          <p:cNvPr id="13" name="TextBox 12"/>
          <p:cNvSpPr txBox="1"/>
          <p:nvPr/>
        </p:nvSpPr>
        <p:spPr>
          <a:xfrm>
            <a:off x="5669280" y="3803904"/>
            <a:ext cx="603504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في الرابع عشر من نوفمبر، اليوم العالمي للسكري، نقف مع كل من يعيش مع السكري، ومع أسرهم ومن يرافقونهم. معكم بقلوبنا. شاركونا بكلمة طيبة لمن تعرفونه.</a:t>
            </a:r>
          </a:p>
          <a:p>
            <a:pPr algn="l"/>
            <a:r>
              <a:rPr sz="900" b="0" i="0">
                <a:solidFill>
                  <a:srgbClr val="142B22"/>
                </a:solidFill>
                <a:latin typeface="Segoe UI"/>
                <a:cs typeface="Tahoma"/>
              </a:rPr>
              <a:t>EN: On 14 November, World Diabetes Day, we stand with everyone living with diabetes, and with the families and friends beside them. With you, in our hearts. Share a kind word with someone you know.</a:t>
            </a:r>
          </a:p>
        </p:txBody>
      </p:sp>
      <p:sp>
        <p:nvSpPr>
          <p:cNvPr id="14" name="TextBox 13"/>
          <p:cNvSpPr txBox="1"/>
          <p:nvPr/>
        </p:nvSpPr>
        <p:spPr>
          <a:xfrm>
            <a:off x="5669280" y="6400800"/>
            <a:ext cx="603504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Solidarity greeting only; no information, no advice, no figures, no object of care.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NOV-L03 · S1</a:t>
            </a:r>
          </a:p>
          <a:p>
            <a:pPr algn="ctr"/>
            <a:r>
              <a:rPr sz="900" b="1" i="0">
                <a:solidFill>
                  <a:srgbClr val="5B6B63"/>
                </a:solidFill>
                <a:latin typeface="Segoe UI"/>
                <a:cs typeface="Tahoma"/>
              </a:rPr>
              <a:t>1080 × 1350</a:t>
            </a:r>
          </a:p>
        </p:txBody>
      </p:sp>
      <p:sp>
        <p:nvSpPr>
          <p:cNvPr id="5" name="TextBox 4"/>
          <p:cNvSpPr txBox="1"/>
          <p:nvPr/>
        </p:nvSpPr>
        <p:spPr>
          <a:xfrm>
            <a:off x="45720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نقف مع كل من يعيش</a:t>
            </a:r>
          </a:p>
          <a:p>
            <a:pPr algn="l"/>
            <a:r>
              <a:rPr sz="850" b="0" i="0">
                <a:solidFill>
                  <a:srgbClr val="5B6B63"/>
                </a:solidFill>
                <a:latin typeface="Segoe UI"/>
                <a:cs typeface="Tahoma"/>
              </a:rPr>
              <a:t>We stand with everyone living with diabetes</a:t>
            </a:r>
          </a:p>
        </p:txBody>
      </p:sp>
      <p:sp>
        <p:nvSpPr>
          <p:cNvPr id="6" name="Rounded Rectangle 5"/>
          <p:cNvSpPr/>
          <p:nvPr/>
        </p:nvSpPr>
        <p:spPr>
          <a:xfrm>
            <a:off x="265176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NOV-L03 · S2</a:t>
            </a:r>
          </a:p>
          <a:p>
            <a:pPr algn="ctr"/>
            <a:r>
              <a:rPr sz="900" b="1" i="0">
                <a:solidFill>
                  <a:srgbClr val="5B6B63"/>
                </a:solidFill>
                <a:latin typeface="Segoe UI"/>
                <a:cs typeface="Tahoma"/>
              </a:rPr>
              <a:t>1080 × 1350</a:t>
            </a:r>
          </a:p>
        </p:txBody>
      </p:sp>
      <p:sp>
        <p:nvSpPr>
          <p:cNvPr id="8" name="TextBox 7"/>
          <p:cNvSpPr txBox="1"/>
          <p:nvPr/>
        </p:nvSpPr>
        <p:spPr>
          <a:xfrm>
            <a:off x="265176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وخلف كل شخص</a:t>
            </a:r>
          </a:p>
          <a:p>
            <a:pPr algn="l"/>
            <a:r>
              <a:rPr sz="850" b="0" i="0">
                <a:solidFill>
                  <a:srgbClr val="5B6B63"/>
                </a:solidFill>
                <a:latin typeface="Segoe UI"/>
                <a:cs typeface="Tahoma"/>
              </a:rPr>
              <a:t>Behind every person, people beside them</a:t>
            </a:r>
          </a:p>
        </p:txBody>
      </p:sp>
      <p:sp>
        <p:nvSpPr>
          <p:cNvPr id="9" name="Rounded Rectangle 8"/>
          <p:cNvSpPr/>
          <p:nvPr/>
        </p:nvSpPr>
        <p:spPr>
          <a:xfrm>
            <a:off x="484632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NOV-L03 · S3</a:t>
            </a:r>
          </a:p>
          <a:p>
            <a:pPr algn="ctr"/>
            <a:r>
              <a:rPr sz="900" b="1" i="0">
                <a:solidFill>
                  <a:srgbClr val="5B6B63"/>
                </a:solidFill>
                <a:latin typeface="Segoe UI"/>
                <a:cs typeface="Tahoma"/>
              </a:rPr>
              <a:t>1080 × 1350</a:t>
            </a:r>
          </a:p>
        </p:txBody>
      </p:sp>
      <p:sp>
        <p:nvSpPr>
          <p:cNvPr id="11" name="TextBox 10"/>
          <p:cNvSpPr txBox="1"/>
          <p:nvPr/>
        </p:nvSpPr>
        <p:spPr>
          <a:xfrm>
            <a:off x="484632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idea</a:t>
            </a:r>
          </a:p>
          <a:p>
            <a:pPr rtl="1" algn="r"/>
            <a:r>
              <a:rPr sz="850" b="0" i="0">
                <a:solidFill>
                  <a:srgbClr val="5B6B63"/>
                </a:solidFill>
                <a:latin typeface="Segoe UI"/>
                <a:cs typeface="Tahoma"/>
              </a:rPr>
              <a:t>شكراً لمن يهتم</a:t>
            </a:r>
          </a:p>
          <a:p>
            <a:pPr algn="l"/>
            <a:r>
              <a:rPr sz="850" b="0" i="0">
                <a:solidFill>
                  <a:srgbClr val="5B6B63"/>
                </a:solidFill>
                <a:latin typeface="Segoe UI"/>
                <a:cs typeface="Tahoma"/>
              </a:rPr>
              <a:t>Thank you to those who care, listen and stay</a:t>
            </a:r>
          </a:p>
        </p:txBody>
      </p:sp>
      <p:sp>
        <p:nvSpPr>
          <p:cNvPr id="12" name="Rounded Rectangle 11"/>
          <p:cNvSpPr/>
          <p:nvPr/>
        </p:nvSpPr>
        <p:spPr>
          <a:xfrm>
            <a:off x="7040879"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79"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NOV-L03 · S4</a:t>
            </a:r>
          </a:p>
          <a:p>
            <a:pPr algn="ctr"/>
            <a:r>
              <a:rPr sz="900" b="1" i="0">
                <a:solidFill>
                  <a:srgbClr val="5B6B63"/>
                </a:solidFill>
                <a:latin typeface="Segoe UI"/>
                <a:cs typeface="Tahoma"/>
              </a:rPr>
              <a:t>1080 × 1350</a:t>
            </a:r>
          </a:p>
        </p:txBody>
      </p:sp>
      <p:sp>
        <p:nvSpPr>
          <p:cNvPr id="14" name="TextBox 13"/>
          <p:cNvSpPr txBox="1"/>
          <p:nvPr/>
        </p:nvSpPr>
        <p:spPr>
          <a:xfrm>
            <a:off x="7040879"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idea</a:t>
            </a:r>
          </a:p>
          <a:p>
            <a:pPr rtl="1" algn="r"/>
            <a:r>
              <a:rPr sz="850" b="0" i="0">
                <a:solidFill>
                  <a:srgbClr val="5B6B63"/>
                </a:solidFill>
                <a:latin typeface="Segoe UI"/>
                <a:cs typeface="Tahoma"/>
              </a:rPr>
              <a:t>وفي سدير، فريقٌ</a:t>
            </a:r>
          </a:p>
          <a:p>
            <a:pPr algn="l"/>
            <a:r>
              <a:rPr sz="850" b="0" i="0">
                <a:solidFill>
                  <a:srgbClr val="5B6B63"/>
                </a:solidFill>
                <a:latin typeface="Segoe UI"/>
                <a:cs typeface="Tahoma"/>
              </a:rPr>
              <a:t>At Sudair, a team with you today</a:t>
            </a:r>
          </a:p>
        </p:txBody>
      </p:sp>
      <p:sp>
        <p:nvSpPr>
          <p:cNvPr id="15" name="Rounded Rectangle 14"/>
          <p:cNvSpPr/>
          <p:nvPr/>
        </p:nvSpPr>
        <p:spPr>
          <a:xfrm>
            <a:off x="923544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NOV-L03 · S5</a:t>
            </a:r>
          </a:p>
          <a:p>
            <a:pPr algn="ctr"/>
            <a:r>
              <a:rPr sz="900" b="1" i="0">
                <a:solidFill>
                  <a:srgbClr val="5B6B63"/>
                </a:solidFill>
                <a:latin typeface="Segoe UI"/>
                <a:cs typeface="Tahoma"/>
              </a:rPr>
              <a:t>1080 × 1350</a:t>
            </a:r>
          </a:p>
        </p:txBody>
      </p:sp>
      <p:sp>
        <p:nvSpPr>
          <p:cNvPr id="17" name="TextBox 16"/>
          <p:cNvSpPr txBox="1"/>
          <p:nvPr/>
        </p:nvSpPr>
        <p:spPr>
          <a:xfrm>
            <a:off x="923544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cta</a:t>
            </a:r>
          </a:p>
          <a:p>
            <a:pPr rtl="1" algn="r"/>
            <a:r>
              <a:rPr sz="850" b="0" i="0">
                <a:solidFill>
                  <a:srgbClr val="5B6B63"/>
                </a:solidFill>
                <a:latin typeface="Segoe UI"/>
                <a:cs typeface="Tahoma"/>
              </a:rPr>
              <a:t>شكراً لكم</a:t>
            </a:r>
          </a:p>
          <a:p>
            <a:pPr algn="l"/>
            <a:r>
              <a:rPr sz="850" b="0" i="0">
                <a:solidFill>
                  <a:srgbClr val="5B6B63"/>
                </a:solidFill>
                <a:latin typeface="Segoe UI"/>
                <a:cs typeface="Tahoma"/>
              </a:rPr>
              <a:t>Thank you. We are with you.</a:t>
            </a:r>
          </a:p>
        </p:txBody>
      </p:sp>
      <p:sp>
        <p:nvSpPr>
          <p:cNvPr id="18" name="Rounded Rectangle 17"/>
          <p:cNvSpPr/>
          <p:nvPr/>
        </p:nvSpPr>
        <p:spPr>
          <a:xfrm>
            <a:off x="457200" y="390906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0906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NOV-L03 · Mon 2026-11-09 · LinkedIn + X · Carousel</a:t>
            </a:r>
          </a:p>
        </p:txBody>
      </p:sp>
      <p:sp>
        <p:nvSpPr>
          <p:cNvPr id="20" name="TextBox 19"/>
          <p:cNvSpPr txBox="1"/>
          <p:nvPr/>
        </p:nvSpPr>
        <p:spPr>
          <a:xfrm>
            <a:off x="457200" y="436626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World Diabetes Day: a thank-you to the people who care  ·  Awareness days  ·  T8 Type card</a:t>
            </a:r>
          </a:p>
        </p:txBody>
      </p:sp>
      <p:sp>
        <p:nvSpPr>
          <p:cNvPr id="21" name="TextBox 20"/>
          <p:cNvSpPr txBox="1"/>
          <p:nvPr/>
        </p:nvSpPr>
        <p:spPr>
          <a:xfrm>
            <a:off x="457200" y="471373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The picture must say 'we are with you, and we thank those beside you'. A calm type card: deep emerald gradient, centred two-level Arabic headline, thin mint rule, one small flat blue ring icon (the awareness icon only), hairline inset frame close to the edge. No photograph, no figures, no objects. Keep the top-left corner clear for the logo.</a:t>
            </a:r>
          </a:p>
        </p:txBody>
      </p:sp>
      <p:sp>
        <p:nvSpPr>
          <p:cNvPr id="22" name="TextBox 21"/>
          <p:cNvSpPr txBox="1"/>
          <p:nvPr/>
        </p:nvSpPr>
        <p:spPr>
          <a:xfrm>
            <a:off x="457200" y="535381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Generated only</a:t>
            </a:r>
          </a:p>
        </p:txBody>
      </p:sp>
      <p:sp>
        <p:nvSpPr>
          <p:cNvPr id="23" name="TextBox 22"/>
          <p:cNvSpPr txBox="1"/>
          <p:nvPr/>
        </p:nvSpPr>
        <p:spPr>
          <a:xfrm>
            <a:off x="457200" y="590245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في الرابع عشر من نوفمبر، اليوم العالمي للسكري، نقف مع كل من يعيش مع السكري. ونقول شكراً لمن يقف بجانبهم كل يوم: أسرةً وأصدقاء وزملاء. كلمة شكرٍ صغيرة وصادقة من فريق سدير للأدوية. شاركونا كلمة شكر لمن بجانبكم.</a:t>
            </a:r>
          </a:p>
          <a:p>
            <a:pPr algn="l"/>
            <a:r>
              <a:rPr sz="900" b="0" i="0">
                <a:solidFill>
                  <a:srgbClr val="142B22"/>
                </a:solidFill>
                <a:latin typeface="Segoe UI"/>
                <a:cs typeface="Tahoma"/>
              </a:rPr>
              <a:t>EN: On World Diabetes Day, 14 November, we stand with everyone living with diabetes. And we say thank you to the people beside them every day: family, friends and colleagues. A small, sincere word of thanks from the team at Sudair Pharma. Share a word of thanks with someone beside you.</a:t>
            </a:r>
          </a:p>
        </p:txBody>
      </p:sp>
      <p:sp>
        <p:nvSpPr>
          <p:cNvPr id="24" name="TextBox 23"/>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Solidarity greeting and thanks only: no information, advice, figures or product. The blue ring is used as the awareness icon only.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NOV-S04</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NOV-S04 · Mon 2026-11-09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Countdown to 14 Nov  ·  Awareness days  ·  T8 Type card</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اليوم العالمي للسكري</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14 نوفمبر</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World Diabetes Day · 14 November: we stand with you</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a date we stand with the community on. Type card on deep emerald, centred headline, the countdown sticker in the lower middle, one small glass-blue circle line icon at the top; no photograph, no object of care.</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Generated only</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نقترب من اليوم العالمي للسكري، ونقف مع المجتمع.</a:t>
            </a:r>
          </a:p>
          <a:p>
            <a:pPr algn="l"/>
            <a:r>
              <a:rPr sz="900" b="0" i="0">
                <a:solidFill>
                  <a:srgbClr val="142B22"/>
                </a:solidFill>
                <a:latin typeface="Segoe UI"/>
                <a:cs typeface="Tahoma"/>
              </a:rPr>
              <a:t>EN: World Diabetes Day is near, and we stand with the community.</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Countdown to a date only; no information, no advice, no figures other than the date.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NOV-F05 · COVER</a:t>
            </a:r>
          </a:p>
          <a:p>
            <a:pPr algn="ctr"/>
            <a:r>
              <a:rPr sz="900" b="1" i="0">
                <a:solidFill>
                  <a:srgbClr val="5B6B63"/>
                </a:solidFill>
                <a:latin typeface="Segoe UI"/>
                <a:cs typeface="Tahoma"/>
              </a:rPr>
              <a:t>9:16</a:t>
            </a:r>
          </a:p>
        </p:txBody>
      </p:sp>
      <p:sp>
        <p:nvSpPr>
          <p:cNvPr id="5" name="TextBox 4"/>
          <p:cNvSpPr txBox="1"/>
          <p:nvPr/>
        </p:nvSpPr>
        <p:spPr>
          <a:xfrm>
            <a:off x="457200" y="2877312"/>
            <a:ext cx="1371600" cy="64008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Cover</a:t>
            </a:r>
          </a:p>
          <a:p>
            <a:pPr rtl="1" algn="r"/>
            <a:r>
              <a:rPr sz="850" b="0" i="0">
                <a:solidFill>
                  <a:srgbClr val="5B6B63"/>
                </a:solidFill>
                <a:latin typeface="Segoe UI"/>
                <a:cs typeface="Tahoma"/>
              </a:rPr>
              <a:t>من النهار إلى الليل</a:t>
            </a:r>
          </a:p>
        </p:txBody>
      </p:sp>
      <p:sp>
        <p:nvSpPr>
          <p:cNvPr id="6" name="Rounded Rectangle 5"/>
          <p:cNvSpPr/>
          <p:nvPr/>
        </p:nvSpPr>
        <p:spPr>
          <a:xfrm>
            <a:off x="1901952"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01952"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NOV-F05 · SHOT 1</a:t>
            </a:r>
          </a:p>
          <a:p>
            <a:pPr algn="ctr"/>
            <a:r>
              <a:rPr sz="900" b="1" i="0">
                <a:solidFill>
                  <a:srgbClr val="5B6B63"/>
                </a:solidFill>
                <a:latin typeface="Segoe UI"/>
                <a:cs typeface="Tahoma"/>
              </a:rPr>
              <a:t>0s to 4s</a:t>
            </a:r>
          </a:p>
        </p:txBody>
      </p:sp>
      <p:sp>
        <p:nvSpPr>
          <p:cNvPr id="8" name="TextBox 7"/>
          <p:cNvSpPr txBox="1"/>
          <p:nvPr/>
        </p:nvSpPr>
        <p:spPr>
          <a:xfrm>
            <a:off x="1901952"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0–4s</a:t>
            </a:r>
          </a:p>
          <a:p>
            <a:pPr rtl="1" algn="r"/>
            <a:r>
              <a:rPr sz="800" b="0" i="0">
                <a:solidFill>
                  <a:srgbClr val="5B6B63"/>
                </a:solidFill>
                <a:latin typeface="Segoe UI"/>
                <a:cs typeface="Tahoma"/>
              </a:rPr>
              <a:t>ورديّة النهار</a:t>
            </a:r>
          </a:p>
          <a:p>
            <a:pPr algn="l"/>
            <a:r>
              <a:rPr sz="800" b="0" i="0">
                <a:solidFill>
                  <a:srgbClr val="5B6B63"/>
                </a:solidFill>
                <a:latin typeface="Segoe UI"/>
                <a:cs typeface="Tahoma"/>
              </a:rPr>
              <a:t>The day shift</a:t>
            </a:r>
          </a:p>
        </p:txBody>
      </p:sp>
      <p:sp>
        <p:nvSpPr>
          <p:cNvPr id="9" name="Rounded Rectangle 8"/>
          <p:cNvSpPr/>
          <p:nvPr/>
        </p:nvSpPr>
        <p:spPr>
          <a:xfrm>
            <a:off x="3346704"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46704"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NOV-F05 · SHOT 2</a:t>
            </a:r>
          </a:p>
          <a:p>
            <a:pPr algn="ctr"/>
            <a:r>
              <a:rPr sz="900" b="1" i="0">
                <a:solidFill>
                  <a:srgbClr val="5B6B63"/>
                </a:solidFill>
                <a:latin typeface="Segoe UI"/>
                <a:cs typeface="Tahoma"/>
              </a:rPr>
              <a:t>4s to 8s</a:t>
            </a:r>
          </a:p>
        </p:txBody>
      </p:sp>
      <p:sp>
        <p:nvSpPr>
          <p:cNvPr id="11" name="TextBox 10"/>
          <p:cNvSpPr txBox="1"/>
          <p:nvPr/>
        </p:nvSpPr>
        <p:spPr>
          <a:xfrm>
            <a:off x="3346704"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4–8s</a:t>
            </a:r>
          </a:p>
          <a:p>
            <a:pPr rtl="1" algn="r"/>
            <a:r>
              <a:rPr sz="800" b="0" i="0">
                <a:solidFill>
                  <a:srgbClr val="5B6B63"/>
                </a:solidFill>
                <a:latin typeface="Segoe UI"/>
                <a:cs typeface="Tahoma"/>
              </a:rPr>
              <a:t>وجوهٌ في النهار</a:t>
            </a:r>
          </a:p>
          <a:p>
            <a:pPr algn="l"/>
            <a:r>
              <a:rPr sz="800" b="0" i="0">
                <a:solidFill>
                  <a:srgbClr val="5B6B63"/>
                </a:solidFill>
                <a:latin typeface="Segoe UI"/>
                <a:cs typeface="Tahoma"/>
              </a:rPr>
              <a:t>Faces in the daylight</a:t>
            </a:r>
          </a:p>
        </p:txBody>
      </p:sp>
      <p:sp>
        <p:nvSpPr>
          <p:cNvPr id="12" name="Rounded Rectangle 11"/>
          <p:cNvSpPr/>
          <p:nvPr/>
        </p:nvSpPr>
        <p:spPr>
          <a:xfrm>
            <a:off x="4791456"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91456"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NOV-F05 · SHOT 3</a:t>
            </a:r>
          </a:p>
          <a:p>
            <a:pPr algn="ctr"/>
            <a:r>
              <a:rPr sz="900" b="1" i="0">
                <a:solidFill>
                  <a:srgbClr val="5B6B63"/>
                </a:solidFill>
                <a:latin typeface="Segoe UI"/>
                <a:cs typeface="Tahoma"/>
              </a:rPr>
              <a:t>8s to 12s</a:t>
            </a:r>
          </a:p>
        </p:txBody>
      </p:sp>
      <p:sp>
        <p:nvSpPr>
          <p:cNvPr id="14" name="TextBox 13"/>
          <p:cNvSpPr txBox="1"/>
          <p:nvPr/>
        </p:nvSpPr>
        <p:spPr>
          <a:xfrm>
            <a:off x="4791456"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8–12s</a:t>
            </a:r>
          </a:p>
          <a:p>
            <a:pPr rtl="1" algn="r"/>
            <a:r>
              <a:rPr sz="800" b="0" i="0">
                <a:solidFill>
                  <a:srgbClr val="5B6B63"/>
                </a:solidFill>
                <a:latin typeface="Segoe UI"/>
                <a:cs typeface="Tahoma"/>
              </a:rPr>
              <a:t>يتبدّل الضوء</a:t>
            </a:r>
          </a:p>
          <a:p>
            <a:pPr algn="l"/>
            <a:r>
              <a:rPr sz="800" b="0" i="0">
                <a:solidFill>
                  <a:srgbClr val="5B6B63"/>
                </a:solidFill>
                <a:latin typeface="Segoe UI"/>
                <a:cs typeface="Tahoma"/>
              </a:rPr>
              <a:t>The light turns</a:t>
            </a:r>
          </a:p>
        </p:txBody>
      </p:sp>
      <p:sp>
        <p:nvSpPr>
          <p:cNvPr id="15" name="Rounded Rectangle 14"/>
          <p:cNvSpPr/>
          <p:nvPr/>
        </p:nvSpPr>
        <p:spPr>
          <a:xfrm>
            <a:off x="6236208"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36208"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NOV-F05 · SHOT 4</a:t>
            </a:r>
          </a:p>
          <a:p>
            <a:pPr algn="ctr"/>
            <a:r>
              <a:rPr sz="900" b="1" i="0">
                <a:solidFill>
                  <a:srgbClr val="5B6B63"/>
                </a:solidFill>
                <a:latin typeface="Segoe UI"/>
                <a:cs typeface="Tahoma"/>
              </a:rPr>
              <a:t>12s to 16s</a:t>
            </a:r>
          </a:p>
        </p:txBody>
      </p:sp>
      <p:sp>
        <p:nvSpPr>
          <p:cNvPr id="17" name="TextBox 16"/>
          <p:cNvSpPr txBox="1"/>
          <p:nvPr/>
        </p:nvSpPr>
        <p:spPr>
          <a:xfrm>
            <a:off x="6236208"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12–16s</a:t>
            </a:r>
          </a:p>
          <a:p>
            <a:pPr rtl="1" algn="r"/>
            <a:r>
              <a:rPr sz="800" b="0" i="0">
                <a:solidFill>
                  <a:srgbClr val="5B6B63"/>
                </a:solidFill>
                <a:latin typeface="Segoe UI"/>
                <a:cs typeface="Tahoma"/>
              </a:rPr>
              <a:t>ورديّة الليل</a:t>
            </a:r>
          </a:p>
          <a:p>
            <a:pPr algn="l"/>
            <a:r>
              <a:rPr sz="800" b="0" i="0">
                <a:solidFill>
                  <a:srgbClr val="5B6B63"/>
                </a:solidFill>
                <a:latin typeface="Segoe UI"/>
                <a:cs typeface="Tahoma"/>
              </a:rPr>
              <a:t>The night shift</a:t>
            </a:r>
          </a:p>
        </p:txBody>
      </p:sp>
      <p:sp>
        <p:nvSpPr>
          <p:cNvPr id="18" name="Rounded Rectangle 17"/>
          <p:cNvSpPr/>
          <p:nvPr/>
        </p:nvSpPr>
        <p:spPr>
          <a:xfrm>
            <a:off x="7680960"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0"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NOV-F05 · SHOT 5</a:t>
            </a:r>
          </a:p>
          <a:p>
            <a:pPr algn="ctr"/>
            <a:r>
              <a:rPr sz="900" b="1" i="0">
                <a:solidFill>
                  <a:srgbClr val="5B6B63"/>
                </a:solidFill>
                <a:latin typeface="Segoe UI"/>
                <a:cs typeface="Tahoma"/>
              </a:rPr>
              <a:t>16s to 20s</a:t>
            </a:r>
          </a:p>
        </p:txBody>
      </p:sp>
      <p:sp>
        <p:nvSpPr>
          <p:cNvPr id="20" name="TextBox 19"/>
          <p:cNvSpPr txBox="1"/>
          <p:nvPr/>
        </p:nvSpPr>
        <p:spPr>
          <a:xfrm>
            <a:off x="7680960"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16–20s</a:t>
            </a:r>
          </a:p>
          <a:p>
            <a:pPr rtl="1" algn="r"/>
            <a:r>
              <a:rPr sz="800" b="0" i="0">
                <a:solidFill>
                  <a:srgbClr val="5B6B63"/>
                </a:solidFill>
                <a:latin typeface="Segoe UI"/>
                <a:cs typeface="Tahoma"/>
              </a:rPr>
              <a:t>شكرًا لكل ورديّة  ·  sudairpharma.com</a:t>
            </a:r>
          </a:p>
          <a:p>
            <a:pPr algn="l"/>
            <a:r>
              <a:rPr sz="800" b="0" i="0">
                <a:solidFill>
                  <a:srgbClr val="5B6B63"/>
                </a:solidFill>
                <a:latin typeface="Segoe UI"/>
                <a:cs typeface="Tahoma"/>
              </a:rPr>
              <a:t>Thank you to every shift  ·  sudairpharma.com</a:t>
            </a:r>
          </a:p>
        </p:txBody>
      </p:sp>
      <p:sp>
        <p:nvSpPr>
          <p:cNvPr id="21" name="Rounded Rectangle 20"/>
          <p:cNvSpPr/>
          <p:nvPr/>
        </p:nvSpPr>
        <p:spPr>
          <a:xfrm>
            <a:off x="457200" y="376428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76428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NOV-F05 · Tue 2026-11-10 · Instagram + Facebook · Reel</a:t>
            </a:r>
          </a:p>
        </p:txBody>
      </p:sp>
      <p:sp>
        <p:nvSpPr>
          <p:cNvPr id="23" name="TextBox 22"/>
          <p:cNvSpPr txBox="1"/>
          <p:nvPr/>
        </p:nvSpPr>
        <p:spPr>
          <a:xfrm>
            <a:off x="457200" y="422148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Day to night: the day shift, the night shift, one site  ·  Meet the makers  ·  T7 People hero</a:t>
            </a:r>
          </a:p>
        </p:txBody>
      </p:sp>
      <p:sp>
        <p:nvSpPr>
          <p:cNvPr id="24" name="TextBox 23"/>
          <p:cNvSpPr txBox="1"/>
          <p:nvPr/>
        </p:nvSpPr>
        <p:spPr>
          <a:xfrm>
            <a:off x="457200" y="4568952"/>
            <a:ext cx="11247120"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من النهار إلى الليل</a:t>
            </a:r>
          </a:p>
        </p:txBody>
      </p:sp>
      <p:sp>
        <p:nvSpPr>
          <p:cNvPr id="25" name="TextBox 24"/>
          <p:cNvSpPr txBox="1"/>
          <p:nvPr/>
        </p:nvSpPr>
        <p:spPr>
          <a:xfrm>
            <a:off x="457200" y="4980432"/>
            <a:ext cx="11247120"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موقعٌ واحد</a:t>
            </a:r>
          </a:p>
        </p:txBody>
      </p:sp>
      <p:sp>
        <p:nvSpPr>
          <p:cNvPr id="26" name="TextBox 25"/>
          <p:cNvSpPr txBox="1"/>
          <p:nvPr/>
        </p:nvSpPr>
        <p:spPr>
          <a:xfrm>
            <a:off x="457200" y="5327904"/>
            <a:ext cx="11247120"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From day to night · One site, every shift</a:t>
            </a:r>
          </a:p>
        </p:txBody>
      </p:sp>
      <p:sp>
        <p:nvSpPr>
          <p:cNvPr id="27" name="TextBox 26"/>
          <p:cNvSpPr txBox="1"/>
          <p:nvPr/>
        </p:nvSpPr>
        <p:spPr>
          <a:xfrm>
            <a:off x="457200" y="5785104"/>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one site, held by people through day and night. Cover: a generated Saudi woman in a deep green hijab and abaya in warm daylight on the left and a generated Saudi man in a white thobe and shemagh in blue dusk light on the right, calm, side by side, above the real drone photo of the site whose sky shifts from day to dusk across the frame; headline in the lower third; logo area clear.</a:t>
            </a:r>
          </a:p>
        </p:txBody>
      </p:sp>
      <p:sp>
        <p:nvSpPr>
          <p:cNvPr id="28" name="TextBox 27"/>
          <p:cNvSpPr txBox="1"/>
          <p:nvPr/>
        </p:nvSpPr>
        <p:spPr>
          <a:xfrm>
            <a:off x="457200" y="6562344"/>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A001  Collective footage-20261001T081156Z-1-008/Collective footage/DJI_20260121084222_0001_D.MOV | A013  Collective footage-20261001T081156Z-1-008/Collective footage/Camera/2/jaradi20260121_8608.MP4 | A002  Collective footage-20261001T081156Z-1-008/Collective footage/DJI_20260121084636_0010_D.MOV | </a:t>
            </a:r>
          </a:p>
        </p:txBody>
      </p:sp>
      <p:sp>
        <p:nvSpPr>
          <p:cNvPr id="29" name="TextBox 28"/>
          <p:cNvSpPr txBox="1"/>
          <p:nvPr/>
        </p:nvSpPr>
        <p:spPr>
          <a:xfrm>
            <a:off x="457200" y="7110984"/>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حين يغيب ضوء النهار لا يهدأ المكان، فيتسلّم فريقٌ من فريق. من الصباح إلى الليل، موقعٌ واحد وناسٌ يتناوبون عليه. أرسلوا الفيديو لمن تعرفونه يعمل في الورديات.</a:t>
            </a:r>
          </a:p>
          <a:p>
            <a:pPr algn="l"/>
            <a:r>
              <a:rPr sz="900" b="0" i="0">
                <a:solidFill>
                  <a:srgbClr val="142B22"/>
                </a:solidFill>
                <a:latin typeface="Segoe UI"/>
                <a:cs typeface="Tahoma"/>
              </a:rPr>
              <a:t>EN: When the daylight fades the place does not go quiet: one team hands over to the next. From morning to night, one site and the people who take turns holding it. Send this to someone you know who works shifts.</a:t>
            </a:r>
          </a:p>
        </p:txBody>
      </p:sp>
      <p:sp>
        <p:nvSpPr>
          <p:cNvPr id="30" name="TextBox 29"/>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Exterior and people only; no process at night is shown or described; the client confirms the night-shift wording before posting; frame A013 so no pack or label reads.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NOV-L04 · S1</a:t>
            </a:r>
          </a:p>
          <a:p>
            <a:pPr algn="ctr"/>
            <a:r>
              <a:rPr sz="900" b="1" i="0">
                <a:solidFill>
                  <a:srgbClr val="5B6B63"/>
                </a:solidFill>
                <a:latin typeface="Segoe UI"/>
                <a:cs typeface="Tahoma"/>
              </a:rPr>
              <a:t>1080 × 1350</a:t>
            </a:r>
          </a:p>
        </p:txBody>
      </p:sp>
      <p:sp>
        <p:nvSpPr>
          <p:cNvPr id="5" name="TextBox 4"/>
          <p:cNvSpPr txBox="1"/>
          <p:nvPr/>
        </p:nvSpPr>
        <p:spPr>
          <a:xfrm>
            <a:off x="45720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شكراً للصيادلة</a:t>
            </a:r>
          </a:p>
          <a:p>
            <a:pPr algn="l"/>
            <a:r>
              <a:rPr sz="850" b="0" i="0">
                <a:solidFill>
                  <a:srgbClr val="5B6B63"/>
                </a:solidFill>
                <a:latin typeface="Segoe UI"/>
                <a:cs typeface="Tahoma"/>
              </a:rPr>
              <a:t>Thank you, pharmacists</a:t>
            </a:r>
          </a:p>
        </p:txBody>
      </p:sp>
      <p:sp>
        <p:nvSpPr>
          <p:cNvPr id="6" name="Rounded Rectangle 5"/>
          <p:cNvSpPr/>
          <p:nvPr/>
        </p:nvSpPr>
        <p:spPr>
          <a:xfrm>
            <a:off x="265176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NOV-L04 · S2</a:t>
            </a:r>
          </a:p>
          <a:p>
            <a:pPr algn="ctr"/>
            <a:r>
              <a:rPr sz="900" b="1" i="0">
                <a:solidFill>
                  <a:srgbClr val="5B6B63"/>
                </a:solidFill>
                <a:latin typeface="Segoe UI"/>
                <a:cs typeface="Tahoma"/>
              </a:rPr>
              <a:t>1080 × 1350</a:t>
            </a:r>
          </a:p>
        </p:txBody>
      </p:sp>
      <p:sp>
        <p:nvSpPr>
          <p:cNvPr id="8" name="TextBox 7"/>
          <p:cNvSpPr txBox="1"/>
          <p:nvPr/>
        </p:nvSpPr>
        <p:spPr>
          <a:xfrm>
            <a:off x="265176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وقتٌ تمنحونه</a:t>
            </a:r>
          </a:p>
          <a:p>
            <a:pPr algn="l"/>
            <a:r>
              <a:rPr sz="850" b="0" i="0">
                <a:solidFill>
                  <a:srgbClr val="5B6B63"/>
                </a:solidFill>
                <a:latin typeface="Segoe UI"/>
                <a:cs typeface="Tahoma"/>
              </a:rPr>
              <a:t>Time you give to everyone who walks in</a:t>
            </a:r>
          </a:p>
        </p:txBody>
      </p:sp>
      <p:sp>
        <p:nvSpPr>
          <p:cNvPr id="9" name="Rounded Rectangle 8"/>
          <p:cNvSpPr/>
          <p:nvPr/>
        </p:nvSpPr>
        <p:spPr>
          <a:xfrm>
            <a:off x="484632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NOV-L04 · S3</a:t>
            </a:r>
          </a:p>
          <a:p>
            <a:pPr algn="ctr"/>
            <a:r>
              <a:rPr sz="900" b="1" i="0">
                <a:solidFill>
                  <a:srgbClr val="5B6B63"/>
                </a:solidFill>
                <a:latin typeface="Segoe UI"/>
                <a:cs typeface="Tahoma"/>
              </a:rPr>
              <a:t>1080 × 1350</a:t>
            </a:r>
          </a:p>
        </p:txBody>
      </p:sp>
      <p:sp>
        <p:nvSpPr>
          <p:cNvPr id="11" name="TextBox 10"/>
          <p:cNvSpPr txBox="1"/>
          <p:nvPr/>
        </p:nvSpPr>
        <p:spPr>
          <a:xfrm>
            <a:off x="484632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idea</a:t>
            </a:r>
          </a:p>
          <a:p>
            <a:pPr rtl="1" algn="r"/>
            <a:r>
              <a:rPr sz="850" b="0" i="0">
                <a:solidFill>
                  <a:srgbClr val="5B6B63"/>
                </a:solidFill>
                <a:latin typeface="Segoe UI"/>
                <a:cs typeface="Tahoma"/>
              </a:rPr>
              <a:t>اسمٌ تتذكرونه</a:t>
            </a:r>
          </a:p>
          <a:p>
            <a:pPr algn="l"/>
            <a:r>
              <a:rPr sz="850" b="0" i="0">
                <a:solidFill>
                  <a:srgbClr val="5B6B63"/>
                </a:solidFill>
                <a:latin typeface="Segoe UI"/>
                <a:cs typeface="Tahoma"/>
              </a:rPr>
              <a:t>A name you remember, a face the neighbourhood knows</a:t>
            </a:r>
          </a:p>
        </p:txBody>
      </p:sp>
      <p:sp>
        <p:nvSpPr>
          <p:cNvPr id="12" name="Rounded Rectangle 11"/>
          <p:cNvSpPr/>
          <p:nvPr/>
        </p:nvSpPr>
        <p:spPr>
          <a:xfrm>
            <a:off x="7040879"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79"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NOV-L04 · S4</a:t>
            </a:r>
          </a:p>
          <a:p>
            <a:pPr algn="ctr"/>
            <a:r>
              <a:rPr sz="900" b="1" i="0">
                <a:solidFill>
                  <a:srgbClr val="5B6B63"/>
                </a:solidFill>
                <a:latin typeface="Segoe UI"/>
                <a:cs typeface="Tahoma"/>
              </a:rPr>
              <a:t>1080 × 1350</a:t>
            </a:r>
          </a:p>
        </p:txBody>
      </p:sp>
      <p:sp>
        <p:nvSpPr>
          <p:cNvPr id="14" name="TextBox 13"/>
          <p:cNvSpPr txBox="1"/>
          <p:nvPr/>
        </p:nvSpPr>
        <p:spPr>
          <a:xfrm>
            <a:off x="7040879"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idea</a:t>
            </a:r>
          </a:p>
          <a:p>
            <a:pPr rtl="1" algn="r"/>
            <a:r>
              <a:rPr sz="850" b="0" i="0">
                <a:solidFill>
                  <a:srgbClr val="5B6B63"/>
                </a:solidFill>
                <a:latin typeface="Segoe UI"/>
                <a:cs typeface="Tahoma"/>
              </a:rPr>
              <a:t>يومٌ يطول</a:t>
            </a:r>
          </a:p>
          <a:p>
            <a:pPr algn="l"/>
            <a:r>
              <a:rPr sz="850" b="0" i="0">
                <a:solidFill>
                  <a:srgbClr val="5B6B63"/>
                </a:solidFill>
                <a:latin typeface="Segoe UI"/>
                <a:cs typeface="Tahoma"/>
              </a:rPr>
              <a:t>A long day, and a smile that stays</a:t>
            </a:r>
          </a:p>
        </p:txBody>
      </p:sp>
      <p:sp>
        <p:nvSpPr>
          <p:cNvPr id="15" name="Rounded Rectangle 14"/>
          <p:cNvSpPr/>
          <p:nvPr/>
        </p:nvSpPr>
        <p:spPr>
          <a:xfrm>
            <a:off x="923544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NOV-L04 · S5</a:t>
            </a:r>
          </a:p>
          <a:p>
            <a:pPr algn="ctr"/>
            <a:r>
              <a:rPr sz="900" b="1" i="0">
                <a:solidFill>
                  <a:srgbClr val="5B6B63"/>
                </a:solidFill>
                <a:latin typeface="Segoe UI"/>
                <a:cs typeface="Tahoma"/>
              </a:rPr>
              <a:t>1080 × 1350</a:t>
            </a:r>
          </a:p>
        </p:txBody>
      </p:sp>
      <p:sp>
        <p:nvSpPr>
          <p:cNvPr id="17" name="TextBox 16"/>
          <p:cNvSpPr txBox="1"/>
          <p:nvPr/>
        </p:nvSpPr>
        <p:spPr>
          <a:xfrm>
            <a:off x="923544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cta</a:t>
            </a:r>
          </a:p>
          <a:p>
            <a:pPr rtl="1" algn="r"/>
            <a:r>
              <a:rPr sz="850" b="0" i="0">
                <a:solidFill>
                  <a:srgbClr val="5B6B63"/>
                </a:solidFill>
                <a:latin typeface="Segoe UI"/>
                <a:cs typeface="Tahoma"/>
              </a:rPr>
              <a:t>شكراً من القلب</a:t>
            </a:r>
          </a:p>
          <a:p>
            <a:pPr algn="l"/>
            <a:r>
              <a:rPr sz="850" b="0" i="0">
                <a:solidFill>
                  <a:srgbClr val="5B6B63"/>
                </a:solidFill>
                <a:latin typeface="Segoe UI"/>
                <a:cs typeface="Tahoma"/>
              </a:rPr>
              <a:t>Thank you, from the whole team.</a:t>
            </a:r>
          </a:p>
        </p:txBody>
      </p:sp>
      <p:sp>
        <p:nvSpPr>
          <p:cNvPr id="18" name="Rounded Rectangle 17"/>
          <p:cNvSpPr/>
          <p:nvPr/>
        </p:nvSpPr>
        <p:spPr>
          <a:xfrm>
            <a:off x="457200" y="390906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0906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NOV-L04 · Wed 2026-11-11 · LinkedIn + X · Carousel</a:t>
            </a:r>
          </a:p>
        </p:txBody>
      </p:sp>
      <p:sp>
        <p:nvSpPr>
          <p:cNvPr id="20" name="TextBox 19"/>
          <p:cNvSpPr txBox="1"/>
          <p:nvPr/>
        </p:nvSpPr>
        <p:spPr>
          <a:xfrm>
            <a:off x="457200" y="436626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Thank you, pharmacists  ·  Year and community  ·  T4 Card explainer</a:t>
            </a:r>
          </a:p>
        </p:txBody>
      </p:sp>
      <p:sp>
        <p:nvSpPr>
          <p:cNvPr id="21" name="TextBox 20"/>
          <p:cNvSpPr txBox="1"/>
          <p:nvPr/>
        </p:nvSpPr>
        <p:spPr>
          <a:xfrm>
            <a:off x="457200" y="471373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The picture must say 'thank you for the time, the name and the smile'. Four rounded cream cards with a lime-green edge, each holding a friendly rendered Pixar-style character in green clothing at a plain counter with only a small lamp and a notebook on it (a pharmacist, a customer, an elderly neighbour, a child with a parent); emerald gradient background with faint lattice. Counter shelves behind are blurred plain bl</a:t>
            </a:r>
          </a:p>
        </p:txBody>
      </p:sp>
      <p:sp>
        <p:nvSpPr>
          <p:cNvPr id="22" name="TextBox 21"/>
          <p:cNvSpPr txBox="1"/>
          <p:nvPr/>
        </p:nvSpPr>
        <p:spPr>
          <a:xfrm>
            <a:off x="457200" y="535381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Generated only</a:t>
            </a:r>
          </a:p>
        </p:txBody>
      </p:sp>
      <p:sp>
        <p:nvSpPr>
          <p:cNvPr id="23" name="TextBox 22"/>
          <p:cNvSpPr txBox="1"/>
          <p:nvPr/>
        </p:nvSpPr>
        <p:spPr>
          <a:xfrm>
            <a:off x="457200" y="590245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شكراً للصيادلة والصيدلانيات. لوقتكم الذي تمنحونه، ولاهتمامكم، وللاسم الذي تتذكرونه حين يعود الناس. من فريق سدير للأدوية، تحية شكرٍ وتقدير. قولوا لنا: من هو صيدلاني حيّكم الذي لا تنسونه؟</a:t>
            </a:r>
          </a:p>
          <a:p>
            <a:pPr algn="l"/>
            <a:r>
              <a:rPr sz="900" b="0" i="0">
                <a:solidFill>
                  <a:srgbClr val="142B22"/>
                </a:solidFill>
                <a:latin typeface="Segoe UI"/>
                <a:cs typeface="Tahoma"/>
              </a:rPr>
              <a:t>EN: Thank you, pharmacists. For the time you give, the attention you pay, and the name you remember when people come back. From the team at Sudair Pharma, with respect. Tell us: who is the pharmacist in your neighbourhood you never forget?</a:t>
            </a:r>
          </a:p>
        </p:txBody>
      </p:sp>
      <p:sp>
        <p:nvSpPr>
          <p:cNvPr id="24" name="TextBox 23"/>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Gratitude only: no statement of any kind, no advice, no products or packs, no figures. Generated characters are never captioned as staff or named people.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NOV-S05</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NOV-S05 · Wed 2026-11-11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Who is on shift now  ·  Meet the makers  ·  T4 Card explainer</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من في الورديّة</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الآن؟ خمّنوا</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Who is on shift now? · Take a guess</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a team is always on. Three rounded cream cards over a softly blurred real photo of the team at the line, each card holding a small friendly 3D character in green work clothing and a label; quiz sticker at the lower middle; top 250 px and bottom 340 px clear.</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A013  Collective footage-20261001T081156Z-1-008/Collective footage/Camera/2/jaradi20260121_8608.MP4</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خمّنوا أيّ فريقٍ يعمل الآن.</a:t>
            </a:r>
          </a:p>
          <a:p>
            <a:pPr algn="l"/>
            <a:r>
              <a:rPr sz="900" b="0" i="0">
                <a:solidFill>
                  <a:srgbClr val="142B22"/>
                </a:solidFill>
                <a:latin typeface="Segoe UI"/>
                <a:cs typeface="Tahoma"/>
              </a:rPr>
              <a:t>EN: Guess which team is on shift right now.</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Guessing game about teams only; the answer frame shows people at work and names no process; no pack or label reads.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493776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493776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NOV-F06</a:t>
            </a:r>
          </a:p>
          <a:p>
            <a:pPr algn="ctr"/>
            <a:r>
              <a:rPr sz="900" b="1" i="0">
                <a:solidFill>
                  <a:srgbClr val="5B6B63"/>
                </a:solidFill>
                <a:latin typeface="Segoe UI"/>
                <a:cs typeface="Tahoma"/>
              </a:rPr>
              <a:t>1080 × 1350 px (4:5)</a:t>
            </a:r>
          </a:p>
        </p:txBody>
      </p:sp>
      <p:sp>
        <p:nvSpPr>
          <p:cNvPr id="5" name="Rounded Rectangle 4"/>
          <p:cNvSpPr/>
          <p:nvPr/>
        </p:nvSpPr>
        <p:spPr>
          <a:xfrm>
            <a:off x="5669280" y="457200"/>
            <a:ext cx="603504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0" y="457200"/>
            <a:ext cx="585215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NOV-F06 · Thu 2026-11-12 · Instagram + Facebook · Still</a:t>
            </a:r>
          </a:p>
        </p:txBody>
      </p:sp>
      <p:sp>
        <p:nvSpPr>
          <p:cNvPr id="7" name="TextBox 6"/>
          <p:cNvSpPr txBox="1"/>
          <p:nvPr/>
        </p:nvSpPr>
        <p:spPr>
          <a:xfrm>
            <a:off x="5669280" y="914400"/>
            <a:ext cx="603504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Thank you to the night shift  ·  People and careers  ·  T1 Glass object</a:t>
            </a:r>
          </a:p>
        </p:txBody>
      </p:sp>
      <p:sp>
        <p:nvSpPr>
          <p:cNvPr id="8" name="TextBox 7"/>
          <p:cNvSpPr txBox="1"/>
          <p:nvPr/>
        </p:nvSpPr>
        <p:spPr>
          <a:xfrm>
            <a:off x="5669280" y="1261872"/>
            <a:ext cx="6035040"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شكرًا لفريق الليل</a:t>
            </a:r>
          </a:p>
        </p:txBody>
      </p:sp>
      <p:sp>
        <p:nvSpPr>
          <p:cNvPr id="9" name="TextBox 8"/>
          <p:cNvSpPr txBox="1"/>
          <p:nvPr/>
        </p:nvSpPr>
        <p:spPr>
          <a:xfrm>
            <a:off x="5669280" y="1673351"/>
            <a:ext cx="6035040"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حين ينام الجميع</a:t>
            </a:r>
          </a:p>
        </p:txBody>
      </p:sp>
      <p:sp>
        <p:nvSpPr>
          <p:cNvPr id="10" name="TextBox 9"/>
          <p:cNvSpPr txBox="1"/>
          <p:nvPr/>
        </p:nvSpPr>
        <p:spPr>
          <a:xfrm>
            <a:off x="5669280" y="2020824"/>
            <a:ext cx="6035040"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Thank you, night shift · For the hours most of us sleep through</a:t>
            </a:r>
          </a:p>
        </p:txBody>
      </p:sp>
      <p:sp>
        <p:nvSpPr>
          <p:cNvPr id="11" name="TextBox 10"/>
          <p:cNvSpPr txBox="1"/>
          <p:nvPr/>
        </p:nvSpPr>
        <p:spPr>
          <a:xfrm>
            <a:off x="5669280" y="2478024"/>
            <a:ext cx="603504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a thank-you to the people who work while others sleep. A single glass lantern with brushed-metal frame glowing soft mint on a glossy emerald floor, a faint night-sky gradient and lattice behind it, a thin crescent of light on the floor; soft studio light, shallow depth; no people, no text on the object.</a:t>
            </a:r>
          </a:p>
        </p:txBody>
      </p:sp>
      <p:sp>
        <p:nvSpPr>
          <p:cNvPr id="12" name="TextBox 11"/>
          <p:cNvSpPr txBox="1"/>
          <p:nvPr/>
        </p:nvSpPr>
        <p:spPr>
          <a:xfrm>
            <a:off x="5669280" y="3255264"/>
            <a:ext cx="603504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Generated only</a:t>
            </a:r>
          </a:p>
        </p:txBody>
      </p:sp>
      <p:sp>
        <p:nvSpPr>
          <p:cNvPr id="13" name="TextBox 12"/>
          <p:cNvSpPr txBox="1"/>
          <p:nvPr/>
        </p:nvSpPr>
        <p:spPr>
          <a:xfrm>
            <a:off x="5669280" y="3803904"/>
            <a:ext cx="603504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بينما نرتاح، يواصل زملاؤنا في الورديّة الليلية عملهم بهدوء. شكرًا لكم، من كل القلب. اتركوا لهم كلمة شكر في التعليقات.</a:t>
            </a:r>
          </a:p>
          <a:p>
            <a:pPr algn="l"/>
            <a:r>
              <a:rPr sz="900" b="0" i="0">
                <a:solidFill>
                  <a:srgbClr val="142B22"/>
                </a:solidFill>
                <a:latin typeface="Segoe UI"/>
                <a:cs typeface="Tahoma"/>
              </a:rPr>
              <a:t>EN: While most of us rest, our colleagues on the night shift carry on, quietly. Thank you, from all of us. Leave them a word of thanks in the comments.</a:t>
            </a:r>
          </a:p>
        </p:txBody>
      </p:sp>
      <p:sp>
        <p:nvSpPr>
          <p:cNvPr id="14" name="TextBox 13"/>
          <p:cNvSpPr txBox="1"/>
          <p:nvPr/>
        </p:nvSpPr>
        <p:spPr>
          <a:xfrm>
            <a:off x="5669280" y="6400800"/>
            <a:ext cx="603504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Thank-you only; no description of what the night shift does, no figures, no assurance wording.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NOV-S06</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NOV-S06 · Thu 2026-11-12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A day in the life  ·  People and careers  ·  T3 Portrait panel</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يومٌ في حياة</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زميلٍ من المختبر</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A day in the life · One colleague, one morning</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a day is made of small human moments. Vertical portrait of the lab analyst at the bench, hands and profile, soft light from the left, dark green panel with a faint vertical line pattern at the foot for the text; top 250 px and bottom 340 px clear; no label readable.</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A007  Collective footage-20261001T081156Z-1-008/Collective footage/Camera/1/ALABBASY.8838.MP4</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يومٌ عاديّ لزميلٍ في المختبر، من الصباح.</a:t>
            </a:r>
          </a:p>
          <a:p>
            <a:pPr algn="l"/>
            <a:r>
              <a:rPr sz="900" b="0" i="0">
                <a:solidFill>
                  <a:srgbClr val="142B22"/>
                </a:solidFill>
                <a:latin typeface="Segoe UI"/>
                <a:cs typeface="Tahoma"/>
              </a:rPr>
              <a:t>EN: An ordinary day for a colleague in the lab, from the morning.</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Staff portrait with written consent; no description of the work, no figures.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NOV-F07 · S1</a:t>
            </a:r>
          </a:p>
          <a:p>
            <a:pPr algn="ctr"/>
            <a:r>
              <a:rPr sz="900" b="1" i="0">
                <a:solidFill>
                  <a:srgbClr val="5B6B63"/>
                </a:solidFill>
                <a:latin typeface="Segoe UI"/>
                <a:cs typeface="Tahoma"/>
              </a:rPr>
              <a:t>1080 × 1350</a:t>
            </a:r>
          </a:p>
        </p:txBody>
      </p:sp>
      <p:sp>
        <p:nvSpPr>
          <p:cNvPr id="5" name="TextBox 4"/>
          <p:cNvSpPr txBox="1"/>
          <p:nvPr/>
        </p:nvSpPr>
        <p:spPr>
          <a:xfrm>
            <a:off x="45720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كلمة شكر صادقة</a:t>
            </a:r>
          </a:p>
          <a:p>
            <a:pPr algn="l"/>
            <a:r>
              <a:rPr sz="850" b="0" i="0">
                <a:solidFill>
                  <a:srgbClr val="5B6B63"/>
                </a:solidFill>
                <a:latin typeface="Segoe UI"/>
                <a:cs typeface="Tahoma"/>
              </a:rPr>
              <a:t>A word of thanks to our partners</a:t>
            </a:r>
          </a:p>
        </p:txBody>
      </p:sp>
      <p:sp>
        <p:nvSpPr>
          <p:cNvPr id="6" name="Rounded Rectangle 5"/>
          <p:cNvSpPr/>
          <p:nvPr/>
        </p:nvSpPr>
        <p:spPr>
          <a:xfrm>
            <a:off x="265176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NOV-F07 · S2</a:t>
            </a:r>
          </a:p>
          <a:p>
            <a:pPr algn="ctr"/>
            <a:r>
              <a:rPr sz="900" b="1" i="0">
                <a:solidFill>
                  <a:srgbClr val="5B6B63"/>
                </a:solidFill>
                <a:latin typeface="Segoe UI"/>
                <a:cs typeface="Tahoma"/>
              </a:rPr>
              <a:t>1080 × 1350</a:t>
            </a:r>
          </a:p>
        </p:txBody>
      </p:sp>
      <p:sp>
        <p:nvSpPr>
          <p:cNvPr id="8" name="TextBox 7"/>
          <p:cNvSpPr txBox="1"/>
          <p:nvPr/>
        </p:nvSpPr>
        <p:spPr>
          <a:xfrm>
            <a:off x="265176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شراكاتٌ</a:t>
            </a:r>
          </a:p>
          <a:p>
            <a:pPr algn="l"/>
            <a:r>
              <a:rPr sz="850" b="0" i="0">
                <a:solidFill>
                  <a:srgbClr val="5B6B63"/>
                </a:solidFill>
                <a:latin typeface="Segoe UI"/>
                <a:cs typeface="Tahoma"/>
              </a:rPr>
              <a:t>Partnerships, on exhibition stages</a:t>
            </a:r>
          </a:p>
        </p:txBody>
      </p:sp>
      <p:sp>
        <p:nvSpPr>
          <p:cNvPr id="9" name="Rounded Rectangle 8"/>
          <p:cNvSpPr/>
          <p:nvPr/>
        </p:nvSpPr>
        <p:spPr>
          <a:xfrm>
            <a:off x="484632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NOV-F07 · S3</a:t>
            </a:r>
          </a:p>
          <a:p>
            <a:pPr algn="ctr"/>
            <a:r>
              <a:rPr sz="900" b="1" i="0">
                <a:solidFill>
                  <a:srgbClr val="5B6B63"/>
                </a:solidFill>
                <a:latin typeface="Segoe UI"/>
                <a:cs typeface="Tahoma"/>
              </a:rPr>
              <a:t>1080 × 1350</a:t>
            </a:r>
          </a:p>
        </p:txBody>
      </p:sp>
      <p:sp>
        <p:nvSpPr>
          <p:cNvPr id="11" name="TextBox 10"/>
          <p:cNvSpPr txBox="1"/>
          <p:nvPr/>
        </p:nvSpPr>
        <p:spPr>
          <a:xfrm>
            <a:off x="484632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proof</a:t>
            </a:r>
          </a:p>
          <a:p>
            <a:pPr rtl="1" algn="r"/>
            <a:r>
              <a:rPr sz="850" b="0" i="0">
                <a:solidFill>
                  <a:srgbClr val="5B6B63"/>
                </a:solidFill>
                <a:latin typeface="Segoe UI"/>
                <a:cs typeface="Tahoma"/>
              </a:rPr>
              <a:t>ومع الجامعات</a:t>
            </a:r>
          </a:p>
          <a:p>
            <a:pPr algn="l"/>
            <a:r>
              <a:rPr sz="850" b="0" i="0">
                <a:solidFill>
                  <a:srgbClr val="5B6B63"/>
                </a:solidFill>
                <a:latin typeface="Segoe UI"/>
                <a:cs typeface="Tahoma"/>
              </a:rPr>
              <a:t>And with universities, one table</a:t>
            </a:r>
          </a:p>
        </p:txBody>
      </p:sp>
      <p:sp>
        <p:nvSpPr>
          <p:cNvPr id="12" name="Rounded Rectangle 11"/>
          <p:cNvSpPr/>
          <p:nvPr/>
        </p:nvSpPr>
        <p:spPr>
          <a:xfrm>
            <a:off x="7040879"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79"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NOV-F07 · S4</a:t>
            </a:r>
          </a:p>
          <a:p>
            <a:pPr algn="ctr"/>
            <a:r>
              <a:rPr sz="900" b="1" i="0">
                <a:solidFill>
                  <a:srgbClr val="5B6B63"/>
                </a:solidFill>
                <a:latin typeface="Segoe UI"/>
                <a:cs typeface="Tahoma"/>
              </a:rPr>
              <a:t>1080 × 1350</a:t>
            </a:r>
          </a:p>
        </p:txBody>
      </p:sp>
      <p:sp>
        <p:nvSpPr>
          <p:cNvPr id="14" name="TextBox 13"/>
          <p:cNvSpPr txBox="1"/>
          <p:nvPr/>
        </p:nvSpPr>
        <p:spPr>
          <a:xfrm>
            <a:off x="7040879"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proof</a:t>
            </a:r>
          </a:p>
          <a:p>
            <a:pPr rtl="1" algn="r"/>
            <a:r>
              <a:rPr sz="850" b="0" i="0">
                <a:solidFill>
                  <a:srgbClr val="5B6B63"/>
                </a:solidFill>
                <a:latin typeface="Segoe UI"/>
                <a:cs typeface="Tahoma"/>
              </a:rPr>
              <a:t>وشكرًا لفريقنا</a:t>
            </a:r>
          </a:p>
          <a:p>
            <a:pPr algn="l"/>
            <a:r>
              <a:rPr sz="850" b="0" i="0">
                <a:solidFill>
                  <a:srgbClr val="5B6B63"/>
                </a:solidFill>
                <a:latin typeface="Segoe UI"/>
                <a:cs typeface="Tahoma"/>
              </a:rPr>
              <a:t>And to our own team, behind the table</a:t>
            </a:r>
          </a:p>
        </p:txBody>
      </p:sp>
      <p:sp>
        <p:nvSpPr>
          <p:cNvPr id="15" name="Rounded Rectangle 14"/>
          <p:cNvSpPr/>
          <p:nvPr/>
        </p:nvSpPr>
        <p:spPr>
          <a:xfrm>
            <a:off x="923544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NOV-F07 · S5</a:t>
            </a:r>
          </a:p>
          <a:p>
            <a:pPr algn="ctr"/>
            <a:r>
              <a:rPr sz="900" b="1" i="0">
                <a:solidFill>
                  <a:srgbClr val="5B6B63"/>
                </a:solidFill>
                <a:latin typeface="Segoe UI"/>
                <a:cs typeface="Tahoma"/>
              </a:rPr>
              <a:t>1080 × 1350</a:t>
            </a:r>
          </a:p>
        </p:txBody>
      </p:sp>
      <p:sp>
        <p:nvSpPr>
          <p:cNvPr id="17" name="TextBox 16"/>
          <p:cNvSpPr txBox="1"/>
          <p:nvPr/>
        </p:nvSpPr>
        <p:spPr>
          <a:xfrm>
            <a:off x="923544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cta</a:t>
            </a:r>
          </a:p>
          <a:p>
            <a:pPr rtl="1" algn="r"/>
            <a:r>
              <a:rPr sz="850" b="0" i="0">
                <a:solidFill>
                  <a:srgbClr val="5B6B63"/>
                </a:solidFill>
                <a:latin typeface="Segoe UI"/>
                <a:cs typeface="Tahoma"/>
              </a:rPr>
              <a:t>شكرًا لكم</a:t>
            </a:r>
          </a:p>
          <a:p>
            <a:pPr algn="l"/>
            <a:r>
              <a:rPr sz="850" b="0" i="0">
                <a:solidFill>
                  <a:srgbClr val="5B6B63"/>
                </a:solidFill>
                <a:latin typeface="Segoe UI"/>
                <a:cs typeface="Tahoma"/>
              </a:rPr>
              <a:t>Thank you, from the heart</a:t>
            </a:r>
          </a:p>
        </p:txBody>
      </p:sp>
      <p:sp>
        <p:nvSpPr>
          <p:cNvPr id="18" name="Rounded Rectangle 17"/>
          <p:cNvSpPr/>
          <p:nvPr/>
        </p:nvSpPr>
        <p:spPr>
          <a:xfrm>
            <a:off x="457200" y="390906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0906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NOV-F07 · Sun 2026-11-15 · Instagram + Facebook · Carousel</a:t>
            </a:r>
          </a:p>
        </p:txBody>
      </p:sp>
      <p:sp>
        <p:nvSpPr>
          <p:cNvPr id="20" name="TextBox 19"/>
          <p:cNvSpPr txBox="1"/>
          <p:nvPr/>
        </p:nvSpPr>
        <p:spPr>
          <a:xfrm>
            <a:off x="457200" y="436626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A word of thanks to our partners  ·  Recognition and events  ·  T2 Team landscape</a:t>
            </a:r>
          </a:p>
        </p:txBody>
      </p:sp>
      <p:sp>
        <p:nvSpPr>
          <p:cNvPr id="21" name="TextBox 20"/>
          <p:cNvSpPr txBox="1"/>
          <p:nvPr/>
        </p:nvSpPr>
        <p:spPr>
          <a:xfrm>
            <a:off x="457200" y="471373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thank you to everyone who sat at the table with us. Cover: the real wide photo of a signing line-up on an exhibition stage, graded to the Sudair palette with a teal-green sky tone, host signage kept small and not the hero, headline above, credit line below.</a:t>
            </a:r>
          </a:p>
        </p:txBody>
      </p:sp>
      <p:sp>
        <p:nvSpPr>
          <p:cNvPr id="22" name="TextBox 21"/>
          <p:cNvSpPr txBox="1"/>
          <p:nvPr/>
        </p:nvSpPr>
        <p:spPr>
          <a:xfrm>
            <a:off x="457200" y="5353812"/>
            <a:ext cx="11247120" cy="548640"/>
          </a:xfrm>
          <a:prstGeom prst="rect">
            <a:avLst/>
          </a:prstGeom>
          <a:noFill/>
        </p:spPr>
        <p:txBody>
          <a:bodyPr wrap="square" lIns="36576" rIns="36576" tIns="18288" bIns="18288" anchor="t">
            <a:spAutoFit/>
          </a:bodyPr>
          <a:lstStyle/>
          <a:p>
            <a:pPr rtl="1" algn="r"/>
            <a:r>
              <a:rPr sz="850" b="0" i="0">
                <a:solidFill>
                  <a:srgbClr val="5B6B63"/>
                </a:solidFill>
                <a:latin typeface="Segoe UI"/>
                <a:cs typeface="Tahoma"/>
              </a:rPr>
              <a:t>Assets (relative to Sudair Assets): A054  OneDrive_2026-10-01/Gallery Photos/GHE25/sudair-pharma-strategic-agreement-global-health-2025.JPG | A052  OneDrive_2026-10-01/Gallery Photos/GHE25/sudair-pharma-local-content-agreement-global-health-2025.JPG | A103  OneDrive_2026-10-01/Gallery Photos/معرض صنع في السعودية/sudair-pharma-academic</a:t>
            </a:r>
          </a:p>
        </p:txBody>
      </p:sp>
      <p:sp>
        <p:nvSpPr>
          <p:cNvPr id="23" name="TextBox 22"/>
          <p:cNvSpPr txBox="1"/>
          <p:nvPr/>
        </p:nvSpPr>
        <p:spPr>
          <a:xfrm>
            <a:off x="457200" y="590245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خلف كل اتفاقية وجوهٌ جلست وتحاورت ثم تصافحت. نشكر كل شريكٍ جلس معنا إلى الطاولة، وكل جهةٍ فتحت لنا بابها. شاركونا بكلمة شكر لشريكٍ تعتزّون به.</a:t>
            </a:r>
          </a:p>
          <a:p>
            <a:pPr algn="l"/>
            <a:r>
              <a:rPr sz="900" b="0" i="0">
                <a:solidFill>
                  <a:srgbClr val="142B22"/>
                </a:solidFill>
                <a:latin typeface="Segoe UI"/>
                <a:cs typeface="Tahoma"/>
              </a:rPr>
              <a:t>EN: Behind every agreement there are people who sat down, talked and shook hands. We thank every partner who sat at the table with us, and every body that opened its door to us. Share a word of thanks for a partner you value.</a:t>
            </a:r>
          </a:p>
        </p:txBody>
      </p:sp>
      <p:sp>
        <p:nvSpPr>
          <p:cNvPr id="24" name="TextBox 23"/>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Event recap photographs already published, thank-you wording only; no partner named, no logo as hero, no figures, host signage is recap and not endorsement; leaders and staff consent logged before pos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NOV-L05 · S1</a:t>
            </a:r>
          </a:p>
          <a:p>
            <a:pPr algn="ctr"/>
            <a:r>
              <a:rPr sz="900" b="1" i="0">
                <a:solidFill>
                  <a:srgbClr val="5B6B63"/>
                </a:solidFill>
                <a:latin typeface="Segoe UI"/>
                <a:cs typeface="Tahoma"/>
              </a:rPr>
              <a:t>1080 × 1350</a:t>
            </a:r>
          </a:p>
        </p:txBody>
      </p:sp>
      <p:sp>
        <p:nvSpPr>
          <p:cNvPr id="5" name="TextBox 4"/>
          <p:cNvSpPr txBox="1"/>
          <p:nvPr/>
        </p:nvSpPr>
        <p:spPr>
          <a:xfrm>
            <a:off x="45720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نساء ورجال من سدير</a:t>
            </a:r>
          </a:p>
          <a:p>
            <a:pPr algn="l"/>
            <a:r>
              <a:rPr sz="850" b="0" i="0">
                <a:solidFill>
                  <a:srgbClr val="5B6B63"/>
                </a:solidFill>
                <a:latin typeface="Segoe UI"/>
                <a:cs typeface="Tahoma"/>
              </a:rPr>
              <a:t>Women and men of Sudair</a:t>
            </a:r>
          </a:p>
        </p:txBody>
      </p:sp>
      <p:sp>
        <p:nvSpPr>
          <p:cNvPr id="6" name="Rounded Rectangle 5"/>
          <p:cNvSpPr/>
          <p:nvPr/>
        </p:nvSpPr>
        <p:spPr>
          <a:xfrm>
            <a:off x="265176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NOV-L05 · S2</a:t>
            </a:r>
          </a:p>
          <a:p>
            <a:pPr algn="ctr"/>
            <a:r>
              <a:rPr sz="900" b="1" i="0">
                <a:solidFill>
                  <a:srgbClr val="5B6B63"/>
                </a:solidFill>
                <a:latin typeface="Segoe UI"/>
                <a:cs typeface="Tahoma"/>
              </a:rPr>
              <a:t>1080 × 1350</a:t>
            </a:r>
          </a:p>
        </p:txBody>
      </p:sp>
      <p:sp>
        <p:nvSpPr>
          <p:cNvPr id="8" name="TextBox 7"/>
          <p:cNvSpPr txBox="1"/>
          <p:nvPr/>
        </p:nvSpPr>
        <p:spPr>
          <a:xfrm>
            <a:off x="265176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بعضهم عند الطاولة</a:t>
            </a:r>
          </a:p>
          <a:p>
            <a:pPr algn="l"/>
            <a:r>
              <a:rPr sz="850" b="0" i="0">
                <a:solidFill>
                  <a:srgbClr val="5B6B63"/>
                </a:solidFill>
                <a:latin typeface="Segoe UI"/>
                <a:cs typeface="Tahoma"/>
              </a:rPr>
              <a:t>Some at the bench, in quiet focus</a:t>
            </a:r>
          </a:p>
        </p:txBody>
      </p:sp>
      <p:sp>
        <p:nvSpPr>
          <p:cNvPr id="9" name="Rounded Rectangle 8"/>
          <p:cNvSpPr/>
          <p:nvPr/>
        </p:nvSpPr>
        <p:spPr>
          <a:xfrm>
            <a:off x="484632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NOV-L05 · S3</a:t>
            </a:r>
          </a:p>
          <a:p>
            <a:pPr algn="ctr"/>
            <a:r>
              <a:rPr sz="900" b="1" i="0">
                <a:solidFill>
                  <a:srgbClr val="5B6B63"/>
                </a:solidFill>
                <a:latin typeface="Segoe UI"/>
                <a:cs typeface="Tahoma"/>
              </a:rPr>
              <a:t>1080 × 1350</a:t>
            </a:r>
          </a:p>
        </p:txBody>
      </p:sp>
      <p:sp>
        <p:nvSpPr>
          <p:cNvPr id="11" name="TextBox 10"/>
          <p:cNvSpPr txBox="1"/>
          <p:nvPr/>
        </p:nvSpPr>
        <p:spPr>
          <a:xfrm>
            <a:off x="484632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idea</a:t>
            </a:r>
          </a:p>
          <a:p>
            <a:pPr rtl="1" algn="r"/>
            <a:r>
              <a:rPr sz="850" b="0" i="0">
                <a:solidFill>
                  <a:srgbClr val="5B6B63"/>
                </a:solidFill>
                <a:latin typeface="Segoe UI"/>
                <a:cs typeface="Tahoma"/>
              </a:rPr>
              <a:t>وبعضهم عند الخط</a:t>
            </a:r>
          </a:p>
          <a:p>
            <a:pPr algn="l"/>
            <a:r>
              <a:rPr sz="850" b="0" i="0">
                <a:solidFill>
                  <a:srgbClr val="5B6B63"/>
                </a:solidFill>
                <a:latin typeface="Segoe UI"/>
                <a:cs typeface="Tahoma"/>
              </a:rPr>
              <a:t>Some at the line, hand in hand</a:t>
            </a:r>
          </a:p>
        </p:txBody>
      </p:sp>
      <p:sp>
        <p:nvSpPr>
          <p:cNvPr id="12" name="Rounded Rectangle 11"/>
          <p:cNvSpPr/>
          <p:nvPr/>
        </p:nvSpPr>
        <p:spPr>
          <a:xfrm>
            <a:off x="7040879"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79"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NOV-L05 · S4</a:t>
            </a:r>
          </a:p>
          <a:p>
            <a:pPr algn="ctr"/>
            <a:r>
              <a:rPr sz="900" b="1" i="0">
                <a:solidFill>
                  <a:srgbClr val="5B6B63"/>
                </a:solidFill>
                <a:latin typeface="Segoe UI"/>
                <a:cs typeface="Tahoma"/>
              </a:rPr>
              <a:t>1080 × 1350</a:t>
            </a:r>
          </a:p>
        </p:txBody>
      </p:sp>
      <p:sp>
        <p:nvSpPr>
          <p:cNvPr id="14" name="TextBox 13"/>
          <p:cNvSpPr txBox="1"/>
          <p:nvPr/>
        </p:nvSpPr>
        <p:spPr>
          <a:xfrm>
            <a:off x="7040879"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idea</a:t>
            </a:r>
          </a:p>
          <a:p>
            <a:pPr rtl="1" algn="r"/>
            <a:r>
              <a:rPr sz="850" b="0" i="0">
                <a:solidFill>
                  <a:srgbClr val="5B6B63"/>
                </a:solidFill>
                <a:latin typeface="Segoe UI"/>
                <a:cs typeface="Tahoma"/>
              </a:rPr>
              <a:t>وفي آخر اليوم</a:t>
            </a:r>
          </a:p>
          <a:p>
            <a:pPr algn="l"/>
            <a:r>
              <a:rPr sz="850" b="0" i="0">
                <a:solidFill>
                  <a:srgbClr val="5B6B63"/>
                </a:solidFill>
                <a:latin typeface="Segoe UI"/>
                <a:cs typeface="Tahoma"/>
              </a:rPr>
              <a:t>At the end of the day, one team</a:t>
            </a:r>
          </a:p>
        </p:txBody>
      </p:sp>
      <p:sp>
        <p:nvSpPr>
          <p:cNvPr id="15" name="Rounded Rectangle 14"/>
          <p:cNvSpPr/>
          <p:nvPr/>
        </p:nvSpPr>
        <p:spPr>
          <a:xfrm>
            <a:off x="923544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NOV-L05 · S5</a:t>
            </a:r>
          </a:p>
          <a:p>
            <a:pPr algn="ctr"/>
            <a:r>
              <a:rPr sz="900" b="1" i="0">
                <a:solidFill>
                  <a:srgbClr val="5B6B63"/>
                </a:solidFill>
                <a:latin typeface="Segoe UI"/>
                <a:cs typeface="Tahoma"/>
              </a:rPr>
              <a:t>1080 × 1350</a:t>
            </a:r>
          </a:p>
        </p:txBody>
      </p:sp>
      <p:sp>
        <p:nvSpPr>
          <p:cNvPr id="17" name="TextBox 16"/>
          <p:cNvSpPr txBox="1"/>
          <p:nvPr/>
        </p:nvSpPr>
        <p:spPr>
          <a:xfrm>
            <a:off x="923544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cta</a:t>
            </a:r>
          </a:p>
          <a:p>
            <a:pPr rtl="1" algn="r"/>
            <a:r>
              <a:rPr sz="850" b="0" i="0">
                <a:solidFill>
                  <a:srgbClr val="5B6B63"/>
                </a:solidFill>
                <a:latin typeface="Segoe UI"/>
                <a:cs typeface="Tahoma"/>
              </a:rPr>
              <a:t>شكراً لكل من</a:t>
            </a:r>
          </a:p>
          <a:p>
            <a:pPr algn="l"/>
            <a:r>
              <a:rPr sz="850" b="0" i="0">
                <a:solidFill>
                  <a:srgbClr val="5B6B63"/>
                </a:solidFill>
                <a:latin typeface="Segoe UI"/>
                <a:cs typeface="Tahoma"/>
              </a:rPr>
              <a:t>Thank you to everyone at their station.</a:t>
            </a:r>
          </a:p>
        </p:txBody>
      </p:sp>
      <p:sp>
        <p:nvSpPr>
          <p:cNvPr id="18" name="Rounded Rectangle 17"/>
          <p:cNvSpPr/>
          <p:nvPr/>
        </p:nvSpPr>
        <p:spPr>
          <a:xfrm>
            <a:off x="457200" y="390906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0906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NOV-L05 · Mon 2026-11-16 · LinkedIn + X · Carousel</a:t>
            </a:r>
          </a:p>
        </p:txBody>
      </p:sp>
      <p:sp>
        <p:nvSpPr>
          <p:cNvPr id="20" name="TextBox 19"/>
          <p:cNvSpPr txBox="1"/>
          <p:nvPr/>
        </p:nvSpPr>
        <p:spPr>
          <a:xfrm>
            <a:off x="457200" y="436626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Women and men of Sudair: a working day  ·  Meet the makers  ·  T2 Team landscape</a:t>
            </a:r>
          </a:p>
        </p:txBody>
      </p:sp>
      <p:sp>
        <p:nvSpPr>
          <p:cNvPr id="21" name="TextBox 20"/>
          <p:cNvSpPr txBox="1"/>
          <p:nvPr/>
        </p:nvSpPr>
        <p:spPr>
          <a:xfrm>
            <a:off x="457200" y="471373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The picture must say 'women and men, side by side, each at a station'. Wide documentary photograph of the packaging-hall team standing together at the line, teal-green sky in the grade, golden side light, natural faces, horizon in the lower part of the tile. Crop so no container or label is readable. Keep the top-left corner clear for the logo.</a:t>
            </a:r>
          </a:p>
        </p:txBody>
      </p:sp>
      <p:sp>
        <p:nvSpPr>
          <p:cNvPr id="22" name="TextBox 21"/>
          <p:cNvSpPr txBox="1"/>
          <p:nvPr/>
        </p:nvSpPr>
        <p:spPr>
          <a:xfrm>
            <a:off x="457200" y="535381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A013  Collective footage-20261001T081156Z-1-008/Collective footage/Camera/2/jaradi20260121_8608.MP4 | A007  Collective footage-20261001T081156Z-1-008/Collective footage/Camera/1/ALABBASY.8838.MP4 | A005  Collective footage-20261001T081156Z-1-008/Collective footage/Camera/1/ALABBASY.8829.MP4 | A048  </a:t>
            </a:r>
          </a:p>
        </p:txBody>
      </p:sp>
      <p:sp>
        <p:nvSpPr>
          <p:cNvPr id="23" name="TextBox 22"/>
          <p:cNvSpPr txBox="1"/>
          <p:nvPr/>
        </p:nvSpPr>
        <p:spPr>
          <a:xfrm>
            <a:off x="457200" y="590245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نساءٌ ورجالٌ من سدير، ويومُ عملٍ يمرّ بكل محطة. بعضهم عند الطاولة بتركيز هادئ، وبعضهم عند الخط يداً بيد، وفي آخر اليوم فريقٌ واحد. صورةٌ لعملٍ عاديّ يصنعه ناسٌ حقيقيون. أخبرونا: أي جزء من المكان تودّون أن تروه؟</a:t>
            </a:r>
          </a:p>
          <a:p>
            <a:pPr algn="l"/>
            <a:r>
              <a:rPr sz="900" b="0" i="0">
                <a:solidFill>
                  <a:srgbClr val="142B22"/>
                </a:solidFill>
                <a:latin typeface="Segoe UI"/>
                <a:cs typeface="Tahoma"/>
              </a:rPr>
              <a:t>EN: Women and men of Sudair, and a working day that passes through every station. Some at the bench in quiet focus, some at the line hand in hand, and at the end of the day, one team. A picture of ordinary work, made by real people. Tell us which part of the place you would like to see.</a:t>
            </a:r>
          </a:p>
        </p:txBody>
      </p:sp>
      <p:sp>
        <p:nvSpPr>
          <p:cNvPr id="24" name="TextBox 23"/>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People at work only: no explanation of any step, no figures, no readable labels in the crops. Staff consent needed for every person in the carousel.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NOV-S07</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NOV-S07 · Mon 2026-11-16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Question box: what would you like to see inside the plant?  ·  Meet the makers  ·  T8 Type card</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ماذا تودّون أن تروا</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داخل المصنع؟</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What would you like to see? · Inside the plant</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you choose what we show. Type card on deep emerald, centred two-level Arabic headline, thin mint rule, the question-box sticker in the lower middle, small white eye line icon; no photograph.</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Generated only</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قولوا لنا، ونصحبكم إلى هناك.</a:t>
            </a:r>
          </a:p>
          <a:p>
            <a:pPr algn="l"/>
            <a:r>
              <a:rPr sz="900" b="0" i="0">
                <a:solidFill>
                  <a:srgbClr val="142B22"/>
                </a:solidFill>
                <a:latin typeface="Segoe UI"/>
                <a:cs typeface="Tahoma"/>
              </a:rPr>
              <a:t>EN: Tell us, and we will take you there.</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Answers show places and people only; any question about how things are made or about products is not answered.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493776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493776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NOV-F08</a:t>
            </a:r>
          </a:p>
          <a:p>
            <a:pPr algn="ctr"/>
            <a:r>
              <a:rPr sz="900" b="1" i="0">
                <a:solidFill>
                  <a:srgbClr val="5B6B63"/>
                </a:solidFill>
                <a:latin typeface="Segoe UI"/>
                <a:cs typeface="Tahoma"/>
              </a:rPr>
              <a:t>1080 × 1350 px (4:5)</a:t>
            </a:r>
          </a:p>
        </p:txBody>
      </p:sp>
      <p:sp>
        <p:nvSpPr>
          <p:cNvPr id="5" name="Rounded Rectangle 4"/>
          <p:cNvSpPr/>
          <p:nvPr/>
        </p:nvSpPr>
        <p:spPr>
          <a:xfrm>
            <a:off x="5669280" y="457200"/>
            <a:ext cx="603504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0" y="457200"/>
            <a:ext cx="585215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NOV-F08 · Tue 2026-11-17 · Instagram + Facebook · Still</a:t>
            </a:r>
          </a:p>
        </p:txBody>
      </p:sp>
      <p:sp>
        <p:nvSpPr>
          <p:cNvPr id="7" name="TextBox 6"/>
          <p:cNvSpPr txBox="1"/>
          <p:nvPr/>
        </p:nvSpPr>
        <p:spPr>
          <a:xfrm>
            <a:off x="5669280" y="914400"/>
            <a:ext cx="603504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Skill in every station  ·  Meet the makers  ·  T4 Card explainer</a:t>
            </a:r>
          </a:p>
        </p:txBody>
      </p:sp>
      <p:sp>
        <p:nvSpPr>
          <p:cNvPr id="8" name="TextBox 7"/>
          <p:cNvSpPr txBox="1"/>
          <p:nvPr/>
        </p:nvSpPr>
        <p:spPr>
          <a:xfrm>
            <a:off x="5669280" y="1261872"/>
            <a:ext cx="6035040"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مهارةٌ في كل محطة</a:t>
            </a:r>
          </a:p>
        </p:txBody>
      </p:sp>
      <p:sp>
        <p:nvSpPr>
          <p:cNvPr id="9" name="TextBox 8"/>
          <p:cNvSpPr txBox="1"/>
          <p:nvPr/>
        </p:nvSpPr>
        <p:spPr>
          <a:xfrm>
            <a:off x="5669280" y="1673351"/>
            <a:ext cx="6035040"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وإنسانٌ خلفها</a:t>
            </a:r>
          </a:p>
        </p:txBody>
      </p:sp>
      <p:sp>
        <p:nvSpPr>
          <p:cNvPr id="10" name="TextBox 9"/>
          <p:cNvSpPr txBox="1"/>
          <p:nvPr/>
        </p:nvSpPr>
        <p:spPr>
          <a:xfrm>
            <a:off x="5669280" y="2020824"/>
            <a:ext cx="6035040"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Skill in every station · A person stands behind each one</a:t>
            </a:r>
          </a:p>
        </p:txBody>
      </p:sp>
      <p:sp>
        <p:nvSpPr>
          <p:cNvPr id="11" name="TextBox 10"/>
          <p:cNvSpPr txBox="1"/>
          <p:nvPr/>
        </p:nvSpPr>
        <p:spPr>
          <a:xfrm>
            <a:off x="5669280" y="2478024"/>
            <a:ext cx="603504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behind each station is a person. Four rounded cream cards with a lime edge on the right, each holding a friendly 3D Pixar-style character in green work clothing: at the table with a quiet focused posture, on the line with a steady rhythm, in the hall among teammates, on the site outdoors among palms. Left of each card a one-word label: patience, rhythm, teamwork, attention. Emerald gradient background with f</a:t>
            </a:r>
          </a:p>
        </p:txBody>
      </p:sp>
      <p:sp>
        <p:nvSpPr>
          <p:cNvPr id="12" name="TextBox 11"/>
          <p:cNvSpPr txBox="1"/>
          <p:nvPr/>
        </p:nvSpPr>
        <p:spPr>
          <a:xfrm>
            <a:off x="5669280" y="3255264"/>
            <a:ext cx="603504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Generated only</a:t>
            </a:r>
          </a:p>
        </p:txBody>
      </p:sp>
      <p:sp>
        <p:nvSpPr>
          <p:cNvPr id="13" name="TextBox 12"/>
          <p:cNvSpPr txBox="1"/>
          <p:nvPr/>
        </p:nvSpPr>
        <p:spPr>
          <a:xfrm>
            <a:off x="5669280" y="3803904"/>
            <a:ext cx="603504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لكل محطة في مدينة سدير إنسانٌ يعرفها بيديه. صبرٌ على الطاولة، وإيقاعٌ على الخط، وتعاونٌ في القاعة، وانتباهٌ في الموقع. أيّ محطةٍ تودّون أن تروها عن قرب؟</a:t>
            </a:r>
          </a:p>
          <a:p>
            <a:pPr algn="l"/>
            <a:r>
              <a:rPr sz="900" b="0" i="0">
                <a:solidFill>
                  <a:srgbClr val="142B22"/>
                </a:solidFill>
                <a:latin typeface="Segoe UI"/>
                <a:cs typeface="Tahoma"/>
              </a:rPr>
              <a:t>EN: Every station in Sudair City has a person who knows it by hand. Patience at the table, rhythm on the line, teamwork in the hall, attention on the site. Which station would you like to see up close?</a:t>
            </a:r>
          </a:p>
        </p:txBody>
      </p:sp>
      <p:sp>
        <p:nvSpPr>
          <p:cNvPr id="14" name="TextBox 13"/>
          <p:cNvSpPr txBox="1"/>
          <p:nvPr/>
        </p:nvSpPr>
        <p:spPr>
          <a:xfrm>
            <a:off x="5669280" y="6400800"/>
            <a:ext cx="603504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Human traits only; the stations are named, never explained; no figures, no assurance wording.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NOV-L06 · S1</a:t>
            </a:r>
          </a:p>
          <a:p>
            <a:pPr algn="ctr"/>
            <a:r>
              <a:rPr sz="900" b="1" i="0">
                <a:solidFill>
                  <a:srgbClr val="5B6B63"/>
                </a:solidFill>
                <a:latin typeface="Segoe UI"/>
                <a:cs typeface="Tahoma"/>
              </a:rPr>
              <a:t>1080 × 1350</a:t>
            </a:r>
          </a:p>
        </p:txBody>
      </p:sp>
      <p:sp>
        <p:nvSpPr>
          <p:cNvPr id="5" name="TextBox 4"/>
          <p:cNvSpPr txBox="1"/>
          <p:nvPr/>
        </p:nvSpPr>
        <p:spPr>
          <a:xfrm>
            <a:off x="45720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لماذا نبني هنا؟</a:t>
            </a:r>
          </a:p>
          <a:p>
            <a:pPr algn="l"/>
            <a:r>
              <a:rPr sz="850" b="0" i="0">
                <a:solidFill>
                  <a:srgbClr val="5B6B63"/>
                </a:solidFill>
                <a:latin typeface="Segoe UI"/>
                <a:cs typeface="Tahoma"/>
              </a:rPr>
              <a:t>Why we build here</a:t>
            </a:r>
          </a:p>
        </p:txBody>
      </p:sp>
      <p:sp>
        <p:nvSpPr>
          <p:cNvPr id="6" name="Rounded Rectangle 5"/>
          <p:cNvSpPr/>
          <p:nvPr/>
        </p:nvSpPr>
        <p:spPr>
          <a:xfrm>
            <a:off x="265176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NOV-L06 · S2</a:t>
            </a:r>
          </a:p>
          <a:p>
            <a:pPr algn="ctr"/>
            <a:r>
              <a:rPr sz="900" b="1" i="0">
                <a:solidFill>
                  <a:srgbClr val="5B6B63"/>
                </a:solidFill>
                <a:latin typeface="Segoe UI"/>
                <a:cs typeface="Tahoma"/>
              </a:rPr>
              <a:t>1080 × 1350</a:t>
            </a:r>
          </a:p>
        </p:txBody>
      </p:sp>
      <p:sp>
        <p:nvSpPr>
          <p:cNvPr id="8" name="TextBox 7"/>
          <p:cNvSpPr txBox="1"/>
          <p:nvPr/>
        </p:nvSpPr>
        <p:spPr>
          <a:xfrm>
            <a:off x="265176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لأنها بلادنا</a:t>
            </a:r>
          </a:p>
          <a:p>
            <a:pPr algn="l"/>
            <a:r>
              <a:rPr sz="850" b="0" i="0">
                <a:solidFill>
                  <a:srgbClr val="5B6B63"/>
                </a:solidFill>
                <a:latin typeface="Segoe UI"/>
                <a:cs typeface="Tahoma"/>
              </a:rPr>
              <a:t>Because it is our country, and we make things here</a:t>
            </a:r>
          </a:p>
        </p:txBody>
      </p:sp>
      <p:sp>
        <p:nvSpPr>
          <p:cNvPr id="9" name="Rounded Rectangle 8"/>
          <p:cNvSpPr/>
          <p:nvPr/>
        </p:nvSpPr>
        <p:spPr>
          <a:xfrm>
            <a:off x="484632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NOV-L06 · S3</a:t>
            </a:r>
          </a:p>
          <a:p>
            <a:pPr algn="ctr"/>
            <a:r>
              <a:rPr sz="900" b="1" i="0">
                <a:solidFill>
                  <a:srgbClr val="5B6B63"/>
                </a:solidFill>
                <a:latin typeface="Segoe UI"/>
                <a:cs typeface="Tahoma"/>
              </a:rPr>
              <a:t>1080 × 1350</a:t>
            </a:r>
          </a:p>
        </p:txBody>
      </p:sp>
      <p:sp>
        <p:nvSpPr>
          <p:cNvPr id="11" name="TextBox 10"/>
          <p:cNvSpPr txBox="1"/>
          <p:nvPr/>
        </p:nvSpPr>
        <p:spPr>
          <a:xfrm>
            <a:off x="484632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idea</a:t>
            </a:r>
          </a:p>
          <a:p>
            <a:pPr rtl="1" algn="r"/>
            <a:r>
              <a:rPr sz="850" b="0" i="0">
                <a:solidFill>
                  <a:srgbClr val="5B6B63"/>
                </a:solidFill>
                <a:latin typeface="Segoe UI"/>
                <a:cs typeface="Tahoma"/>
              </a:rPr>
              <a:t>ولأن ناسنا هنا</a:t>
            </a:r>
          </a:p>
          <a:p>
            <a:pPr algn="l"/>
            <a:r>
              <a:rPr sz="850" b="0" i="0">
                <a:solidFill>
                  <a:srgbClr val="5B6B63"/>
                </a:solidFill>
                <a:latin typeface="Segoe UI"/>
                <a:cs typeface="Tahoma"/>
              </a:rPr>
              <a:t>And because our people are here, with their skills</a:t>
            </a:r>
          </a:p>
        </p:txBody>
      </p:sp>
      <p:sp>
        <p:nvSpPr>
          <p:cNvPr id="12" name="Rounded Rectangle 11"/>
          <p:cNvSpPr/>
          <p:nvPr/>
        </p:nvSpPr>
        <p:spPr>
          <a:xfrm>
            <a:off x="7040879"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79"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NOV-L06 · S4</a:t>
            </a:r>
          </a:p>
          <a:p>
            <a:pPr algn="ctr"/>
            <a:r>
              <a:rPr sz="900" b="1" i="0">
                <a:solidFill>
                  <a:srgbClr val="5B6B63"/>
                </a:solidFill>
                <a:latin typeface="Segoe UI"/>
                <a:cs typeface="Tahoma"/>
              </a:rPr>
              <a:t>1080 × 1350</a:t>
            </a:r>
          </a:p>
        </p:txBody>
      </p:sp>
      <p:sp>
        <p:nvSpPr>
          <p:cNvPr id="14" name="TextBox 13"/>
          <p:cNvSpPr txBox="1"/>
          <p:nvPr/>
        </p:nvSpPr>
        <p:spPr>
          <a:xfrm>
            <a:off x="7040879"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idea</a:t>
            </a:r>
          </a:p>
          <a:p>
            <a:pPr rtl="1" algn="r"/>
            <a:r>
              <a:rPr sz="850" b="0" i="0">
                <a:solidFill>
                  <a:srgbClr val="5B6B63"/>
                </a:solidFill>
                <a:latin typeface="Segoe UI"/>
                <a:cs typeface="Tahoma"/>
              </a:rPr>
              <a:t>صُنع في المملكة</a:t>
            </a:r>
          </a:p>
          <a:p>
            <a:pPr algn="l"/>
            <a:r>
              <a:rPr sz="850" b="0" i="0">
                <a:solidFill>
                  <a:srgbClr val="5B6B63"/>
                </a:solidFill>
                <a:latin typeface="Segoe UI"/>
                <a:cs typeface="Tahoma"/>
              </a:rPr>
              <a:t>Made in the Kingdom, from Sudair</a:t>
            </a:r>
          </a:p>
        </p:txBody>
      </p:sp>
      <p:sp>
        <p:nvSpPr>
          <p:cNvPr id="15" name="Rounded Rectangle 14"/>
          <p:cNvSpPr/>
          <p:nvPr/>
        </p:nvSpPr>
        <p:spPr>
          <a:xfrm>
            <a:off x="923544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NOV-L06 · S5</a:t>
            </a:r>
          </a:p>
          <a:p>
            <a:pPr algn="ctr"/>
            <a:r>
              <a:rPr sz="900" b="1" i="0">
                <a:solidFill>
                  <a:srgbClr val="5B6B63"/>
                </a:solidFill>
                <a:latin typeface="Segoe UI"/>
                <a:cs typeface="Tahoma"/>
              </a:rPr>
              <a:t>1080 × 1350</a:t>
            </a:r>
          </a:p>
        </p:txBody>
      </p:sp>
      <p:sp>
        <p:nvSpPr>
          <p:cNvPr id="17" name="TextBox 16"/>
          <p:cNvSpPr txBox="1"/>
          <p:nvPr/>
        </p:nvSpPr>
        <p:spPr>
          <a:xfrm>
            <a:off x="923544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cta</a:t>
            </a:r>
          </a:p>
          <a:p>
            <a:pPr rtl="1" algn="r"/>
            <a:r>
              <a:rPr sz="850" b="0" i="0">
                <a:solidFill>
                  <a:srgbClr val="5B6B63"/>
                </a:solidFill>
                <a:latin typeface="Segoe UI"/>
                <a:cs typeface="Tahoma"/>
              </a:rPr>
              <a:t>صناعة تُرى،</a:t>
            </a:r>
          </a:p>
          <a:p>
            <a:pPr algn="l"/>
            <a:r>
              <a:rPr sz="850" b="0" i="0">
                <a:solidFill>
                  <a:srgbClr val="5B6B63"/>
                </a:solidFill>
                <a:latin typeface="Segoe UI"/>
                <a:cs typeface="Tahoma"/>
              </a:rPr>
              <a:t>Visible capability. Measurable impact.</a:t>
            </a:r>
          </a:p>
        </p:txBody>
      </p:sp>
      <p:sp>
        <p:nvSpPr>
          <p:cNvPr id="18" name="Rounded Rectangle 17"/>
          <p:cNvSpPr/>
          <p:nvPr/>
        </p:nvSpPr>
        <p:spPr>
          <a:xfrm>
            <a:off x="457200" y="390906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0906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NOV-L06 · Wed 2026-11-18 · LinkedIn + X · Carousel</a:t>
            </a:r>
          </a:p>
        </p:txBody>
      </p:sp>
      <p:sp>
        <p:nvSpPr>
          <p:cNvPr id="20" name="TextBox 19"/>
          <p:cNvSpPr txBox="1"/>
          <p:nvPr/>
        </p:nvSpPr>
        <p:spPr>
          <a:xfrm>
            <a:off x="457200" y="436626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Why we build here: local industry, in plain words  ·  Local manufacturing  ·  T7 People hero</a:t>
            </a:r>
          </a:p>
        </p:txBody>
      </p:sp>
      <p:sp>
        <p:nvSpPr>
          <p:cNvPr id="21" name="TextBox 20"/>
          <p:cNvSpPr txBox="1"/>
          <p:nvPr/>
        </p:nvSpPr>
        <p:spPr>
          <a:xfrm>
            <a:off x="457200" y="471373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The picture must say 'this is home, and we build here'. Cinematic photoreal pair above the real drone view of the site: a young Saudi woman in a deep green hijab and abaya beside a Saudi man in a white thobe and red-white shemagh, calm and proud, looking up and to the right, night sky with a teal gradient; the real whole-site drone photograph fills the lower third. Generated people are not captioned as staff. Keep th</a:t>
            </a:r>
          </a:p>
        </p:txBody>
      </p:sp>
      <p:sp>
        <p:nvSpPr>
          <p:cNvPr id="22" name="TextBox 21"/>
          <p:cNvSpPr txBox="1"/>
          <p:nvPr/>
        </p:nvSpPr>
        <p:spPr>
          <a:xfrm>
            <a:off x="457200" y="535381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A002  Collective footage-20261001T081156Z-1-008/Collective footage/DJI_20260121084636_0010_D.MOV | A001  Collective footage-20261001T081156Z-1-008/Collective footage/DJI_20260121084222_0001_D.MOV | A013  Collective footage-20261001T081156Z-1-008/Collective footage/Camera/2/jaradi20260121_8608.MP4</a:t>
            </a:r>
          </a:p>
        </p:txBody>
      </p:sp>
      <p:sp>
        <p:nvSpPr>
          <p:cNvPr id="23" name="TextBox 22"/>
          <p:cNvSpPr txBox="1"/>
          <p:nvPr/>
        </p:nvSpPr>
        <p:spPr>
          <a:xfrm>
            <a:off x="457200" y="590245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لماذا نبني هنا؟ بكلماتٍ بسيطة: لأنها بلادنا، ولأن ناسنا هنا. مدينة سدير للصناعات الدوائية مكانٌ في نجد، وفيه عملٌ يصنعه أهله. صنعٌ في المملكة، من سدير. قولوا لنا: ما الذي يعنيه لكم أن يُصنع الشيء في بلادكم؟</a:t>
            </a:r>
          </a:p>
          <a:p>
            <a:pPr algn="l"/>
            <a:r>
              <a:rPr sz="900" b="0" i="0">
                <a:solidFill>
                  <a:srgbClr val="142B22"/>
                </a:solidFill>
                <a:latin typeface="Segoe UI"/>
                <a:cs typeface="Tahoma"/>
              </a:rPr>
              <a:t>EN: Why do we build here? In plain words: because it is our country, and our people are here. Sudair City is a place in Najd, with work done by its own people. Made in the Kingdom, from Sudair. Tell us: what does it mean to you when something is made in your own country?</a:t>
            </a:r>
          </a:p>
        </p:txBody>
      </p:sp>
      <p:sp>
        <p:nvSpPr>
          <p:cNvPr id="24" name="TextBox 23"/>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Plain statement of place and people only: no figures, no rankings, no comparisons, no promises. Generated people are illustrative and never captioned as staff.</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NOV-S08</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NOV-S08 · Wed 2026-11-18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Close-up: a day's tools and benches  ·  Meet the makers  ·  T2 Team landscape</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أدوات اليوم وطاولاته</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عن قرب</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Close-up · A day's tools and benches</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the place is made of small, cared-for details. Full-bleed vertical close-up of a row of glass flasks on a bench in soft daylight, shallow depth of field, a gloved hand at the edge of the frame; graded to the Sudair emerald and teal tones; no label or text readable on any container; top 250 px and bottom 340 px clear.</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A008  Collective footage-20261001T081156Z-1-008/Collective footage/Camera/1/ALABBASY.8839.MP4 | A009  Collective footage-20261001T081156Z-1-008/Collective footage/Camera/1/ALABBASY.8842.MP4</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تفاصيل صغيرة من طاولات العمل.</a:t>
            </a:r>
          </a:p>
          <a:p>
            <a:pPr algn="l"/>
            <a:r>
              <a:rPr sz="900" b="0" i="0">
                <a:solidFill>
                  <a:srgbClr val="142B22"/>
                </a:solidFill>
                <a:latin typeface="Segoe UI"/>
                <a:cs typeface="Tahoma"/>
              </a:rPr>
              <a:t>EN: Small details from the benches.</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Tools seen from outside, not explained; crop so no label reads; no caption on their use.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493776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493776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NOV-F09</a:t>
            </a:r>
          </a:p>
          <a:p>
            <a:pPr algn="ctr"/>
            <a:r>
              <a:rPr sz="900" b="1" i="0">
                <a:solidFill>
                  <a:srgbClr val="5B6B63"/>
                </a:solidFill>
                <a:latin typeface="Segoe UI"/>
                <a:cs typeface="Tahoma"/>
              </a:rPr>
              <a:t>1080 × 1350 px (4:5)</a:t>
            </a:r>
          </a:p>
        </p:txBody>
      </p:sp>
      <p:sp>
        <p:nvSpPr>
          <p:cNvPr id="5" name="Rounded Rectangle 4"/>
          <p:cNvSpPr/>
          <p:nvPr/>
        </p:nvSpPr>
        <p:spPr>
          <a:xfrm>
            <a:off x="5669280" y="457200"/>
            <a:ext cx="603504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0" y="457200"/>
            <a:ext cx="585215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NOV-F09 · Thu 2026-11-19 · Instagram + Facebook · Still</a:t>
            </a:r>
          </a:p>
        </p:txBody>
      </p:sp>
      <p:sp>
        <p:nvSpPr>
          <p:cNvPr id="7" name="TextBox 6"/>
          <p:cNvSpPr txBox="1"/>
          <p:nvPr/>
        </p:nvSpPr>
        <p:spPr>
          <a:xfrm>
            <a:off x="5669280" y="914400"/>
            <a:ext cx="603504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People of Sudair: a portrait  ·  People and careers  ·  T3 Portrait panel</a:t>
            </a:r>
          </a:p>
        </p:txBody>
      </p:sp>
      <p:sp>
        <p:nvSpPr>
          <p:cNvPr id="8" name="TextBox 7"/>
          <p:cNvSpPr txBox="1"/>
          <p:nvPr/>
        </p:nvSpPr>
        <p:spPr>
          <a:xfrm>
            <a:off x="5669280" y="1261872"/>
            <a:ext cx="6035040"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وجهٌ من وجوه سدير</a:t>
            </a:r>
          </a:p>
        </p:txBody>
      </p:sp>
      <p:sp>
        <p:nvSpPr>
          <p:cNvPr id="9" name="TextBox 8"/>
          <p:cNvSpPr txBox="1"/>
          <p:nvPr/>
        </p:nvSpPr>
        <p:spPr>
          <a:xfrm>
            <a:off x="5669280" y="1673351"/>
            <a:ext cx="6035040"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زميلٌ في المختبر</a:t>
            </a:r>
          </a:p>
        </p:txBody>
      </p:sp>
      <p:sp>
        <p:nvSpPr>
          <p:cNvPr id="10" name="TextBox 9"/>
          <p:cNvSpPr txBox="1"/>
          <p:nvPr/>
        </p:nvSpPr>
        <p:spPr>
          <a:xfrm>
            <a:off x="5669280" y="2020824"/>
            <a:ext cx="6035040"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A face of Sudair · A colleague from the lab</a:t>
            </a:r>
          </a:p>
        </p:txBody>
      </p:sp>
      <p:sp>
        <p:nvSpPr>
          <p:cNvPr id="11" name="TextBox 10"/>
          <p:cNvSpPr txBox="1"/>
          <p:nvPr/>
        </p:nvSpPr>
        <p:spPr>
          <a:xfrm>
            <a:off x="5669280" y="2478024"/>
            <a:ext cx="603504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this is one of our people. Three-quarter portrait of the lab analyst at the bench, hands in the frame, calm and absorbed, soft key light from the left, dark green panelled wall behind with a faint vertical line pattern; the person fills the left half of the tile, the right part is clear dark green for the headline; no label readable on any container.</a:t>
            </a:r>
          </a:p>
        </p:txBody>
      </p:sp>
      <p:sp>
        <p:nvSpPr>
          <p:cNvPr id="12" name="TextBox 11"/>
          <p:cNvSpPr txBox="1"/>
          <p:nvPr/>
        </p:nvSpPr>
        <p:spPr>
          <a:xfrm>
            <a:off x="5669280" y="3255264"/>
            <a:ext cx="603504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A007  Collective footage-20261001T081156Z-1-008/Collective footage/Camera/1/ALABBASY.8838.MP4</a:t>
            </a:r>
          </a:p>
        </p:txBody>
      </p:sp>
      <p:sp>
        <p:nvSpPr>
          <p:cNvPr id="13" name="TextBox 12"/>
          <p:cNvSpPr txBox="1"/>
          <p:nvPr/>
        </p:nvSpPr>
        <p:spPr>
          <a:xfrm>
            <a:off x="5669280" y="3803904"/>
            <a:ext cx="603504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ليست المدينة جدرانًا فقط. هذا واحدٌ من زملائنا في المختبر، يبدأ يومه بهدوء ويعرف مكانه جيدًا. سنعرّفكم هذا الشهر بوجوهٍ أخرى. من تودّون أن تلتقوا؟</a:t>
            </a:r>
          </a:p>
          <a:p>
            <a:pPr algn="l"/>
            <a:r>
              <a:rPr sz="900" b="0" i="0">
                <a:solidFill>
                  <a:srgbClr val="142B22"/>
                </a:solidFill>
                <a:latin typeface="Segoe UI"/>
                <a:cs typeface="Tahoma"/>
              </a:rPr>
              <a:t>EN: A city is not only walls. This is one of our colleagues in the lab, who starts the day quietly and knows the place well. We will introduce more faces this month. Who would you like to meet?</a:t>
            </a:r>
          </a:p>
        </p:txBody>
      </p:sp>
      <p:sp>
        <p:nvSpPr>
          <p:cNvPr id="14" name="TextBox 13"/>
          <p:cNvSpPr txBox="1"/>
          <p:nvPr/>
        </p:nvSpPr>
        <p:spPr>
          <a:xfrm>
            <a:off x="5669280" y="6400800"/>
            <a:ext cx="603504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Staff portrait with written consent; name and role appear only if the person approves in writing; no description of the work, no figures.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NOV-S09</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NOV-S09 · Thu 2026-11-19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Poll: which part of the plant do you want to see next?  ·  Meet the makers  ·  T4 Card explainer</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أيّ جزءٍ</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تودّون رؤيته؟</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Which part next? · You choose, we show</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the audience picks the next place. Two rounded cream cards side by side on emerald, each with a small friendly 3D character in green work clothing and a one-word label; poll sticker in the lower middle; faint lattice; top 250 px and bottom 340 px clear.</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Generated only</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صوّتوا، ونعرض عليكم النتيجة.</a:t>
            </a:r>
          </a:p>
          <a:p>
            <a:pPr algn="l"/>
            <a:r>
              <a:rPr sz="900" b="0" i="0">
                <a:solidFill>
                  <a:srgbClr val="142B22"/>
                </a:solidFill>
                <a:latin typeface="Segoe UI"/>
                <a:cs typeface="Tahoma"/>
              </a:rPr>
              <a:t>EN: Vote, and we will show you the result.</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Poll about which place to show only; the winning place is shown as people and architecture, nothing explained.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NOV-F10 · S1</a:t>
            </a:r>
          </a:p>
          <a:p>
            <a:pPr algn="ctr"/>
            <a:r>
              <a:rPr sz="900" b="1" i="0">
                <a:solidFill>
                  <a:srgbClr val="5B6B63"/>
                </a:solidFill>
                <a:latin typeface="Segoe UI"/>
                <a:cs typeface="Tahoma"/>
              </a:rPr>
              <a:t>1080 × 1350</a:t>
            </a:r>
          </a:p>
        </p:txBody>
      </p:sp>
      <p:sp>
        <p:nvSpPr>
          <p:cNvPr id="5" name="TextBox 4"/>
          <p:cNvSpPr txBox="1"/>
          <p:nvPr/>
        </p:nvSpPr>
        <p:spPr>
          <a:xfrm>
            <a:off x="45720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لماذا ينضمّ الناس</a:t>
            </a:r>
          </a:p>
          <a:p>
            <a:pPr algn="l"/>
            <a:r>
              <a:rPr sz="850" b="0" i="0">
                <a:solidFill>
                  <a:srgbClr val="5B6B63"/>
                </a:solidFill>
                <a:latin typeface="Segoe UI"/>
                <a:cs typeface="Tahoma"/>
              </a:rPr>
              <a:t>Why people join Sudair</a:t>
            </a:r>
          </a:p>
        </p:txBody>
      </p:sp>
      <p:sp>
        <p:nvSpPr>
          <p:cNvPr id="6" name="Rounded Rectangle 5"/>
          <p:cNvSpPr/>
          <p:nvPr/>
        </p:nvSpPr>
        <p:spPr>
          <a:xfrm>
            <a:off x="265176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NOV-F10 · S2</a:t>
            </a:r>
          </a:p>
          <a:p>
            <a:pPr algn="ctr"/>
            <a:r>
              <a:rPr sz="900" b="1" i="0">
                <a:solidFill>
                  <a:srgbClr val="5B6B63"/>
                </a:solidFill>
                <a:latin typeface="Segoe UI"/>
                <a:cs typeface="Tahoma"/>
              </a:rPr>
              <a:t>1080 × 1350</a:t>
            </a:r>
          </a:p>
        </p:txBody>
      </p:sp>
      <p:sp>
        <p:nvSpPr>
          <p:cNvPr id="8" name="TextBox 7"/>
          <p:cNvSpPr txBox="1"/>
          <p:nvPr/>
        </p:nvSpPr>
        <p:spPr>
          <a:xfrm>
            <a:off x="265176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ليكونوا في فريقٍ</a:t>
            </a:r>
          </a:p>
          <a:p>
            <a:pPr algn="l"/>
            <a:r>
              <a:rPr sz="850" b="0" i="0">
                <a:solidFill>
                  <a:srgbClr val="5B6B63"/>
                </a:solidFill>
                <a:latin typeface="Segoe UI"/>
                <a:cs typeface="Tahoma"/>
              </a:rPr>
              <a:t>To be part of a team that works together</a:t>
            </a:r>
          </a:p>
        </p:txBody>
      </p:sp>
      <p:sp>
        <p:nvSpPr>
          <p:cNvPr id="9" name="Rounded Rectangle 8"/>
          <p:cNvSpPr/>
          <p:nvPr/>
        </p:nvSpPr>
        <p:spPr>
          <a:xfrm>
            <a:off x="484632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NOV-F10 · S3</a:t>
            </a:r>
          </a:p>
          <a:p>
            <a:pPr algn="ctr"/>
            <a:r>
              <a:rPr sz="900" b="1" i="0">
                <a:solidFill>
                  <a:srgbClr val="5B6B63"/>
                </a:solidFill>
                <a:latin typeface="Segoe UI"/>
                <a:cs typeface="Tahoma"/>
              </a:rPr>
              <a:t>1080 × 1350</a:t>
            </a:r>
          </a:p>
        </p:txBody>
      </p:sp>
      <p:sp>
        <p:nvSpPr>
          <p:cNvPr id="11" name="TextBox 10"/>
          <p:cNvSpPr txBox="1"/>
          <p:nvPr/>
        </p:nvSpPr>
        <p:spPr>
          <a:xfrm>
            <a:off x="484632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idea</a:t>
            </a:r>
          </a:p>
          <a:p>
            <a:pPr rtl="1" algn="r"/>
            <a:r>
              <a:rPr sz="850" b="0" i="0">
                <a:solidFill>
                  <a:srgbClr val="5B6B63"/>
                </a:solidFill>
                <a:latin typeface="Segoe UI"/>
                <a:cs typeface="Tahoma"/>
              </a:rPr>
              <a:t>ليتعلّموا من</a:t>
            </a:r>
          </a:p>
          <a:p>
            <a:pPr algn="l"/>
            <a:r>
              <a:rPr sz="850" b="0" i="0">
                <a:solidFill>
                  <a:srgbClr val="5B6B63"/>
                </a:solidFill>
                <a:latin typeface="Segoe UI"/>
                <a:cs typeface="Tahoma"/>
              </a:rPr>
              <a:t>To learn from the colleague beside them</a:t>
            </a:r>
          </a:p>
        </p:txBody>
      </p:sp>
      <p:sp>
        <p:nvSpPr>
          <p:cNvPr id="12" name="Rounded Rectangle 11"/>
          <p:cNvSpPr/>
          <p:nvPr/>
        </p:nvSpPr>
        <p:spPr>
          <a:xfrm>
            <a:off x="7040879"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79"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NOV-F10 · S4</a:t>
            </a:r>
          </a:p>
          <a:p>
            <a:pPr algn="ctr"/>
            <a:r>
              <a:rPr sz="900" b="1" i="0">
                <a:solidFill>
                  <a:srgbClr val="5B6B63"/>
                </a:solidFill>
                <a:latin typeface="Segoe UI"/>
                <a:cs typeface="Tahoma"/>
              </a:rPr>
              <a:t>1080 × 1350</a:t>
            </a:r>
          </a:p>
        </p:txBody>
      </p:sp>
      <p:sp>
        <p:nvSpPr>
          <p:cNvPr id="14" name="TextBox 13"/>
          <p:cNvSpPr txBox="1"/>
          <p:nvPr/>
        </p:nvSpPr>
        <p:spPr>
          <a:xfrm>
            <a:off x="7040879"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proof</a:t>
            </a:r>
          </a:p>
          <a:p>
            <a:pPr rtl="1" algn="r"/>
            <a:r>
              <a:rPr sz="850" b="0" i="0">
                <a:solidFill>
                  <a:srgbClr val="5B6B63"/>
                </a:solidFill>
                <a:latin typeface="Segoe UI"/>
                <a:cs typeface="Tahoma"/>
              </a:rPr>
              <a:t>ليعملوا في</a:t>
            </a:r>
          </a:p>
          <a:p>
            <a:pPr algn="l"/>
            <a:r>
              <a:rPr sz="850" b="0" i="0">
                <a:solidFill>
                  <a:srgbClr val="5B6B63"/>
                </a:solidFill>
                <a:latin typeface="Segoe UI"/>
                <a:cs typeface="Tahoma"/>
              </a:rPr>
              <a:t>To work in industry made at home</a:t>
            </a:r>
          </a:p>
        </p:txBody>
      </p:sp>
      <p:sp>
        <p:nvSpPr>
          <p:cNvPr id="15" name="Rounded Rectangle 14"/>
          <p:cNvSpPr/>
          <p:nvPr/>
        </p:nvSpPr>
        <p:spPr>
          <a:xfrm>
            <a:off x="923544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NOV-F10 · S5</a:t>
            </a:r>
          </a:p>
          <a:p>
            <a:pPr algn="ctr"/>
            <a:r>
              <a:rPr sz="900" b="1" i="0">
                <a:solidFill>
                  <a:srgbClr val="5B6B63"/>
                </a:solidFill>
                <a:latin typeface="Segoe UI"/>
                <a:cs typeface="Tahoma"/>
              </a:rPr>
              <a:t>1080 × 1350</a:t>
            </a:r>
          </a:p>
        </p:txBody>
      </p:sp>
      <p:sp>
        <p:nvSpPr>
          <p:cNvPr id="17" name="TextBox 16"/>
          <p:cNvSpPr txBox="1"/>
          <p:nvPr/>
        </p:nvSpPr>
        <p:spPr>
          <a:xfrm>
            <a:off x="923544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cta</a:t>
            </a:r>
          </a:p>
          <a:p>
            <a:pPr rtl="1" algn="r"/>
            <a:r>
              <a:rPr sz="850" b="0" i="0">
                <a:solidFill>
                  <a:srgbClr val="5B6B63"/>
                </a:solidFill>
                <a:latin typeface="Segoe UI"/>
                <a:cs typeface="Tahoma"/>
              </a:rPr>
              <a:t>بابنا مفتوح</a:t>
            </a:r>
          </a:p>
          <a:p>
            <a:pPr algn="l"/>
            <a:r>
              <a:rPr sz="850" b="0" i="0">
                <a:solidFill>
                  <a:srgbClr val="5B6B63"/>
                </a:solidFill>
                <a:latin typeface="Segoe UI"/>
                <a:cs typeface="Tahoma"/>
              </a:rPr>
              <a:t>Our door is open</a:t>
            </a:r>
          </a:p>
        </p:txBody>
      </p:sp>
      <p:sp>
        <p:nvSpPr>
          <p:cNvPr id="18" name="Rounded Rectangle 17"/>
          <p:cNvSpPr/>
          <p:nvPr/>
        </p:nvSpPr>
        <p:spPr>
          <a:xfrm>
            <a:off x="457200" y="390906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0906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NOV-F10 · Sun 2026-11-22 · Instagram + Facebook · Carousel</a:t>
            </a:r>
          </a:p>
        </p:txBody>
      </p:sp>
      <p:sp>
        <p:nvSpPr>
          <p:cNvPr id="20" name="TextBox 19"/>
          <p:cNvSpPr txBox="1"/>
          <p:nvPr/>
        </p:nvSpPr>
        <p:spPr>
          <a:xfrm>
            <a:off x="457200" y="436626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Why people join us  ·  People and careers  ·  T8 Type card</a:t>
            </a:r>
          </a:p>
        </p:txBody>
      </p:sp>
      <p:sp>
        <p:nvSpPr>
          <p:cNvPr id="21" name="TextBox 20"/>
          <p:cNvSpPr txBox="1"/>
          <p:nvPr/>
        </p:nvSpPr>
        <p:spPr>
          <a:xfrm>
            <a:off x="457200" y="471373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people join a place because of the people in it. Cover: type card on deep emerald, centred two-level Arabic headline with the mint accent on one word, thin mint rule, one small white line icon of a door ajar, hairline inset frame; no photograph.</a:t>
            </a:r>
          </a:p>
        </p:txBody>
      </p:sp>
      <p:sp>
        <p:nvSpPr>
          <p:cNvPr id="22" name="TextBox 21"/>
          <p:cNvSpPr txBox="1"/>
          <p:nvPr/>
        </p:nvSpPr>
        <p:spPr>
          <a:xfrm>
            <a:off x="457200" y="535381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A013  Collective footage-20261001T081156Z-1-008/Collective footage/Camera/2/jaradi20260121_8608.MP4 | A007  Collective footage-20261001T081156Z-1-008/Collective footage/Camera/1/ALABBASY.8838.MP4 | A002  Collective footage-20261001T081156Z-1-008/Collective footage/DJI_20260121084636_0010_D.MOV | A12</a:t>
            </a:r>
          </a:p>
        </p:txBody>
      </p:sp>
      <p:sp>
        <p:nvSpPr>
          <p:cNvPr id="23" name="TextBox 22"/>
          <p:cNvSpPr txBox="1"/>
          <p:nvPr/>
        </p:nvSpPr>
        <p:spPr>
          <a:xfrm>
            <a:off x="457200" y="590245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لا يأتي الناس إلى مكانٍ بسبب جدرانه، بل بسبب من يعمل فيه. هذه بعض أسباب انضمام زملائنا إلينا كما نراها. وأنتم، ما الذي يجعل مكان العمل بيتًا؟</a:t>
            </a:r>
          </a:p>
          <a:p>
            <a:pPr algn="l"/>
            <a:r>
              <a:rPr sz="900" b="0" i="0">
                <a:solidFill>
                  <a:srgbClr val="142B22"/>
                </a:solidFill>
                <a:latin typeface="Segoe UI"/>
                <a:cs typeface="Tahoma"/>
              </a:rPr>
              <a:t>EN: People do not come to a place for its walls, but for the people who work in it. These are some of the reasons our colleagues joined us, as we see them. And you: what makes a workplace feel like home?</a:t>
            </a:r>
          </a:p>
        </p:txBody>
      </p:sp>
      <p:sp>
        <p:nvSpPr>
          <p:cNvPr id="24" name="TextBox 23"/>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Culture and people only; no promise of pay, growth or outcomes, no figures, no comparison; consent logged for staff shown.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NOV-L07 · S1</a:t>
            </a:r>
          </a:p>
          <a:p>
            <a:pPr algn="ctr"/>
            <a:r>
              <a:rPr sz="900" b="1" i="0">
                <a:solidFill>
                  <a:srgbClr val="5B6B63"/>
                </a:solidFill>
                <a:latin typeface="Segoe UI"/>
                <a:cs typeface="Tahoma"/>
              </a:rPr>
              <a:t>1080 × 1350</a:t>
            </a:r>
          </a:p>
        </p:txBody>
      </p:sp>
      <p:sp>
        <p:nvSpPr>
          <p:cNvPr id="5" name="TextBox 4"/>
          <p:cNvSpPr txBox="1"/>
          <p:nvPr/>
        </p:nvSpPr>
        <p:spPr>
          <a:xfrm>
            <a:off x="45720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نبحث عن فضولٍ</a:t>
            </a:r>
          </a:p>
          <a:p>
            <a:pPr algn="l"/>
            <a:r>
              <a:rPr sz="850" b="0" i="0">
                <a:solidFill>
                  <a:srgbClr val="5B6B63"/>
                </a:solidFill>
                <a:latin typeface="Segoe UI"/>
                <a:cs typeface="Tahoma"/>
              </a:rPr>
              <a:t>Curiosity before experience</a:t>
            </a:r>
          </a:p>
        </p:txBody>
      </p:sp>
      <p:sp>
        <p:nvSpPr>
          <p:cNvPr id="6" name="Rounded Rectangle 5"/>
          <p:cNvSpPr/>
          <p:nvPr/>
        </p:nvSpPr>
        <p:spPr>
          <a:xfrm>
            <a:off x="265176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NOV-L07 · S2</a:t>
            </a:r>
          </a:p>
          <a:p>
            <a:pPr algn="ctr"/>
            <a:r>
              <a:rPr sz="900" b="1" i="0">
                <a:solidFill>
                  <a:srgbClr val="5B6B63"/>
                </a:solidFill>
                <a:latin typeface="Segoe UI"/>
                <a:cs typeface="Tahoma"/>
              </a:rPr>
              <a:t>1080 × 1350</a:t>
            </a:r>
          </a:p>
        </p:txBody>
      </p:sp>
      <p:sp>
        <p:nvSpPr>
          <p:cNvPr id="8" name="TextBox 7"/>
          <p:cNvSpPr txBox="1"/>
          <p:nvPr/>
        </p:nvSpPr>
        <p:spPr>
          <a:xfrm>
            <a:off x="265176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فضولٌ يسأل</a:t>
            </a:r>
          </a:p>
          <a:p>
            <a:pPr algn="l"/>
            <a:r>
              <a:rPr sz="850" b="0" i="0">
                <a:solidFill>
                  <a:srgbClr val="5B6B63"/>
                </a:solidFill>
                <a:latin typeface="Segoe UI"/>
                <a:cs typeface="Tahoma"/>
              </a:rPr>
              <a:t>Curiosity</a:t>
            </a:r>
          </a:p>
        </p:txBody>
      </p:sp>
      <p:sp>
        <p:nvSpPr>
          <p:cNvPr id="9" name="Rounded Rectangle 8"/>
          <p:cNvSpPr/>
          <p:nvPr/>
        </p:nvSpPr>
        <p:spPr>
          <a:xfrm>
            <a:off x="484632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NOV-L07 · S3</a:t>
            </a:r>
          </a:p>
          <a:p>
            <a:pPr algn="ctr"/>
            <a:r>
              <a:rPr sz="900" b="1" i="0">
                <a:solidFill>
                  <a:srgbClr val="5B6B63"/>
                </a:solidFill>
                <a:latin typeface="Segoe UI"/>
                <a:cs typeface="Tahoma"/>
              </a:rPr>
              <a:t>1080 × 1350</a:t>
            </a:r>
          </a:p>
        </p:txBody>
      </p:sp>
      <p:sp>
        <p:nvSpPr>
          <p:cNvPr id="11" name="TextBox 10"/>
          <p:cNvSpPr txBox="1"/>
          <p:nvPr/>
        </p:nvSpPr>
        <p:spPr>
          <a:xfrm>
            <a:off x="484632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idea</a:t>
            </a:r>
          </a:p>
          <a:p>
            <a:pPr rtl="1" algn="r"/>
            <a:r>
              <a:rPr sz="850" b="0" i="0">
                <a:solidFill>
                  <a:srgbClr val="5B6B63"/>
                </a:solidFill>
                <a:latin typeface="Segoe UI"/>
                <a:cs typeface="Tahoma"/>
              </a:rPr>
              <a:t>عنايةٌ بالتفاصيل</a:t>
            </a:r>
          </a:p>
          <a:p>
            <a:pPr algn="l"/>
            <a:r>
              <a:rPr sz="850" b="0" i="0">
                <a:solidFill>
                  <a:srgbClr val="5B6B63"/>
                </a:solidFill>
                <a:latin typeface="Segoe UI"/>
                <a:cs typeface="Tahoma"/>
              </a:rPr>
              <a:t>Care for the small details</a:t>
            </a:r>
          </a:p>
        </p:txBody>
      </p:sp>
      <p:sp>
        <p:nvSpPr>
          <p:cNvPr id="12" name="Rounded Rectangle 11"/>
          <p:cNvSpPr/>
          <p:nvPr/>
        </p:nvSpPr>
        <p:spPr>
          <a:xfrm>
            <a:off x="7040879"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79"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NOV-L07 · S4</a:t>
            </a:r>
          </a:p>
          <a:p>
            <a:pPr algn="ctr"/>
            <a:r>
              <a:rPr sz="900" b="1" i="0">
                <a:solidFill>
                  <a:srgbClr val="5B6B63"/>
                </a:solidFill>
                <a:latin typeface="Segoe UI"/>
                <a:cs typeface="Tahoma"/>
              </a:rPr>
              <a:t>1080 × 1350</a:t>
            </a:r>
          </a:p>
        </p:txBody>
      </p:sp>
      <p:sp>
        <p:nvSpPr>
          <p:cNvPr id="14" name="TextBox 13"/>
          <p:cNvSpPr txBox="1"/>
          <p:nvPr/>
        </p:nvSpPr>
        <p:spPr>
          <a:xfrm>
            <a:off x="7040879"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idea</a:t>
            </a:r>
          </a:p>
          <a:p>
            <a:pPr rtl="1" algn="r"/>
            <a:r>
              <a:rPr sz="850" b="0" i="0">
                <a:solidFill>
                  <a:srgbClr val="5B6B63"/>
                </a:solidFill>
                <a:latin typeface="Segoe UI"/>
                <a:cs typeface="Tahoma"/>
              </a:rPr>
              <a:t>وروحُ فريق</a:t>
            </a:r>
          </a:p>
          <a:p>
            <a:pPr algn="l"/>
            <a:r>
              <a:rPr sz="850" b="0" i="0">
                <a:solidFill>
                  <a:srgbClr val="5B6B63"/>
                </a:solidFill>
                <a:latin typeface="Segoe UI"/>
                <a:cs typeface="Tahoma"/>
              </a:rPr>
              <a:t>A team spirit, glad when a colleague succeeds</a:t>
            </a:r>
          </a:p>
        </p:txBody>
      </p:sp>
      <p:sp>
        <p:nvSpPr>
          <p:cNvPr id="15" name="Rounded Rectangle 14"/>
          <p:cNvSpPr/>
          <p:nvPr/>
        </p:nvSpPr>
        <p:spPr>
          <a:xfrm>
            <a:off x="923544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NOV-L07 · S5</a:t>
            </a:r>
          </a:p>
          <a:p>
            <a:pPr algn="ctr"/>
            <a:r>
              <a:rPr sz="900" b="1" i="0">
                <a:solidFill>
                  <a:srgbClr val="5B6B63"/>
                </a:solidFill>
                <a:latin typeface="Segoe UI"/>
                <a:cs typeface="Tahoma"/>
              </a:rPr>
              <a:t>1080 × 1350</a:t>
            </a:r>
          </a:p>
        </p:txBody>
      </p:sp>
      <p:sp>
        <p:nvSpPr>
          <p:cNvPr id="17" name="TextBox 16"/>
          <p:cNvSpPr txBox="1"/>
          <p:nvPr/>
        </p:nvSpPr>
        <p:spPr>
          <a:xfrm>
            <a:off x="923544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cta</a:t>
            </a:r>
          </a:p>
          <a:p>
            <a:pPr rtl="1" algn="r"/>
            <a:r>
              <a:rPr sz="850" b="0" i="0">
                <a:solidFill>
                  <a:srgbClr val="5B6B63"/>
                </a:solidFill>
                <a:latin typeface="Segoe UI"/>
                <a:cs typeface="Tahoma"/>
              </a:rPr>
              <a:t>هذا أنت؟</a:t>
            </a:r>
          </a:p>
          <a:p>
            <a:pPr algn="l"/>
            <a:r>
              <a:rPr sz="850" b="0" i="0">
                <a:solidFill>
                  <a:srgbClr val="5B6B63"/>
                </a:solidFill>
                <a:latin typeface="Segoe UI"/>
                <a:cs typeface="Tahoma"/>
              </a:rPr>
              <a:t>Is this you? We would like to know you.</a:t>
            </a:r>
          </a:p>
        </p:txBody>
      </p:sp>
      <p:sp>
        <p:nvSpPr>
          <p:cNvPr id="18" name="Rounded Rectangle 17"/>
          <p:cNvSpPr/>
          <p:nvPr/>
        </p:nvSpPr>
        <p:spPr>
          <a:xfrm>
            <a:off x="457200" y="390906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0906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NOV-L07 · Mon 2026-11-23 · LinkedIn + X · Carousel</a:t>
            </a:r>
          </a:p>
        </p:txBody>
      </p:sp>
      <p:sp>
        <p:nvSpPr>
          <p:cNvPr id="20" name="TextBox 19"/>
          <p:cNvSpPr txBox="1"/>
          <p:nvPr/>
        </p:nvSpPr>
        <p:spPr>
          <a:xfrm>
            <a:off x="457200" y="436626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Graduates and early careers: what we look for  ·  People and careers  ·  T1 Glass object</a:t>
            </a:r>
          </a:p>
        </p:txBody>
      </p:sp>
      <p:sp>
        <p:nvSpPr>
          <p:cNvPr id="21" name="TextBox 20"/>
          <p:cNvSpPr txBox="1"/>
          <p:nvPr/>
        </p:nvSpPr>
        <p:spPr>
          <a:xfrm>
            <a:off x="457200" y="471373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The picture must say 'we look for a way of thinking, not only a record'. Premium rendered image of a single glass-and-brushed-metal compass with a mint rim light on a glossy emerald floor, soft studio light from the upper left, centred, filling about half the tile height, with generous free space around it; no text, no marks on the dial. Emerald gradient from a bright glow green at top-left to near-black green at bot</a:t>
            </a:r>
          </a:p>
        </p:txBody>
      </p:sp>
      <p:sp>
        <p:nvSpPr>
          <p:cNvPr id="22" name="TextBox 21"/>
          <p:cNvSpPr txBox="1"/>
          <p:nvPr/>
        </p:nvSpPr>
        <p:spPr>
          <a:xfrm>
            <a:off x="457200" y="535381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A048  OneDrive_2026-10-01/Gallery Photos/GHE25/sudair-pharma-global-health-2025-team.JPG</a:t>
            </a:r>
          </a:p>
        </p:txBody>
      </p:sp>
      <p:sp>
        <p:nvSpPr>
          <p:cNvPr id="23" name="TextBox 22"/>
          <p:cNvSpPr txBox="1"/>
          <p:nvPr/>
        </p:nvSpPr>
        <p:spPr>
          <a:xfrm>
            <a:off x="457200" y="590245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ماذا نبحث عنه في الخريجين والخريجات؟ فضولٌ يسأل، وعنايةٌ بالتفاصيل الصغيرة، وروحُ فريقٍ تفرح بنجاح زميلها. هذه هي الصفات التي نصغي لها قبل أي شيء. تابعوا الصفحة لتعرفوا المزيد عن العمل في سدير.</a:t>
            </a:r>
          </a:p>
          <a:p>
            <a:pPr algn="l"/>
            <a:r>
              <a:rPr sz="900" b="0" i="0">
                <a:solidFill>
                  <a:srgbClr val="142B22"/>
                </a:solidFill>
                <a:latin typeface="Segoe UI"/>
                <a:cs typeface="Tahoma"/>
              </a:rPr>
              <a:t>EN: What do we look for in graduates? Curiosity that asks why, care for the small details, and a team spirit that is glad when a colleague succeeds. These are the traits we listen for before anything else. Follow the page to see more about working at Sudair.</a:t>
            </a:r>
          </a:p>
        </p:txBody>
      </p:sp>
      <p:sp>
        <p:nvSpPr>
          <p:cNvPr id="24" name="TextBox 23"/>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Character traits only: no promise of roles, training, pay or progression, no figures. Staff consent needed for the team photograph on slide 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NOV-S10</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NOV-S10 · Mon 2026-11-23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Countdown: the new year at the plant  ·  Year and community  ·  T8 Type card</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العام الجديد يقترب</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من مدينة سدير</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The new year is near · From Sudair City, with thanks</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the year turns, and we say thank you before it does. Type card on deep emerald, centred two-level headline, thin mint rule, the countdown sticker in the lower middle, small white palm line icon; no photograph.</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Generated only</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نعدّ معكم نحو عامٍ جديد، ونشكر من صنع هذا العام.</a:t>
            </a:r>
          </a:p>
          <a:p>
            <a:pPr algn="l"/>
            <a:r>
              <a:rPr sz="900" b="0" i="0">
                <a:solidFill>
                  <a:srgbClr val="142B22"/>
                </a:solidFill>
                <a:latin typeface="Segoe UI"/>
                <a:cs typeface="Tahoma"/>
              </a:rPr>
              <a:t>EN: We count down with you to a new year, and thank those who made this one.</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Countdown to a date and a thank-you only; no promise, no figures, no results.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NOV-F11 · COVER</a:t>
            </a:r>
          </a:p>
          <a:p>
            <a:pPr algn="ctr"/>
            <a:r>
              <a:rPr sz="900" b="1" i="0">
                <a:solidFill>
                  <a:srgbClr val="5B6B63"/>
                </a:solidFill>
                <a:latin typeface="Segoe UI"/>
                <a:cs typeface="Tahoma"/>
              </a:rPr>
              <a:t>9:16</a:t>
            </a:r>
          </a:p>
        </p:txBody>
      </p:sp>
      <p:sp>
        <p:nvSpPr>
          <p:cNvPr id="5" name="TextBox 4"/>
          <p:cNvSpPr txBox="1"/>
          <p:nvPr/>
        </p:nvSpPr>
        <p:spPr>
          <a:xfrm>
            <a:off x="457200" y="2877312"/>
            <a:ext cx="1371600" cy="64008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Cover</a:t>
            </a:r>
          </a:p>
          <a:p>
            <a:pPr rtl="1" algn="r"/>
            <a:r>
              <a:rPr sz="850" b="0" i="0">
                <a:solidFill>
                  <a:srgbClr val="5B6B63"/>
                </a:solidFill>
                <a:latin typeface="Segoe UI"/>
                <a:cs typeface="Tahoma"/>
              </a:rPr>
              <a:t>تعرّفوا على</a:t>
            </a:r>
          </a:p>
        </p:txBody>
      </p:sp>
      <p:sp>
        <p:nvSpPr>
          <p:cNvPr id="6" name="Rounded Rectangle 5"/>
          <p:cNvSpPr/>
          <p:nvPr/>
        </p:nvSpPr>
        <p:spPr>
          <a:xfrm>
            <a:off x="1901952"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01952"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NOV-F11 · SHOT 1</a:t>
            </a:r>
          </a:p>
          <a:p>
            <a:pPr algn="ctr"/>
            <a:r>
              <a:rPr sz="900" b="1" i="0">
                <a:solidFill>
                  <a:srgbClr val="5B6B63"/>
                </a:solidFill>
                <a:latin typeface="Segoe UI"/>
                <a:cs typeface="Tahoma"/>
              </a:rPr>
              <a:t>0s to 3s</a:t>
            </a:r>
          </a:p>
        </p:txBody>
      </p:sp>
      <p:sp>
        <p:nvSpPr>
          <p:cNvPr id="8" name="TextBox 7"/>
          <p:cNvSpPr txBox="1"/>
          <p:nvPr/>
        </p:nvSpPr>
        <p:spPr>
          <a:xfrm>
            <a:off x="1901952"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0–3s</a:t>
            </a:r>
          </a:p>
          <a:p>
            <a:pPr rtl="1" algn="r"/>
            <a:r>
              <a:rPr sz="800" b="0" i="0">
                <a:solidFill>
                  <a:srgbClr val="5B6B63"/>
                </a:solidFill>
                <a:latin typeface="Segoe UI"/>
                <a:cs typeface="Tahoma"/>
              </a:rPr>
              <a:t>فريق المختبر</a:t>
            </a:r>
          </a:p>
          <a:p>
            <a:pPr algn="l"/>
            <a:r>
              <a:rPr sz="800" b="0" i="0">
                <a:solidFill>
                  <a:srgbClr val="5B6B63"/>
                </a:solidFill>
                <a:latin typeface="Segoe UI"/>
                <a:cs typeface="Tahoma"/>
              </a:rPr>
              <a:t>The lab team</a:t>
            </a:r>
          </a:p>
        </p:txBody>
      </p:sp>
      <p:sp>
        <p:nvSpPr>
          <p:cNvPr id="9" name="Rounded Rectangle 8"/>
          <p:cNvSpPr/>
          <p:nvPr/>
        </p:nvSpPr>
        <p:spPr>
          <a:xfrm>
            <a:off x="3346704"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46704"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NOV-F11 · SHOT 2</a:t>
            </a:r>
          </a:p>
          <a:p>
            <a:pPr algn="ctr"/>
            <a:r>
              <a:rPr sz="900" b="1" i="0">
                <a:solidFill>
                  <a:srgbClr val="5B6B63"/>
                </a:solidFill>
                <a:latin typeface="Segoe UI"/>
                <a:cs typeface="Tahoma"/>
              </a:rPr>
              <a:t>3s to 7s</a:t>
            </a:r>
          </a:p>
        </p:txBody>
      </p:sp>
      <p:sp>
        <p:nvSpPr>
          <p:cNvPr id="11" name="TextBox 10"/>
          <p:cNvSpPr txBox="1"/>
          <p:nvPr/>
        </p:nvSpPr>
        <p:spPr>
          <a:xfrm>
            <a:off x="3346704"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3–7s</a:t>
            </a:r>
          </a:p>
          <a:p>
            <a:pPr rtl="1" algn="r"/>
            <a:r>
              <a:rPr sz="800" b="0" i="0">
                <a:solidFill>
                  <a:srgbClr val="5B6B63"/>
                </a:solidFill>
                <a:latin typeface="Segoe UI"/>
                <a:cs typeface="Tahoma"/>
              </a:rPr>
              <a:t>عند الطاولة</a:t>
            </a:r>
          </a:p>
          <a:p>
            <a:pPr algn="l"/>
            <a:r>
              <a:rPr sz="800" b="0" i="0">
                <a:solidFill>
                  <a:srgbClr val="5B6B63"/>
                </a:solidFill>
                <a:latin typeface="Segoe UI"/>
                <a:cs typeface="Tahoma"/>
              </a:rPr>
              <a:t>At the table</a:t>
            </a:r>
          </a:p>
        </p:txBody>
      </p:sp>
      <p:sp>
        <p:nvSpPr>
          <p:cNvPr id="12" name="Rounded Rectangle 11"/>
          <p:cNvSpPr/>
          <p:nvPr/>
        </p:nvSpPr>
        <p:spPr>
          <a:xfrm>
            <a:off x="4791456"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91456"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NOV-F11 · SHOT 3</a:t>
            </a:r>
          </a:p>
          <a:p>
            <a:pPr algn="ctr"/>
            <a:r>
              <a:rPr sz="900" b="1" i="0">
                <a:solidFill>
                  <a:srgbClr val="5B6B63"/>
                </a:solidFill>
                <a:latin typeface="Segoe UI"/>
                <a:cs typeface="Tahoma"/>
              </a:rPr>
              <a:t>7s to 10s</a:t>
            </a:r>
          </a:p>
        </p:txBody>
      </p:sp>
      <p:sp>
        <p:nvSpPr>
          <p:cNvPr id="14" name="TextBox 13"/>
          <p:cNvSpPr txBox="1"/>
          <p:nvPr/>
        </p:nvSpPr>
        <p:spPr>
          <a:xfrm>
            <a:off x="4791456"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7–10s</a:t>
            </a:r>
          </a:p>
          <a:p>
            <a:pPr rtl="1" algn="r"/>
            <a:r>
              <a:rPr sz="800" b="0" i="0">
                <a:solidFill>
                  <a:srgbClr val="5B6B63"/>
                </a:solidFill>
                <a:latin typeface="Segoe UI"/>
                <a:cs typeface="Tahoma"/>
              </a:rPr>
              <a:t>بين الأدوات</a:t>
            </a:r>
          </a:p>
          <a:p>
            <a:pPr algn="l"/>
            <a:r>
              <a:rPr sz="800" b="0" i="0">
                <a:solidFill>
                  <a:srgbClr val="5B6B63"/>
                </a:solidFill>
                <a:latin typeface="Segoe UI"/>
                <a:cs typeface="Tahoma"/>
              </a:rPr>
              <a:t>Among the tools</a:t>
            </a:r>
          </a:p>
        </p:txBody>
      </p:sp>
      <p:sp>
        <p:nvSpPr>
          <p:cNvPr id="15" name="Rounded Rectangle 14"/>
          <p:cNvSpPr/>
          <p:nvPr/>
        </p:nvSpPr>
        <p:spPr>
          <a:xfrm>
            <a:off x="6236208"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36208"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NOV-F11 · SHOT 4</a:t>
            </a:r>
          </a:p>
          <a:p>
            <a:pPr algn="ctr"/>
            <a:r>
              <a:rPr sz="900" b="1" i="0">
                <a:solidFill>
                  <a:srgbClr val="5B6B63"/>
                </a:solidFill>
                <a:latin typeface="Segoe UI"/>
                <a:cs typeface="Tahoma"/>
              </a:rPr>
              <a:t>10s to 14s</a:t>
            </a:r>
          </a:p>
        </p:txBody>
      </p:sp>
      <p:sp>
        <p:nvSpPr>
          <p:cNvPr id="17" name="TextBox 16"/>
          <p:cNvSpPr txBox="1"/>
          <p:nvPr/>
        </p:nvSpPr>
        <p:spPr>
          <a:xfrm>
            <a:off x="6236208"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10–14s</a:t>
            </a:r>
          </a:p>
          <a:p>
            <a:pPr rtl="1" algn="r"/>
            <a:r>
              <a:rPr sz="800" b="0" i="0">
                <a:solidFill>
                  <a:srgbClr val="5B6B63"/>
                </a:solidFill>
                <a:latin typeface="Segoe UI"/>
                <a:cs typeface="Tahoma"/>
              </a:rPr>
              <a:t>بيدٍ هادئة</a:t>
            </a:r>
          </a:p>
          <a:p>
            <a:pPr algn="l"/>
            <a:r>
              <a:rPr sz="800" b="0" i="0">
                <a:solidFill>
                  <a:srgbClr val="5B6B63"/>
                </a:solidFill>
                <a:latin typeface="Segoe UI"/>
                <a:cs typeface="Tahoma"/>
              </a:rPr>
              <a:t>With a quiet hand</a:t>
            </a:r>
          </a:p>
        </p:txBody>
      </p:sp>
      <p:sp>
        <p:nvSpPr>
          <p:cNvPr id="18" name="Rounded Rectangle 17"/>
          <p:cNvSpPr/>
          <p:nvPr/>
        </p:nvSpPr>
        <p:spPr>
          <a:xfrm>
            <a:off x="7680960"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0"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NOV-F11 · SHOT 5</a:t>
            </a:r>
          </a:p>
          <a:p>
            <a:pPr algn="ctr"/>
            <a:r>
              <a:rPr sz="900" b="1" i="0">
                <a:solidFill>
                  <a:srgbClr val="5B6B63"/>
                </a:solidFill>
                <a:latin typeface="Segoe UI"/>
                <a:cs typeface="Tahoma"/>
              </a:rPr>
              <a:t>14s to 17s</a:t>
            </a:r>
          </a:p>
        </p:txBody>
      </p:sp>
      <p:sp>
        <p:nvSpPr>
          <p:cNvPr id="20" name="TextBox 19"/>
          <p:cNvSpPr txBox="1"/>
          <p:nvPr/>
        </p:nvSpPr>
        <p:spPr>
          <a:xfrm>
            <a:off x="7680960"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14–17s</a:t>
            </a:r>
          </a:p>
          <a:p>
            <a:pPr rtl="1" algn="r"/>
            <a:r>
              <a:rPr sz="800" b="0" i="0">
                <a:solidFill>
                  <a:srgbClr val="5B6B63"/>
                </a:solidFill>
                <a:latin typeface="Segoe UI"/>
                <a:cs typeface="Tahoma"/>
              </a:rPr>
              <a:t>يتعلّمون من بعضهم</a:t>
            </a:r>
          </a:p>
          <a:p>
            <a:pPr algn="l"/>
            <a:r>
              <a:rPr sz="800" b="0" i="0">
                <a:solidFill>
                  <a:srgbClr val="5B6B63"/>
                </a:solidFill>
                <a:latin typeface="Segoe UI"/>
                <a:cs typeface="Tahoma"/>
              </a:rPr>
              <a:t>Learning from one another</a:t>
            </a:r>
          </a:p>
        </p:txBody>
      </p:sp>
      <p:sp>
        <p:nvSpPr>
          <p:cNvPr id="21" name="Rounded Rectangle 20"/>
          <p:cNvSpPr/>
          <p:nvPr/>
        </p:nvSpPr>
        <p:spPr>
          <a:xfrm>
            <a:off x="9125712"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25712"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NOV-F11 · SHOT 6</a:t>
            </a:r>
          </a:p>
          <a:p>
            <a:pPr algn="ctr"/>
            <a:r>
              <a:rPr sz="900" b="1" i="0">
                <a:solidFill>
                  <a:srgbClr val="5B6B63"/>
                </a:solidFill>
                <a:latin typeface="Segoe UI"/>
                <a:cs typeface="Tahoma"/>
              </a:rPr>
              <a:t>17s to 20s</a:t>
            </a:r>
          </a:p>
        </p:txBody>
      </p:sp>
      <p:sp>
        <p:nvSpPr>
          <p:cNvPr id="23" name="TextBox 22"/>
          <p:cNvSpPr txBox="1"/>
          <p:nvPr/>
        </p:nvSpPr>
        <p:spPr>
          <a:xfrm>
            <a:off x="9125712"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17–20s</a:t>
            </a:r>
          </a:p>
          <a:p>
            <a:pPr rtl="1" algn="r"/>
            <a:r>
              <a:rPr sz="800" b="0" i="0">
                <a:solidFill>
                  <a:srgbClr val="5B6B63"/>
                </a:solidFill>
                <a:latin typeface="Segoe UI"/>
                <a:cs typeface="Tahoma"/>
              </a:rPr>
              <a:t>بابنا مفتوح  ·  sudairpharma.com</a:t>
            </a:r>
          </a:p>
          <a:p>
            <a:pPr algn="l"/>
            <a:r>
              <a:rPr sz="800" b="0" i="0">
                <a:solidFill>
                  <a:srgbClr val="5B6B63"/>
                </a:solidFill>
                <a:latin typeface="Segoe UI"/>
                <a:cs typeface="Tahoma"/>
              </a:rPr>
              <a:t>Our door is open  ·  sudairpharma.com</a:t>
            </a:r>
          </a:p>
        </p:txBody>
      </p:sp>
      <p:sp>
        <p:nvSpPr>
          <p:cNvPr id="24" name="Rounded Rectangle 23"/>
          <p:cNvSpPr/>
          <p:nvPr/>
        </p:nvSpPr>
        <p:spPr>
          <a:xfrm>
            <a:off x="457200" y="376428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76428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NOV-F11 · Tue 2026-11-24 · Instagram + Facebook · Reel</a:t>
            </a:r>
          </a:p>
        </p:txBody>
      </p:sp>
      <p:sp>
        <p:nvSpPr>
          <p:cNvPr id="26" name="TextBox 25"/>
          <p:cNvSpPr txBox="1"/>
          <p:nvPr/>
        </p:nvSpPr>
        <p:spPr>
          <a:xfrm>
            <a:off x="457200" y="422148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Careers: the lab team  ·  People and careers  ·  T2 Team landscape</a:t>
            </a:r>
          </a:p>
        </p:txBody>
      </p:sp>
      <p:sp>
        <p:nvSpPr>
          <p:cNvPr id="27" name="TextBox 26"/>
          <p:cNvSpPr txBox="1"/>
          <p:nvPr/>
        </p:nvSpPr>
        <p:spPr>
          <a:xfrm>
            <a:off x="457200" y="4568952"/>
            <a:ext cx="11247120"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تعرّفوا على</a:t>
            </a:r>
          </a:p>
        </p:txBody>
      </p:sp>
      <p:sp>
        <p:nvSpPr>
          <p:cNvPr id="28" name="TextBox 27"/>
          <p:cNvSpPr txBox="1"/>
          <p:nvPr/>
        </p:nvSpPr>
        <p:spPr>
          <a:xfrm>
            <a:off x="457200" y="4980432"/>
            <a:ext cx="11247120"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فريق المختبر</a:t>
            </a:r>
          </a:p>
        </p:txBody>
      </p:sp>
      <p:sp>
        <p:nvSpPr>
          <p:cNvPr id="29" name="TextBox 28"/>
          <p:cNvSpPr txBox="1"/>
          <p:nvPr/>
        </p:nvSpPr>
        <p:spPr>
          <a:xfrm>
            <a:off x="457200" y="5327904"/>
            <a:ext cx="11247120"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Meet the lab team · Careers at Sudair</a:t>
            </a:r>
          </a:p>
        </p:txBody>
      </p:sp>
      <p:sp>
        <p:nvSpPr>
          <p:cNvPr id="30" name="TextBox 29"/>
          <p:cNvSpPr txBox="1"/>
          <p:nvPr/>
        </p:nvSpPr>
        <p:spPr>
          <a:xfrm>
            <a:off x="457200" y="5785104"/>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the lab team is a group of people you could work beside. Cover: wide documentary frame of the lab team standing together in the lab, teal-green window light, warm skin tones, natural expressions, headline above, credit line below; no label readable on any container.</a:t>
            </a:r>
          </a:p>
        </p:txBody>
      </p:sp>
      <p:sp>
        <p:nvSpPr>
          <p:cNvPr id="31" name="TextBox 30"/>
          <p:cNvSpPr txBox="1"/>
          <p:nvPr/>
        </p:nvSpPr>
        <p:spPr>
          <a:xfrm>
            <a:off x="457200" y="6562344"/>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A005  Collective footage-20261001T081156Z-1-008/Collective footage/Camera/1/ALABBASY.8829.MP4 | A007  Collective footage-20261001T081156Z-1-008/Collective footage/Camera/1/ALABBASY.8838.MP4 | A008  Collective footage-20261001T081156Z-1-008/Collective footage/Camera/1/ALABBASY.8839.MP4 | A009  Collec</a:t>
            </a:r>
          </a:p>
        </p:txBody>
      </p:sp>
      <p:sp>
        <p:nvSpPr>
          <p:cNvPr id="32" name="TextBox 31"/>
          <p:cNvSpPr txBox="1"/>
          <p:nvPr/>
        </p:nvSpPr>
        <p:spPr>
          <a:xfrm>
            <a:off x="457200" y="7110984"/>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في كل مختبرٍ ناس، وهؤلاء ناسُ مختبرنا في مدينة سدير. يعملون بهدوء، ويتعلّمون من بعضهم، ويبدأون يومهم معًا. إن كنتم تحبّون هذا الجو، تعرّفوا علينا في موقعنا.</a:t>
            </a:r>
          </a:p>
          <a:p>
            <a:pPr algn="l"/>
            <a:r>
              <a:rPr sz="900" b="0" i="0">
                <a:solidFill>
                  <a:srgbClr val="142B22"/>
                </a:solidFill>
                <a:latin typeface="Segoe UI"/>
                <a:cs typeface="Tahoma"/>
              </a:rPr>
              <a:t>EN: Every lab is made of people, and these are the people of our lab in Sudair City. They work quietly, learn from one another and start the day together. If this is the atmosphere you like, get to know us on our website.</a:t>
            </a:r>
          </a:p>
        </p:txBody>
      </p:sp>
      <p:sp>
        <p:nvSpPr>
          <p:cNvPr id="33" name="TextBox 32"/>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People and benches seen from outside, no explanation of work; no promise of roles or outcomes, no figures; A008 and A009 cropped so no label reads.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NOV-L08 · S1</a:t>
            </a:r>
          </a:p>
          <a:p>
            <a:pPr algn="ctr"/>
            <a:r>
              <a:rPr sz="900" b="1" i="0">
                <a:solidFill>
                  <a:srgbClr val="5B6B63"/>
                </a:solidFill>
                <a:latin typeface="Segoe UI"/>
                <a:cs typeface="Tahoma"/>
              </a:rPr>
              <a:t>1080 × 1350</a:t>
            </a:r>
          </a:p>
        </p:txBody>
      </p:sp>
      <p:sp>
        <p:nvSpPr>
          <p:cNvPr id="5" name="TextBox 4"/>
          <p:cNvSpPr txBox="1"/>
          <p:nvPr/>
        </p:nvSpPr>
        <p:spPr>
          <a:xfrm>
            <a:off x="45720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انضموا إلى صفّنا</a:t>
            </a:r>
          </a:p>
          <a:p>
            <a:pPr algn="l"/>
            <a:r>
              <a:rPr sz="850" b="0" i="0">
                <a:solidFill>
                  <a:srgbClr val="5B6B63"/>
                </a:solidFill>
                <a:latin typeface="Segoe UI"/>
                <a:cs typeface="Tahoma"/>
              </a:rPr>
              <a:t>Join the line</a:t>
            </a:r>
          </a:p>
        </p:txBody>
      </p:sp>
      <p:sp>
        <p:nvSpPr>
          <p:cNvPr id="6" name="Rounded Rectangle 5"/>
          <p:cNvSpPr/>
          <p:nvPr/>
        </p:nvSpPr>
        <p:spPr>
          <a:xfrm>
            <a:off x="265176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NOV-L08 · S2</a:t>
            </a:r>
          </a:p>
          <a:p>
            <a:pPr algn="ctr"/>
            <a:r>
              <a:rPr sz="900" b="1" i="0">
                <a:solidFill>
                  <a:srgbClr val="5B6B63"/>
                </a:solidFill>
                <a:latin typeface="Segoe UI"/>
                <a:cs typeface="Tahoma"/>
              </a:rPr>
              <a:t>1080 × 1350</a:t>
            </a:r>
          </a:p>
        </p:txBody>
      </p:sp>
      <p:sp>
        <p:nvSpPr>
          <p:cNvPr id="8" name="TextBox 7"/>
          <p:cNvSpPr txBox="1"/>
          <p:nvPr/>
        </p:nvSpPr>
        <p:spPr>
          <a:xfrm>
            <a:off x="265176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مكانٌ يتسع</a:t>
            </a:r>
          </a:p>
          <a:p>
            <a:pPr algn="l"/>
            <a:r>
              <a:rPr sz="850" b="0" i="0">
                <a:solidFill>
                  <a:srgbClr val="5B6B63"/>
                </a:solidFill>
                <a:latin typeface="Segoe UI"/>
                <a:cs typeface="Tahoma"/>
              </a:rPr>
              <a:t>A place with room for those who like to learn</a:t>
            </a:r>
          </a:p>
        </p:txBody>
      </p:sp>
      <p:sp>
        <p:nvSpPr>
          <p:cNvPr id="9" name="Rounded Rectangle 8"/>
          <p:cNvSpPr/>
          <p:nvPr/>
        </p:nvSpPr>
        <p:spPr>
          <a:xfrm>
            <a:off x="484632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NOV-L08 · S3</a:t>
            </a:r>
          </a:p>
          <a:p>
            <a:pPr algn="ctr"/>
            <a:r>
              <a:rPr sz="900" b="1" i="0">
                <a:solidFill>
                  <a:srgbClr val="5B6B63"/>
                </a:solidFill>
                <a:latin typeface="Segoe UI"/>
                <a:cs typeface="Tahoma"/>
              </a:rPr>
              <a:t>1080 × 1350</a:t>
            </a:r>
          </a:p>
        </p:txBody>
      </p:sp>
      <p:sp>
        <p:nvSpPr>
          <p:cNvPr id="11" name="TextBox 10"/>
          <p:cNvSpPr txBox="1"/>
          <p:nvPr/>
        </p:nvSpPr>
        <p:spPr>
          <a:xfrm>
            <a:off x="484632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idea</a:t>
            </a:r>
          </a:p>
          <a:p>
            <a:pPr rtl="1" algn="r"/>
            <a:r>
              <a:rPr sz="850" b="0" i="0">
                <a:solidFill>
                  <a:srgbClr val="5B6B63"/>
                </a:solidFill>
                <a:latin typeface="Segoe UI"/>
                <a:cs typeface="Tahoma"/>
              </a:rPr>
              <a:t>وفريقٌ يرحّب بك</a:t>
            </a:r>
          </a:p>
          <a:p>
            <a:pPr algn="l"/>
            <a:r>
              <a:rPr sz="850" b="0" i="0">
                <a:solidFill>
                  <a:srgbClr val="5B6B63"/>
                </a:solidFill>
                <a:latin typeface="Segoe UI"/>
                <a:cs typeface="Tahoma"/>
              </a:rPr>
              <a:t>And a team that welcomes you</a:t>
            </a:r>
          </a:p>
        </p:txBody>
      </p:sp>
      <p:sp>
        <p:nvSpPr>
          <p:cNvPr id="12" name="Rounded Rectangle 11"/>
          <p:cNvSpPr/>
          <p:nvPr/>
        </p:nvSpPr>
        <p:spPr>
          <a:xfrm>
            <a:off x="7040879"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79"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NOV-L08 · S4</a:t>
            </a:r>
          </a:p>
          <a:p>
            <a:pPr algn="ctr"/>
            <a:r>
              <a:rPr sz="900" b="1" i="0">
                <a:solidFill>
                  <a:srgbClr val="5B6B63"/>
                </a:solidFill>
                <a:latin typeface="Segoe UI"/>
                <a:cs typeface="Tahoma"/>
              </a:rPr>
              <a:t>1080 × 1350</a:t>
            </a:r>
          </a:p>
        </p:txBody>
      </p:sp>
      <p:sp>
        <p:nvSpPr>
          <p:cNvPr id="14" name="TextBox 13"/>
          <p:cNvSpPr txBox="1"/>
          <p:nvPr/>
        </p:nvSpPr>
        <p:spPr>
          <a:xfrm>
            <a:off x="7040879"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step</a:t>
            </a:r>
          </a:p>
          <a:p>
            <a:pPr rtl="1" algn="r"/>
            <a:r>
              <a:rPr sz="850" b="0" i="0">
                <a:solidFill>
                  <a:srgbClr val="5B6B63"/>
                </a:solidFill>
                <a:latin typeface="Segoe UI"/>
                <a:cs typeface="Tahoma"/>
              </a:rPr>
              <a:t>من أين تبدأ؟</a:t>
            </a:r>
          </a:p>
          <a:p>
            <a:pPr algn="l"/>
            <a:r>
              <a:rPr sz="850" b="0" i="0">
                <a:solidFill>
                  <a:srgbClr val="5B6B63"/>
                </a:solidFill>
                <a:latin typeface="Segoe UI"/>
                <a:cs typeface="Tahoma"/>
              </a:rPr>
              <a:t>Where to start? Here.</a:t>
            </a:r>
          </a:p>
        </p:txBody>
      </p:sp>
      <p:sp>
        <p:nvSpPr>
          <p:cNvPr id="15" name="Rounded Rectangle 14"/>
          <p:cNvSpPr/>
          <p:nvPr/>
        </p:nvSpPr>
        <p:spPr>
          <a:xfrm>
            <a:off x="923544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NOV-L08 · S5</a:t>
            </a:r>
          </a:p>
          <a:p>
            <a:pPr algn="ctr"/>
            <a:r>
              <a:rPr sz="900" b="1" i="0">
                <a:solidFill>
                  <a:srgbClr val="5B6B63"/>
                </a:solidFill>
                <a:latin typeface="Segoe UI"/>
                <a:cs typeface="Tahoma"/>
              </a:rPr>
              <a:t>1080 × 1350</a:t>
            </a:r>
          </a:p>
        </p:txBody>
      </p:sp>
      <p:sp>
        <p:nvSpPr>
          <p:cNvPr id="17" name="TextBox 16"/>
          <p:cNvSpPr txBox="1"/>
          <p:nvPr/>
        </p:nvSpPr>
        <p:spPr>
          <a:xfrm>
            <a:off x="923544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cta</a:t>
            </a:r>
          </a:p>
          <a:p>
            <a:pPr rtl="1" algn="r"/>
            <a:r>
              <a:rPr sz="850" b="0" i="0">
                <a:solidFill>
                  <a:srgbClr val="5B6B63"/>
                </a:solidFill>
                <a:latin typeface="Segoe UI"/>
                <a:cs typeface="Tahoma"/>
              </a:rPr>
              <a:t>صناعة تُرى،</a:t>
            </a:r>
          </a:p>
          <a:p>
            <a:pPr algn="l"/>
            <a:r>
              <a:rPr sz="850" b="0" i="0">
                <a:solidFill>
                  <a:srgbClr val="5B6B63"/>
                </a:solidFill>
                <a:latin typeface="Segoe UI"/>
                <a:cs typeface="Tahoma"/>
              </a:rPr>
              <a:t>Visible capability. Measurable impact.</a:t>
            </a:r>
          </a:p>
        </p:txBody>
      </p:sp>
      <p:sp>
        <p:nvSpPr>
          <p:cNvPr id="18" name="Rounded Rectangle 17"/>
          <p:cNvSpPr/>
          <p:nvPr/>
        </p:nvSpPr>
        <p:spPr>
          <a:xfrm>
            <a:off x="457200" y="390906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0906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NOV-L08 · Wed 2026-11-25 · LinkedIn + X · Carousel</a:t>
            </a:r>
          </a:p>
        </p:txBody>
      </p:sp>
      <p:sp>
        <p:nvSpPr>
          <p:cNvPr id="20" name="TextBox 19"/>
          <p:cNvSpPr txBox="1"/>
          <p:nvPr/>
        </p:nvSpPr>
        <p:spPr>
          <a:xfrm>
            <a:off x="457200" y="436626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Careers: join the line  ·  People and careers  ·  T2 Team landscape</a:t>
            </a:r>
          </a:p>
        </p:txBody>
      </p:sp>
      <p:sp>
        <p:nvSpPr>
          <p:cNvPr id="21" name="TextBox 20"/>
          <p:cNvSpPr txBox="1"/>
          <p:nvPr/>
        </p:nvSpPr>
        <p:spPr>
          <a:xfrm>
            <a:off x="457200" y="471373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The picture must say 'a line of people with room for one more'. Wide documentary photograph of the large Sudair team standing in a single row at the booth, many women in abayas with ID badges, teal-green sky in the grade, golden side light, natural faces, horizon in the lower part of the tile. Keep the top-left corner clear for the logo.</a:t>
            </a:r>
          </a:p>
        </p:txBody>
      </p:sp>
      <p:sp>
        <p:nvSpPr>
          <p:cNvPr id="22" name="TextBox 21"/>
          <p:cNvSpPr txBox="1"/>
          <p:nvPr/>
        </p:nvSpPr>
        <p:spPr>
          <a:xfrm>
            <a:off x="457200" y="535381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A048  OneDrive_2026-10-01/Gallery Photos/GHE25/sudair-pharma-global-health-2025-team.JPG | A007  Collective footage-20261001T081156Z-1-008/Collective footage/Camera/1/ALABBASY.8838.MP4 | A005  Collective footage-20261001T081156Z-1-008/Collective footage/Camera/1/ALABBASY.8829.MP4</a:t>
            </a:r>
          </a:p>
        </p:txBody>
      </p:sp>
      <p:sp>
        <p:nvSpPr>
          <p:cNvPr id="23" name="TextBox 22"/>
          <p:cNvSpPr txBox="1"/>
          <p:nvPr/>
        </p:nvSpPr>
        <p:spPr>
          <a:xfrm>
            <a:off x="457200" y="590245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انضموا إلى صفّنا في سدير للأدوية. مكانٌ يتسع لمن يحب التعلّم، وفريقٌ يرحّب بكم، وناسٌ نحب أن تكونوا بينهم. من أين تبدؤون؟ من هنا. تابعوا الصفحة، وتعرّفوا على الفريق، وقولوا مرحباً.</a:t>
            </a:r>
          </a:p>
          <a:p>
            <a:pPr algn="l"/>
            <a:r>
              <a:rPr sz="900" b="0" i="0">
                <a:solidFill>
                  <a:srgbClr val="142B22"/>
                </a:solidFill>
                <a:latin typeface="Segoe UI"/>
                <a:cs typeface="Tahoma"/>
              </a:rPr>
              <a:t>EN: Join our line at Sudair Pharma. A place with room for those who like to learn, a team that welcomes you, and people we would like you to be among. Where to start? Here. Follow the page, get to know the team, and say hello.</a:t>
            </a:r>
          </a:p>
        </p:txBody>
      </p:sp>
      <p:sp>
        <p:nvSpPr>
          <p:cNvPr id="24" name="TextBox 23"/>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Invitation only: no job titles, no numbers of roles, no promises on pay, training or progression. Staff consent needed for every person shown.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NOV-S11</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NOV-S11 · Wed 2026-11-25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Meet the lab team  ·  People and careers  ·  T3 Portrait panel</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وجوهٌ من المختبر</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فريقٌ واحد</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Meet the lab team · Faces from the lab</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these are the people of the lab. Vertical crop of the lab team standing together in the lab, relaxed and facing camera, teal-green window light, dark green panel at the foot for text; top 250 px and bottom 340 px clear; no label readable.</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A005  Collective footage-20261001T081156Z-1-008/Collective footage/Camera/1/ALABBASY.8829.MP4</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هذا فريقنا في المختبر، تعرّفوا عليه.</a:t>
            </a:r>
          </a:p>
          <a:p>
            <a:pPr algn="l"/>
            <a:r>
              <a:rPr sz="900" b="0" i="0">
                <a:solidFill>
                  <a:srgbClr val="142B22"/>
                </a:solidFill>
                <a:latin typeface="Segoe UI"/>
                <a:cs typeface="Tahoma"/>
              </a:rPr>
              <a:t>EN: This is our lab team. Say hello.</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Staff portrait with written consent; no description of lab activity, no figures.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493776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493776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NOV-F12</a:t>
            </a:r>
          </a:p>
          <a:p>
            <a:pPr algn="ctr"/>
            <a:r>
              <a:rPr sz="900" b="1" i="0">
                <a:solidFill>
                  <a:srgbClr val="5B6B63"/>
                </a:solidFill>
                <a:latin typeface="Segoe UI"/>
                <a:cs typeface="Tahoma"/>
              </a:rPr>
              <a:t>1080 × 1350 px (4:5)</a:t>
            </a:r>
          </a:p>
        </p:txBody>
      </p:sp>
      <p:sp>
        <p:nvSpPr>
          <p:cNvPr id="5" name="Rounded Rectangle 4"/>
          <p:cNvSpPr/>
          <p:nvPr/>
        </p:nvSpPr>
        <p:spPr>
          <a:xfrm>
            <a:off x="5669280" y="457200"/>
            <a:ext cx="603504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0" y="457200"/>
            <a:ext cx="585215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NOV-F12 · Thu 2026-11-26 · Instagram + Facebook · Still</a:t>
            </a:r>
          </a:p>
        </p:txBody>
      </p:sp>
      <p:sp>
        <p:nvSpPr>
          <p:cNvPr id="7" name="TextBox 6"/>
          <p:cNvSpPr txBox="1"/>
          <p:nvPr/>
        </p:nvSpPr>
        <p:spPr>
          <a:xfrm>
            <a:off x="5669280" y="914400"/>
            <a:ext cx="603504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The month in one image  ·  Year and community  ·  T6 Key-visual petal</a:t>
            </a:r>
          </a:p>
        </p:txBody>
      </p:sp>
      <p:sp>
        <p:nvSpPr>
          <p:cNvPr id="8" name="TextBox 7"/>
          <p:cNvSpPr txBox="1"/>
          <p:nvPr/>
        </p:nvSpPr>
        <p:spPr>
          <a:xfrm>
            <a:off x="5669280" y="1261872"/>
            <a:ext cx="6035040"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شهرٌ كامل في صورة</a:t>
            </a:r>
          </a:p>
        </p:txBody>
      </p:sp>
      <p:sp>
        <p:nvSpPr>
          <p:cNvPr id="9" name="TextBox 8"/>
          <p:cNvSpPr txBox="1"/>
          <p:nvPr/>
        </p:nvSpPr>
        <p:spPr>
          <a:xfrm>
            <a:off x="5669280" y="1673351"/>
            <a:ext cx="6035040"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بعيون أهله</a:t>
            </a:r>
          </a:p>
        </p:txBody>
      </p:sp>
      <p:sp>
        <p:nvSpPr>
          <p:cNvPr id="10" name="TextBox 9"/>
          <p:cNvSpPr txBox="1"/>
          <p:nvPr/>
        </p:nvSpPr>
        <p:spPr>
          <a:xfrm>
            <a:off x="5669280" y="2020824"/>
            <a:ext cx="6035040"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The month in one image · Thank you for walking it with us</a:t>
            </a:r>
          </a:p>
        </p:txBody>
      </p:sp>
      <p:sp>
        <p:nvSpPr>
          <p:cNvPr id="11" name="TextBox 10"/>
          <p:cNvSpPr txBox="1"/>
          <p:nvPr/>
        </p:nvSpPr>
        <p:spPr>
          <a:xfrm>
            <a:off x="5669280" y="2478024"/>
            <a:ext cx="603504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this month was made of people and a place. Key-visual petal composition: dark emerald left side for the headline fading to a dusk landscape, three tall glowing petal windows in a fan above the real campus with palms and warm walkway lights; inside the petals three moments of the month: the drone view of the site at dawn, the lab team standing together, and a signing table with leaders; a lantern glow at the </a:t>
            </a:r>
          </a:p>
        </p:txBody>
      </p:sp>
      <p:sp>
        <p:nvSpPr>
          <p:cNvPr id="12" name="TextBox 11"/>
          <p:cNvSpPr txBox="1"/>
          <p:nvPr/>
        </p:nvSpPr>
        <p:spPr>
          <a:xfrm>
            <a:off x="5669280" y="3255264"/>
            <a:ext cx="603504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A001  Collective footage-20261001T081156Z-1-008/Collective footage/DJI_20260121084222_0001_D.MOV | A005  Collective footage-20261001T081156Z-1-008/Collective footage/Camera/1/ALABBASY.8829.MP4 | A054  OneDrive_2026-10-01/Gallery Photos/GHE25/sudair-pharma-strategic-agreement-global-health-2025.JPG</a:t>
            </a:r>
          </a:p>
        </p:txBody>
      </p:sp>
      <p:sp>
        <p:nvSpPr>
          <p:cNvPr id="13" name="TextBox 12"/>
          <p:cNvSpPr txBox="1"/>
          <p:nvPr/>
        </p:nvSpPr>
        <p:spPr>
          <a:xfrm>
            <a:off x="5669280" y="3803904"/>
            <a:ext cx="603504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صورةٌ واحدة تجمع ما رأيناه معًا هذا الشهر: المكان، والفريق، والطاولة التي جلسنا إليها. شكرًا لأنكم رافقتمونا في كل خطوة. أيّ لقطةٍ بقيت في ذاكرتكم من هذا الشهر؟</a:t>
            </a:r>
          </a:p>
          <a:p>
            <a:pPr algn="l"/>
            <a:r>
              <a:rPr sz="900" b="0" i="0">
                <a:solidFill>
                  <a:srgbClr val="142B22"/>
                </a:solidFill>
                <a:latin typeface="Segoe UI"/>
                <a:cs typeface="Tahoma"/>
              </a:rPr>
              <a:t>EN: One image holds what we saw together this month: the place, the team and the table we sat at. Thank you for coming along every step of the way. Which moment stayed with you from this month?</a:t>
            </a:r>
          </a:p>
        </p:txBody>
      </p:sp>
      <p:sp>
        <p:nvSpPr>
          <p:cNvPr id="14" name="TextBox 13"/>
          <p:cNvSpPr txBox="1"/>
          <p:nvPr/>
        </p:nvSpPr>
        <p:spPr>
          <a:xfrm>
            <a:off x="5669280" y="6400800"/>
            <a:ext cx="603504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Look back and thank-you only; no figures, no promise, no assurance wording; consent logged for staff and leaders shown.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NOV-S12</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NOV-S12 · Thu 2026-11-26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Place card of the week: the facade at golden hour  ·  Meet the makers  ·  T6 Key-visual petal</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الواجهة حين يلامسها</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الضوء الذهبي</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Place card of the week · The facade at golden hour</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a place worth looking at. A tall petal-shaped window in the centre of the frame holding the real drone photo of the palm-lined building and campus in golden light, on a dark emerald background with mint rim light; headline at the foot; no people.</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A001  Collective footage-20261001T081156Z-1-008/Collective footage/DJI_20260121084222_0001_D.MOV</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الواجهة حين يلامسها الضوء الذهبي.</a:t>
            </a:r>
          </a:p>
          <a:p>
            <a:pPr algn="l"/>
            <a:r>
              <a:rPr sz="900" b="0" i="0">
                <a:solidFill>
                  <a:srgbClr val="142B22"/>
                </a:solidFill>
                <a:latin typeface="Segoe UI"/>
                <a:cs typeface="Tahoma"/>
              </a:rPr>
              <a:t>EN: The facade as the golden light touches it.</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Architecture and light only; no figures, no assurance wording.</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4301F"/>
        </a:solidFill>
        <a:effectLst/>
      </p:bgPr>
    </p:bg>
    <p:spTree>
      <p:nvGrpSpPr>
        <p:cNvPr id="1" name=""/>
        <p:cNvGrpSpPr/>
        <p:nvPr/>
      </p:nvGrpSpPr>
      <p:grpSpPr/>
      <p:sp>
        <p:nvSpPr>
          <p:cNvPr id="2" name="TextBox 1"/>
          <p:cNvSpPr txBox="1"/>
          <p:nvPr/>
        </p:nvSpPr>
        <p:spPr>
          <a:xfrm>
            <a:off x="640080" y="2194560"/>
            <a:ext cx="10058400" cy="914400"/>
          </a:xfrm>
          <a:prstGeom prst="rect">
            <a:avLst/>
          </a:prstGeom>
          <a:noFill/>
        </p:spPr>
        <p:txBody>
          <a:bodyPr wrap="square" lIns="36576" rIns="36576" tIns="18288" bIns="18288" anchor="t">
            <a:spAutoFit/>
          </a:bodyPr>
          <a:lstStyle/>
          <a:p>
            <a:pPr algn="l"/>
            <a:r>
              <a:rPr sz="4000" b="1" i="0">
                <a:solidFill>
                  <a:srgbClr val="FFFFFF"/>
                </a:solidFill>
                <a:latin typeface="Segoe UI"/>
                <a:cs typeface="Tahoma"/>
              </a:rPr>
              <a:t>December 2026</a:t>
            </a:r>
          </a:p>
        </p:txBody>
      </p:sp>
      <p:sp>
        <p:nvSpPr>
          <p:cNvPr id="3" name="TextBox 2"/>
          <p:cNvSpPr txBox="1"/>
          <p:nvPr/>
        </p:nvSpPr>
        <p:spPr>
          <a:xfrm>
            <a:off x="640080" y="3200400"/>
            <a:ext cx="10058400" cy="548640"/>
          </a:xfrm>
          <a:prstGeom prst="rect">
            <a:avLst/>
          </a:prstGeom>
          <a:noFill/>
        </p:spPr>
        <p:txBody>
          <a:bodyPr wrap="square" lIns="36576" rIns="36576" tIns="18288" bIns="18288" anchor="t">
            <a:spAutoFit/>
          </a:bodyPr>
          <a:lstStyle/>
          <a:p>
            <a:pPr algn="l"/>
            <a:r>
              <a:rPr sz="1600" b="0" i="0">
                <a:solidFill>
                  <a:srgbClr val="8EF0B0"/>
                </a:solidFill>
                <a:latin typeface="Segoe UI"/>
                <a:cs typeface="Tahoma"/>
              </a:rPr>
              <a:t>32 pieces: 12 feed, 12 stories, 8 LinkedIn + X carousels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48640"/>
          </a:xfrm>
          <a:prstGeom prst="rect">
            <a:avLst/>
          </a:prstGeom>
          <a:noFill/>
        </p:spPr>
        <p:txBody>
          <a:bodyPr wrap="square" lIns="36576" rIns="36576" tIns="18288" bIns="18288" anchor="t">
            <a:spAutoFit/>
          </a:bodyPr>
          <a:lstStyle/>
          <a:p>
            <a:pPr algn="l"/>
            <a:r>
              <a:rPr sz="2400" b="1" i="0">
                <a:solidFill>
                  <a:srgbClr val="0B4F35"/>
                </a:solidFill>
                <a:latin typeface="Segoe UI"/>
                <a:cs typeface="Tahoma"/>
              </a:rPr>
              <a:t>December 2026: Instagram + Facebook feed</a:t>
            </a:r>
          </a:p>
        </p:txBody>
      </p:sp>
      <p:sp>
        <p:nvSpPr>
          <p:cNvPr id="4" name="TextBox 3"/>
          <p:cNvSpPr txBox="1"/>
          <p:nvPr/>
        </p:nvSpPr>
        <p:spPr>
          <a:xfrm>
            <a:off x="457200" y="749808"/>
            <a:ext cx="11247120" cy="365760"/>
          </a:xfrm>
          <a:prstGeom prst="rect">
            <a:avLst/>
          </a:prstGeom>
          <a:noFill/>
        </p:spPr>
        <p:txBody>
          <a:bodyPr wrap="square" lIns="36576" rIns="36576" tIns="18288" bIns="18288" anchor="t">
            <a:spAutoFit/>
          </a:bodyPr>
          <a:lstStyle/>
          <a:p>
            <a:pPr algn="l"/>
            <a:r>
              <a:rPr sz="1200" b="0" i="0">
                <a:solidFill>
                  <a:srgbClr val="5B6B63"/>
                </a:solidFill>
                <a:latin typeface="Segoe UI"/>
                <a:cs typeface="Tahoma"/>
              </a:rPr>
              <a:t>12 pieces</a:t>
            </a:r>
          </a:p>
        </p:txBody>
      </p:sp>
      <p:sp>
        <p:nvSpPr>
          <p:cNvPr id="5" name="TextBox 4"/>
          <p:cNvSpPr txBox="1"/>
          <p:nvPr/>
        </p:nvSpPr>
        <p:spPr>
          <a:xfrm>
            <a:off x="11155680" y="6492240"/>
            <a:ext cx="731520" cy="274320"/>
          </a:xfrm>
          <a:prstGeom prst="rect">
            <a:avLst/>
          </a:prstGeom>
          <a:noFill/>
        </p:spPr>
        <p:txBody>
          <a:bodyPr wrap="square" lIns="36576" rIns="36576" tIns="18288" bIns="18288" anchor="t">
            <a:spAutoFit/>
          </a:bodyPr>
          <a:lstStyle/>
          <a:p>
            <a:pPr algn="r"/>
            <a:r>
              <a:rPr sz="900" b="0" i="0">
                <a:solidFill>
                  <a:srgbClr val="5B6B63"/>
                </a:solidFill>
                <a:latin typeface="Segoe UI"/>
                <a:cs typeface="Tahoma"/>
              </a:rPr>
              <a:t>50</a:t>
            </a:r>
          </a:p>
        </p:txBody>
      </p:sp>
      <p:sp>
        <p:nvSpPr>
          <p:cNvPr id="6" name="Rectangle 5"/>
          <p:cNvSpPr/>
          <p:nvPr/>
        </p:nvSpPr>
        <p:spPr>
          <a:xfrm>
            <a:off x="457200" y="1234440"/>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52728"/>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DEC-F01  12-01</a:t>
            </a:r>
          </a:p>
        </p:txBody>
      </p:sp>
      <p:sp>
        <p:nvSpPr>
          <p:cNvPr id="8" name="TextBox 7"/>
          <p:cNvSpPr txBox="1"/>
          <p:nvPr/>
        </p:nvSpPr>
        <p:spPr>
          <a:xfrm>
            <a:off x="1737360" y="1252728"/>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Tue · Still</a:t>
            </a:r>
          </a:p>
        </p:txBody>
      </p:sp>
      <p:sp>
        <p:nvSpPr>
          <p:cNvPr id="9" name="TextBox 8"/>
          <p:cNvSpPr txBox="1"/>
          <p:nvPr/>
        </p:nvSpPr>
        <p:spPr>
          <a:xfrm>
            <a:off x="2743200" y="1252728"/>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Built here: the site from above</a:t>
            </a:r>
          </a:p>
        </p:txBody>
      </p:sp>
      <p:sp>
        <p:nvSpPr>
          <p:cNvPr id="10" name="TextBox 9"/>
          <p:cNvSpPr txBox="1"/>
          <p:nvPr/>
        </p:nvSpPr>
        <p:spPr>
          <a:xfrm>
            <a:off x="7772400" y="1252728"/>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Local manufacturing</a:t>
            </a:r>
          </a:p>
        </p:txBody>
      </p:sp>
      <p:sp>
        <p:nvSpPr>
          <p:cNvPr id="11" name="TextBox 10"/>
          <p:cNvSpPr txBox="1"/>
          <p:nvPr/>
        </p:nvSpPr>
        <p:spPr>
          <a:xfrm>
            <a:off x="9875520" y="1252728"/>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T6 · REAL+GENERATED</a:t>
            </a:r>
          </a:p>
        </p:txBody>
      </p:sp>
      <p:sp>
        <p:nvSpPr>
          <p:cNvPr id="12" name="Rectangle 11"/>
          <p:cNvSpPr/>
          <p:nvPr/>
        </p:nvSpPr>
        <p:spPr>
          <a:xfrm>
            <a:off x="457200" y="1618488"/>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636776"/>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DEC-F02  12-03</a:t>
            </a:r>
          </a:p>
        </p:txBody>
      </p:sp>
      <p:sp>
        <p:nvSpPr>
          <p:cNvPr id="14" name="TextBox 13"/>
          <p:cNvSpPr txBox="1"/>
          <p:nvPr/>
        </p:nvSpPr>
        <p:spPr>
          <a:xfrm>
            <a:off x="1737360" y="1636776"/>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Thu · Reel</a:t>
            </a:r>
          </a:p>
        </p:txBody>
      </p:sp>
      <p:sp>
        <p:nvSpPr>
          <p:cNvPr id="15" name="TextBox 14"/>
          <p:cNvSpPr txBox="1"/>
          <p:nvPr/>
        </p:nvSpPr>
        <p:spPr>
          <a:xfrm>
            <a:off x="2743200" y="1636776"/>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From dawn to the last shift</a:t>
            </a:r>
          </a:p>
        </p:txBody>
      </p:sp>
      <p:sp>
        <p:nvSpPr>
          <p:cNvPr id="16" name="TextBox 15"/>
          <p:cNvSpPr txBox="1"/>
          <p:nvPr/>
        </p:nvSpPr>
        <p:spPr>
          <a:xfrm>
            <a:off x="7772400" y="1636776"/>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Meet the makers</a:t>
            </a:r>
          </a:p>
        </p:txBody>
      </p:sp>
      <p:sp>
        <p:nvSpPr>
          <p:cNvPr id="17" name="TextBox 16"/>
          <p:cNvSpPr txBox="1"/>
          <p:nvPr/>
        </p:nvSpPr>
        <p:spPr>
          <a:xfrm>
            <a:off x="9875520" y="1636776"/>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T7 · REAL+GENERATED</a:t>
            </a:r>
          </a:p>
        </p:txBody>
      </p:sp>
      <p:sp>
        <p:nvSpPr>
          <p:cNvPr id="18" name="Rectangle 17"/>
          <p:cNvSpPr/>
          <p:nvPr/>
        </p:nvSpPr>
        <p:spPr>
          <a:xfrm>
            <a:off x="457200" y="2002536"/>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020824"/>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DEC-F03  12-06</a:t>
            </a:r>
          </a:p>
        </p:txBody>
      </p:sp>
      <p:sp>
        <p:nvSpPr>
          <p:cNvPr id="20" name="TextBox 19"/>
          <p:cNvSpPr txBox="1"/>
          <p:nvPr/>
        </p:nvSpPr>
        <p:spPr>
          <a:xfrm>
            <a:off x="1737360" y="2020824"/>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Sun · Still</a:t>
            </a:r>
          </a:p>
        </p:txBody>
      </p:sp>
      <p:sp>
        <p:nvSpPr>
          <p:cNvPr id="21" name="TextBox 20"/>
          <p:cNvSpPr txBox="1"/>
          <p:nvPr/>
        </p:nvSpPr>
        <p:spPr>
          <a:xfrm>
            <a:off x="2743200" y="2020824"/>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Thank you to the teams who keep it running</a:t>
            </a:r>
          </a:p>
        </p:txBody>
      </p:sp>
      <p:sp>
        <p:nvSpPr>
          <p:cNvPr id="22" name="TextBox 21"/>
          <p:cNvSpPr txBox="1"/>
          <p:nvPr/>
        </p:nvSpPr>
        <p:spPr>
          <a:xfrm>
            <a:off x="7772400" y="2020824"/>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People and careers</a:t>
            </a:r>
          </a:p>
        </p:txBody>
      </p:sp>
      <p:sp>
        <p:nvSpPr>
          <p:cNvPr id="23" name="TextBox 22"/>
          <p:cNvSpPr txBox="1"/>
          <p:nvPr/>
        </p:nvSpPr>
        <p:spPr>
          <a:xfrm>
            <a:off x="9875520" y="2020824"/>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T3 · REAL+GENERATED</a:t>
            </a:r>
          </a:p>
        </p:txBody>
      </p:sp>
      <p:sp>
        <p:nvSpPr>
          <p:cNvPr id="24" name="Rectangle 23"/>
          <p:cNvSpPr/>
          <p:nvPr/>
        </p:nvSpPr>
        <p:spPr>
          <a:xfrm>
            <a:off x="457200" y="2386584"/>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2404872"/>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DEC-F04  12-08</a:t>
            </a:r>
          </a:p>
        </p:txBody>
      </p:sp>
      <p:sp>
        <p:nvSpPr>
          <p:cNvPr id="26" name="TextBox 25"/>
          <p:cNvSpPr txBox="1"/>
          <p:nvPr/>
        </p:nvSpPr>
        <p:spPr>
          <a:xfrm>
            <a:off x="1737360" y="2404872"/>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Tue · Carousel</a:t>
            </a:r>
          </a:p>
        </p:txBody>
      </p:sp>
      <p:sp>
        <p:nvSpPr>
          <p:cNvPr id="27" name="TextBox 26"/>
          <p:cNvSpPr txBox="1"/>
          <p:nvPr/>
        </p:nvSpPr>
        <p:spPr>
          <a:xfrm>
            <a:off x="2743200" y="2404872"/>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The year, in frames</a:t>
            </a:r>
          </a:p>
        </p:txBody>
      </p:sp>
      <p:sp>
        <p:nvSpPr>
          <p:cNvPr id="28" name="TextBox 27"/>
          <p:cNvSpPr txBox="1"/>
          <p:nvPr/>
        </p:nvSpPr>
        <p:spPr>
          <a:xfrm>
            <a:off x="7772400" y="2404872"/>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Year and community</a:t>
            </a:r>
          </a:p>
        </p:txBody>
      </p:sp>
      <p:sp>
        <p:nvSpPr>
          <p:cNvPr id="29" name="TextBox 28"/>
          <p:cNvSpPr txBox="1"/>
          <p:nvPr/>
        </p:nvSpPr>
        <p:spPr>
          <a:xfrm>
            <a:off x="9875520" y="2404872"/>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T8 · REAL+GENERATED</a:t>
            </a:r>
          </a:p>
        </p:txBody>
      </p:sp>
      <p:sp>
        <p:nvSpPr>
          <p:cNvPr id="30" name="Rectangle 29"/>
          <p:cNvSpPr/>
          <p:nvPr/>
        </p:nvSpPr>
        <p:spPr>
          <a:xfrm>
            <a:off x="457200" y="2770632"/>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2788920"/>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DEC-F05  12-10</a:t>
            </a:r>
          </a:p>
        </p:txBody>
      </p:sp>
      <p:sp>
        <p:nvSpPr>
          <p:cNvPr id="32" name="TextBox 31"/>
          <p:cNvSpPr txBox="1"/>
          <p:nvPr/>
        </p:nvSpPr>
        <p:spPr>
          <a:xfrm>
            <a:off x="1737360" y="2788920"/>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Thu · Reel</a:t>
            </a:r>
          </a:p>
        </p:txBody>
      </p:sp>
      <p:sp>
        <p:nvSpPr>
          <p:cNvPr id="33" name="TextBox 32"/>
          <p:cNvSpPr txBox="1"/>
          <p:nvPr/>
        </p:nvSpPr>
        <p:spPr>
          <a:xfrm>
            <a:off x="2743200" y="2788920"/>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The same site, a longer view</a:t>
            </a:r>
          </a:p>
        </p:txBody>
      </p:sp>
      <p:sp>
        <p:nvSpPr>
          <p:cNvPr id="34" name="TextBox 33"/>
          <p:cNvSpPr txBox="1"/>
          <p:nvPr/>
        </p:nvSpPr>
        <p:spPr>
          <a:xfrm>
            <a:off x="7772400" y="2788920"/>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Year and community</a:t>
            </a:r>
          </a:p>
        </p:txBody>
      </p:sp>
      <p:sp>
        <p:nvSpPr>
          <p:cNvPr id="35" name="TextBox 34"/>
          <p:cNvSpPr txBox="1"/>
          <p:nvPr/>
        </p:nvSpPr>
        <p:spPr>
          <a:xfrm>
            <a:off x="9875520" y="2788920"/>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T6 · REAL+GENERATED</a:t>
            </a:r>
          </a:p>
        </p:txBody>
      </p:sp>
      <p:sp>
        <p:nvSpPr>
          <p:cNvPr id="36" name="Rectangle 35"/>
          <p:cNvSpPr/>
          <p:nvPr/>
        </p:nvSpPr>
        <p:spPr>
          <a:xfrm>
            <a:off x="457200" y="3154679"/>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3172968"/>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DEC-F06  12-13</a:t>
            </a:r>
          </a:p>
        </p:txBody>
      </p:sp>
      <p:sp>
        <p:nvSpPr>
          <p:cNvPr id="38" name="TextBox 37"/>
          <p:cNvSpPr txBox="1"/>
          <p:nvPr/>
        </p:nvSpPr>
        <p:spPr>
          <a:xfrm>
            <a:off x="1737360" y="3172968"/>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Sun · Still</a:t>
            </a:r>
          </a:p>
        </p:txBody>
      </p:sp>
      <p:sp>
        <p:nvSpPr>
          <p:cNvPr id="39" name="TextBox 38"/>
          <p:cNvSpPr txBox="1"/>
          <p:nvPr/>
        </p:nvSpPr>
        <p:spPr>
          <a:xfrm>
            <a:off x="2743200" y="3172968"/>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Thank you to the teams</a:t>
            </a:r>
          </a:p>
        </p:txBody>
      </p:sp>
      <p:sp>
        <p:nvSpPr>
          <p:cNvPr id="40" name="TextBox 39"/>
          <p:cNvSpPr txBox="1"/>
          <p:nvPr/>
        </p:nvSpPr>
        <p:spPr>
          <a:xfrm>
            <a:off x="7772400" y="3172968"/>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People and careers</a:t>
            </a:r>
          </a:p>
        </p:txBody>
      </p:sp>
      <p:sp>
        <p:nvSpPr>
          <p:cNvPr id="41" name="TextBox 40"/>
          <p:cNvSpPr txBox="1"/>
          <p:nvPr/>
        </p:nvSpPr>
        <p:spPr>
          <a:xfrm>
            <a:off x="9875520" y="3172968"/>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T2 · REAL+GENERATED</a:t>
            </a:r>
          </a:p>
        </p:txBody>
      </p:sp>
      <p:sp>
        <p:nvSpPr>
          <p:cNvPr id="42" name="Rectangle 41"/>
          <p:cNvSpPr/>
          <p:nvPr/>
        </p:nvSpPr>
        <p:spPr>
          <a:xfrm>
            <a:off x="457200" y="3538727"/>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3557015"/>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DEC-F07  12-15</a:t>
            </a:r>
          </a:p>
        </p:txBody>
      </p:sp>
      <p:sp>
        <p:nvSpPr>
          <p:cNvPr id="44" name="TextBox 43"/>
          <p:cNvSpPr txBox="1"/>
          <p:nvPr/>
        </p:nvSpPr>
        <p:spPr>
          <a:xfrm>
            <a:off x="1737360" y="3557015"/>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Tue · Still</a:t>
            </a:r>
          </a:p>
        </p:txBody>
      </p:sp>
      <p:sp>
        <p:nvSpPr>
          <p:cNvPr id="45" name="TextBox 44"/>
          <p:cNvSpPr txBox="1"/>
          <p:nvPr/>
        </p:nvSpPr>
        <p:spPr>
          <a:xfrm>
            <a:off x="2743200" y="3557015"/>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Local manufacturing, in one picture</a:t>
            </a:r>
          </a:p>
        </p:txBody>
      </p:sp>
      <p:sp>
        <p:nvSpPr>
          <p:cNvPr id="46" name="TextBox 45"/>
          <p:cNvSpPr txBox="1"/>
          <p:nvPr/>
        </p:nvSpPr>
        <p:spPr>
          <a:xfrm>
            <a:off x="7772400" y="3557015"/>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Local manufacturing</a:t>
            </a:r>
          </a:p>
        </p:txBody>
      </p:sp>
      <p:sp>
        <p:nvSpPr>
          <p:cNvPr id="47" name="TextBox 46"/>
          <p:cNvSpPr txBox="1"/>
          <p:nvPr/>
        </p:nvSpPr>
        <p:spPr>
          <a:xfrm>
            <a:off x="9875520" y="3557015"/>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T7 · REAL+GENERATED</a:t>
            </a:r>
          </a:p>
        </p:txBody>
      </p:sp>
      <p:sp>
        <p:nvSpPr>
          <p:cNvPr id="48" name="Rectangle 47"/>
          <p:cNvSpPr/>
          <p:nvPr/>
        </p:nvSpPr>
        <p:spPr>
          <a:xfrm>
            <a:off x="457200" y="3922776"/>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2920" y="3941063"/>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DEC-F08  12-17</a:t>
            </a:r>
          </a:p>
        </p:txBody>
      </p:sp>
      <p:sp>
        <p:nvSpPr>
          <p:cNvPr id="50" name="TextBox 49"/>
          <p:cNvSpPr txBox="1"/>
          <p:nvPr/>
        </p:nvSpPr>
        <p:spPr>
          <a:xfrm>
            <a:off x="1737360" y="3941063"/>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Thu · Carousel</a:t>
            </a:r>
          </a:p>
        </p:txBody>
      </p:sp>
      <p:sp>
        <p:nvSpPr>
          <p:cNvPr id="51" name="TextBox 50"/>
          <p:cNvSpPr txBox="1"/>
          <p:nvPr/>
        </p:nvSpPr>
        <p:spPr>
          <a:xfrm>
            <a:off x="2743200" y="3941063"/>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Where the work happens</a:t>
            </a:r>
          </a:p>
        </p:txBody>
      </p:sp>
      <p:sp>
        <p:nvSpPr>
          <p:cNvPr id="52" name="TextBox 51"/>
          <p:cNvSpPr txBox="1"/>
          <p:nvPr/>
        </p:nvSpPr>
        <p:spPr>
          <a:xfrm>
            <a:off x="7772400" y="3941063"/>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Meet the makers</a:t>
            </a:r>
          </a:p>
        </p:txBody>
      </p:sp>
      <p:sp>
        <p:nvSpPr>
          <p:cNvPr id="53" name="TextBox 52"/>
          <p:cNvSpPr txBox="1"/>
          <p:nvPr/>
        </p:nvSpPr>
        <p:spPr>
          <a:xfrm>
            <a:off x="9875520" y="3941063"/>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T9 · REAL+GENERATED</a:t>
            </a:r>
          </a:p>
        </p:txBody>
      </p:sp>
      <p:sp>
        <p:nvSpPr>
          <p:cNvPr id="54" name="Rectangle 53"/>
          <p:cNvSpPr/>
          <p:nvPr/>
        </p:nvSpPr>
        <p:spPr>
          <a:xfrm>
            <a:off x="457200" y="4306824"/>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02920" y="4325112"/>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DEC-F09  12-20</a:t>
            </a:r>
          </a:p>
        </p:txBody>
      </p:sp>
      <p:sp>
        <p:nvSpPr>
          <p:cNvPr id="56" name="TextBox 55"/>
          <p:cNvSpPr txBox="1"/>
          <p:nvPr/>
        </p:nvSpPr>
        <p:spPr>
          <a:xfrm>
            <a:off x="1737360" y="4325112"/>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Sun · Carousel</a:t>
            </a:r>
          </a:p>
        </p:txBody>
      </p:sp>
      <p:sp>
        <p:nvSpPr>
          <p:cNvPr id="57" name="TextBox 56"/>
          <p:cNvSpPr txBox="1"/>
          <p:nvPr/>
        </p:nvSpPr>
        <p:spPr>
          <a:xfrm>
            <a:off x="2743200" y="4325112"/>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People of Sudair</a:t>
            </a:r>
          </a:p>
        </p:txBody>
      </p:sp>
      <p:sp>
        <p:nvSpPr>
          <p:cNvPr id="58" name="TextBox 57"/>
          <p:cNvSpPr txBox="1"/>
          <p:nvPr/>
        </p:nvSpPr>
        <p:spPr>
          <a:xfrm>
            <a:off x="7772400" y="4325112"/>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People and careers</a:t>
            </a:r>
          </a:p>
        </p:txBody>
      </p:sp>
      <p:sp>
        <p:nvSpPr>
          <p:cNvPr id="59" name="TextBox 58"/>
          <p:cNvSpPr txBox="1"/>
          <p:nvPr/>
        </p:nvSpPr>
        <p:spPr>
          <a:xfrm>
            <a:off x="9875520" y="4325112"/>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T3 · REAL+GENERATED</a:t>
            </a:r>
          </a:p>
        </p:txBody>
      </p:sp>
      <p:sp>
        <p:nvSpPr>
          <p:cNvPr id="60" name="Rectangle 59"/>
          <p:cNvSpPr/>
          <p:nvPr/>
        </p:nvSpPr>
        <p:spPr>
          <a:xfrm>
            <a:off x="457200" y="4690872"/>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02920" y="4709159"/>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DEC-F10  12-22</a:t>
            </a:r>
          </a:p>
        </p:txBody>
      </p:sp>
      <p:sp>
        <p:nvSpPr>
          <p:cNvPr id="62" name="TextBox 61"/>
          <p:cNvSpPr txBox="1"/>
          <p:nvPr/>
        </p:nvSpPr>
        <p:spPr>
          <a:xfrm>
            <a:off x="1737360" y="4709159"/>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Tue · Still</a:t>
            </a:r>
          </a:p>
        </p:txBody>
      </p:sp>
      <p:sp>
        <p:nvSpPr>
          <p:cNvPr id="63" name="TextBox 62"/>
          <p:cNvSpPr txBox="1"/>
          <p:nvPr/>
        </p:nvSpPr>
        <p:spPr>
          <a:xfrm>
            <a:off x="2743200" y="4709159"/>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After every night, a brighter morning</a:t>
            </a:r>
          </a:p>
        </p:txBody>
      </p:sp>
      <p:sp>
        <p:nvSpPr>
          <p:cNvPr id="64" name="TextBox 63"/>
          <p:cNvSpPr txBox="1"/>
          <p:nvPr/>
        </p:nvSpPr>
        <p:spPr>
          <a:xfrm>
            <a:off x="7772400" y="4709159"/>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Year and community</a:t>
            </a:r>
          </a:p>
        </p:txBody>
      </p:sp>
      <p:sp>
        <p:nvSpPr>
          <p:cNvPr id="65" name="TextBox 64"/>
          <p:cNvSpPr txBox="1"/>
          <p:nvPr/>
        </p:nvSpPr>
        <p:spPr>
          <a:xfrm>
            <a:off x="9875520" y="4709159"/>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T1 · GENERATED</a:t>
            </a:r>
          </a:p>
        </p:txBody>
      </p:sp>
      <p:sp>
        <p:nvSpPr>
          <p:cNvPr id="66" name="Rectangle 65"/>
          <p:cNvSpPr/>
          <p:nvPr/>
        </p:nvSpPr>
        <p:spPr>
          <a:xfrm>
            <a:off x="457200" y="5074920"/>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02920" y="5093207"/>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DEC-F11  12-24</a:t>
            </a:r>
          </a:p>
        </p:txBody>
      </p:sp>
      <p:sp>
        <p:nvSpPr>
          <p:cNvPr id="68" name="TextBox 67"/>
          <p:cNvSpPr txBox="1"/>
          <p:nvPr/>
        </p:nvSpPr>
        <p:spPr>
          <a:xfrm>
            <a:off x="1737360" y="5093207"/>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Thu · Reel</a:t>
            </a:r>
          </a:p>
        </p:txBody>
      </p:sp>
      <p:sp>
        <p:nvSpPr>
          <p:cNvPr id="69" name="TextBox 68"/>
          <p:cNvSpPr txBox="1"/>
          <p:nvPr/>
        </p:nvSpPr>
        <p:spPr>
          <a:xfrm>
            <a:off x="2743200" y="5093207"/>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Meet the night shift</a:t>
            </a:r>
          </a:p>
        </p:txBody>
      </p:sp>
      <p:sp>
        <p:nvSpPr>
          <p:cNvPr id="70" name="TextBox 69"/>
          <p:cNvSpPr txBox="1"/>
          <p:nvPr/>
        </p:nvSpPr>
        <p:spPr>
          <a:xfrm>
            <a:off x="7772400" y="5093207"/>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Meet the makers</a:t>
            </a:r>
          </a:p>
        </p:txBody>
      </p:sp>
      <p:sp>
        <p:nvSpPr>
          <p:cNvPr id="71" name="TextBox 70"/>
          <p:cNvSpPr txBox="1"/>
          <p:nvPr/>
        </p:nvSpPr>
        <p:spPr>
          <a:xfrm>
            <a:off x="9875520" y="5093207"/>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T2 · REAL+GENERATED</a:t>
            </a:r>
          </a:p>
        </p:txBody>
      </p:sp>
      <p:sp>
        <p:nvSpPr>
          <p:cNvPr id="72" name="Rectangle 71"/>
          <p:cNvSpPr/>
          <p:nvPr/>
        </p:nvSpPr>
        <p:spPr>
          <a:xfrm>
            <a:off x="457200" y="5458968"/>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02920" y="5477255"/>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DEC-F12  12-29</a:t>
            </a:r>
          </a:p>
        </p:txBody>
      </p:sp>
      <p:sp>
        <p:nvSpPr>
          <p:cNvPr id="74" name="TextBox 73"/>
          <p:cNvSpPr txBox="1"/>
          <p:nvPr/>
        </p:nvSpPr>
        <p:spPr>
          <a:xfrm>
            <a:off x="1737360" y="5477255"/>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Tue · Still</a:t>
            </a:r>
          </a:p>
        </p:txBody>
      </p:sp>
      <p:sp>
        <p:nvSpPr>
          <p:cNvPr id="75" name="TextBox 74"/>
          <p:cNvSpPr txBox="1"/>
          <p:nvPr/>
        </p:nvSpPr>
        <p:spPr>
          <a:xfrm>
            <a:off x="2743200" y="5477255"/>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A quiet thank you</a:t>
            </a:r>
          </a:p>
        </p:txBody>
      </p:sp>
      <p:sp>
        <p:nvSpPr>
          <p:cNvPr id="76" name="TextBox 75"/>
          <p:cNvSpPr txBox="1"/>
          <p:nvPr/>
        </p:nvSpPr>
        <p:spPr>
          <a:xfrm>
            <a:off x="7772400" y="5477255"/>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Year and community</a:t>
            </a:r>
          </a:p>
        </p:txBody>
      </p:sp>
      <p:sp>
        <p:nvSpPr>
          <p:cNvPr id="77" name="TextBox 76"/>
          <p:cNvSpPr txBox="1"/>
          <p:nvPr/>
        </p:nvSpPr>
        <p:spPr>
          <a:xfrm>
            <a:off x="9875520" y="5477255"/>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T8 · GENERATED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48640"/>
          </a:xfrm>
          <a:prstGeom prst="rect">
            <a:avLst/>
          </a:prstGeom>
          <a:noFill/>
        </p:spPr>
        <p:txBody>
          <a:bodyPr wrap="square" lIns="36576" rIns="36576" tIns="18288" bIns="18288" anchor="t">
            <a:spAutoFit/>
          </a:bodyPr>
          <a:lstStyle/>
          <a:p>
            <a:pPr algn="l"/>
            <a:r>
              <a:rPr sz="2400" b="1" i="0">
                <a:solidFill>
                  <a:srgbClr val="0B4F35"/>
                </a:solidFill>
                <a:latin typeface="Segoe UI"/>
                <a:cs typeface="Tahoma"/>
              </a:rPr>
              <a:t>December 2026: Instagram + Facebook stories</a:t>
            </a:r>
          </a:p>
        </p:txBody>
      </p:sp>
      <p:sp>
        <p:nvSpPr>
          <p:cNvPr id="4" name="TextBox 3"/>
          <p:cNvSpPr txBox="1"/>
          <p:nvPr/>
        </p:nvSpPr>
        <p:spPr>
          <a:xfrm>
            <a:off x="457200" y="749808"/>
            <a:ext cx="11247120" cy="365760"/>
          </a:xfrm>
          <a:prstGeom prst="rect">
            <a:avLst/>
          </a:prstGeom>
          <a:noFill/>
        </p:spPr>
        <p:txBody>
          <a:bodyPr wrap="square" lIns="36576" rIns="36576" tIns="18288" bIns="18288" anchor="t">
            <a:spAutoFit/>
          </a:bodyPr>
          <a:lstStyle/>
          <a:p>
            <a:pPr algn="l"/>
            <a:r>
              <a:rPr sz="1200" b="0" i="0">
                <a:solidFill>
                  <a:srgbClr val="5B6B63"/>
                </a:solidFill>
                <a:latin typeface="Segoe UI"/>
                <a:cs typeface="Tahoma"/>
              </a:rPr>
              <a:t>12 pieces</a:t>
            </a:r>
          </a:p>
        </p:txBody>
      </p:sp>
      <p:sp>
        <p:nvSpPr>
          <p:cNvPr id="5" name="TextBox 4"/>
          <p:cNvSpPr txBox="1"/>
          <p:nvPr/>
        </p:nvSpPr>
        <p:spPr>
          <a:xfrm>
            <a:off x="11155680" y="6492240"/>
            <a:ext cx="731520" cy="274320"/>
          </a:xfrm>
          <a:prstGeom prst="rect">
            <a:avLst/>
          </a:prstGeom>
          <a:noFill/>
        </p:spPr>
        <p:txBody>
          <a:bodyPr wrap="square" lIns="36576" rIns="36576" tIns="18288" bIns="18288" anchor="t">
            <a:spAutoFit/>
          </a:bodyPr>
          <a:lstStyle/>
          <a:p>
            <a:pPr algn="r"/>
            <a:r>
              <a:rPr sz="900" b="0" i="0">
                <a:solidFill>
                  <a:srgbClr val="5B6B63"/>
                </a:solidFill>
                <a:latin typeface="Segoe UI"/>
                <a:cs typeface="Tahoma"/>
              </a:rPr>
              <a:t>51</a:t>
            </a:r>
          </a:p>
        </p:txBody>
      </p:sp>
      <p:sp>
        <p:nvSpPr>
          <p:cNvPr id="6" name="Rectangle 5"/>
          <p:cNvSpPr/>
          <p:nvPr/>
        </p:nvSpPr>
        <p:spPr>
          <a:xfrm>
            <a:off x="457200" y="1234440"/>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52728"/>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DEC-S01  12-02</a:t>
            </a:r>
          </a:p>
        </p:txBody>
      </p:sp>
      <p:sp>
        <p:nvSpPr>
          <p:cNvPr id="8" name="TextBox 7"/>
          <p:cNvSpPr txBox="1"/>
          <p:nvPr/>
        </p:nvSpPr>
        <p:spPr>
          <a:xfrm>
            <a:off x="1737360" y="1252728"/>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Wed · Story</a:t>
            </a:r>
          </a:p>
        </p:txBody>
      </p:sp>
      <p:sp>
        <p:nvSpPr>
          <p:cNvPr id="9" name="TextBox 8"/>
          <p:cNvSpPr txBox="1"/>
          <p:nvPr/>
        </p:nvSpPr>
        <p:spPr>
          <a:xfrm>
            <a:off x="2743200" y="1252728"/>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Good morning from Sudair City</a:t>
            </a:r>
          </a:p>
        </p:txBody>
      </p:sp>
      <p:sp>
        <p:nvSpPr>
          <p:cNvPr id="10" name="TextBox 9"/>
          <p:cNvSpPr txBox="1"/>
          <p:nvPr/>
        </p:nvSpPr>
        <p:spPr>
          <a:xfrm>
            <a:off x="7772400" y="1252728"/>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Local manufacturing</a:t>
            </a:r>
          </a:p>
        </p:txBody>
      </p:sp>
      <p:sp>
        <p:nvSpPr>
          <p:cNvPr id="11" name="TextBox 10"/>
          <p:cNvSpPr txBox="1"/>
          <p:nvPr/>
        </p:nvSpPr>
        <p:spPr>
          <a:xfrm>
            <a:off x="9875520" y="1252728"/>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T8 · GENERATED</a:t>
            </a:r>
          </a:p>
        </p:txBody>
      </p:sp>
      <p:sp>
        <p:nvSpPr>
          <p:cNvPr id="12" name="Rectangle 11"/>
          <p:cNvSpPr/>
          <p:nvPr/>
        </p:nvSpPr>
        <p:spPr>
          <a:xfrm>
            <a:off x="457200" y="1618488"/>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636776"/>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DEC-S02  12-02</a:t>
            </a:r>
          </a:p>
        </p:txBody>
      </p:sp>
      <p:sp>
        <p:nvSpPr>
          <p:cNvPr id="14" name="TextBox 13"/>
          <p:cNvSpPr txBox="1"/>
          <p:nvPr/>
        </p:nvSpPr>
        <p:spPr>
          <a:xfrm>
            <a:off x="1737360" y="1636776"/>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Wed · Story</a:t>
            </a:r>
          </a:p>
        </p:txBody>
      </p:sp>
      <p:sp>
        <p:nvSpPr>
          <p:cNvPr id="15" name="TextBox 14"/>
          <p:cNvSpPr txBox="1"/>
          <p:nvPr/>
        </p:nvSpPr>
        <p:spPr>
          <a:xfrm>
            <a:off x="2743200" y="1636776"/>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Behind the doors</a:t>
            </a:r>
          </a:p>
        </p:txBody>
      </p:sp>
      <p:sp>
        <p:nvSpPr>
          <p:cNvPr id="16" name="TextBox 15"/>
          <p:cNvSpPr txBox="1"/>
          <p:nvPr/>
        </p:nvSpPr>
        <p:spPr>
          <a:xfrm>
            <a:off x="7772400" y="1636776"/>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Meet the makers</a:t>
            </a:r>
          </a:p>
        </p:txBody>
      </p:sp>
      <p:sp>
        <p:nvSpPr>
          <p:cNvPr id="17" name="TextBox 16"/>
          <p:cNvSpPr txBox="1"/>
          <p:nvPr/>
        </p:nvSpPr>
        <p:spPr>
          <a:xfrm>
            <a:off x="9875520" y="1636776"/>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T1 · REAL+GENERATED</a:t>
            </a:r>
          </a:p>
        </p:txBody>
      </p:sp>
      <p:sp>
        <p:nvSpPr>
          <p:cNvPr id="18" name="Rectangle 17"/>
          <p:cNvSpPr/>
          <p:nvPr/>
        </p:nvSpPr>
        <p:spPr>
          <a:xfrm>
            <a:off x="457200" y="2002536"/>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020824"/>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DEC-S03  12-03</a:t>
            </a:r>
          </a:p>
        </p:txBody>
      </p:sp>
      <p:sp>
        <p:nvSpPr>
          <p:cNvPr id="20" name="TextBox 19"/>
          <p:cNvSpPr txBox="1"/>
          <p:nvPr/>
        </p:nvSpPr>
        <p:spPr>
          <a:xfrm>
            <a:off x="1737360" y="2020824"/>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Thu · Story</a:t>
            </a:r>
          </a:p>
        </p:txBody>
      </p:sp>
      <p:sp>
        <p:nvSpPr>
          <p:cNvPr id="21" name="TextBox 20"/>
          <p:cNvSpPr txBox="1"/>
          <p:nvPr/>
        </p:nvSpPr>
        <p:spPr>
          <a:xfrm>
            <a:off x="2743200" y="2020824"/>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Place card of the week: the facade among the palms</a:t>
            </a:r>
          </a:p>
        </p:txBody>
      </p:sp>
      <p:sp>
        <p:nvSpPr>
          <p:cNvPr id="22" name="TextBox 21"/>
          <p:cNvSpPr txBox="1"/>
          <p:nvPr/>
        </p:nvSpPr>
        <p:spPr>
          <a:xfrm>
            <a:off x="7772400" y="2020824"/>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Local manufacturing</a:t>
            </a:r>
          </a:p>
        </p:txBody>
      </p:sp>
      <p:sp>
        <p:nvSpPr>
          <p:cNvPr id="23" name="TextBox 22"/>
          <p:cNvSpPr txBox="1"/>
          <p:nvPr/>
        </p:nvSpPr>
        <p:spPr>
          <a:xfrm>
            <a:off x="9875520" y="2020824"/>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T2 · REAL</a:t>
            </a:r>
          </a:p>
        </p:txBody>
      </p:sp>
      <p:sp>
        <p:nvSpPr>
          <p:cNvPr id="24" name="Rectangle 23"/>
          <p:cNvSpPr/>
          <p:nvPr/>
        </p:nvSpPr>
        <p:spPr>
          <a:xfrm>
            <a:off x="457200" y="2386584"/>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2404872"/>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DEC-S04  12-07</a:t>
            </a:r>
          </a:p>
        </p:txBody>
      </p:sp>
      <p:sp>
        <p:nvSpPr>
          <p:cNvPr id="26" name="TextBox 25"/>
          <p:cNvSpPr txBox="1"/>
          <p:nvPr/>
        </p:nvSpPr>
        <p:spPr>
          <a:xfrm>
            <a:off x="1737360" y="2404872"/>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Mon · Story</a:t>
            </a:r>
          </a:p>
        </p:txBody>
      </p:sp>
      <p:sp>
        <p:nvSpPr>
          <p:cNvPr id="27" name="TextBox 26"/>
          <p:cNvSpPr txBox="1"/>
          <p:nvPr/>
        </p:nvSpPr>
        <p:spPr>
          <a:xfrm>
            <a:off x="2743200" y="2404872"/>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Our year in photos</a:t>
            </a:r>
          </a:p>
        </p:txBody>
      </p:sp>
      <p:sp>
        <p:nvSpPr>
          <p:cNvPr id="28" name="TextBox 27"/>
          <p:cNvSpPr txBox="1"/>
          <p:nvPr/>
        </p:nvSpPr>
        <p:spPr>
          <a:xfrm>
            <a:off x="7772400" y="2404872"/>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Year and community</a:t>
            </a:r>
          </a:p>
        </p:txBody>
      </p:sp>
      <p:sp>
        <p:nvSpPr>
          <p:cNvPr id="29" name="TextBox 28"/>
          <p:cNvSpPr txBox="1"/>
          <p:nvPr/>
        </p:nvSpPr>
        <p:spPr>
          <a:xfrm>
            <a:off x="9875520" y="2404872"/>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T6 · REAL+GENERATED</a:t>
            </a:r>
          </a:p>
        </p:txBody>
      </p:sp>
      <p:sp>
        <p:nvSpPr>
          <p:cNvPr id="30" name="Rectangle 29"/>
          <p:cNvSpPr/>
          <p:nvPr/>
        </p:nvSpPr>
        <p:spPr>
          <a:xfrm>
            <a:off x="457200" y="2770632"/>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2788920"/>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DEC-S05  12-09</a:t>
            </a:r>
          </a:p>
        </p:txBody>
      </p:sp>
      <p:sp>
        <p:nvSpPr>
          <p:cNvPr id="32" name="TextBox 31"/>
          <p:cNvSpPr txBox="1"/>
          <p:nvPr/>
        </p:nvSpPr>
        <p:spPr>
          <a:xfrm>
            <a:off x="1737360" y="2788920"/>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Wed · Story</a:t>
            </a:r>
          </a:p>
        </p:txBody>
      </p:sp>
      <p:sp>
        <p:nvSpPr>
          <p:cNvPr id="33" name="TextBox 32"/>
          <p:cNvSpPr txBox="1"/>
          <p:nvPr/>
        </p:nvSpPr>
        <p:spPr>
          <a:xfrm>
            <a:off x="2743200" y="2788920"/>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Question box: what should we show next?</a:t>
            </a:r>
          </a:p>
        </p:txBody>
      </p:sp>
      <p:sp>
        <p:nvSpPr>
          <p:cNvPr id="34" name="TextBox 33"/>
          <p:cNvSpPr txBox="1"/>
          <p:nvPr/>
        </p:nvSpPr>
        <p:spPr>
          <a:xfrm>
            <a:off x="7772400" y="2788920"/>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Year and community</a:t>
            </a:r>
          </a:p>
        </p:txBody>
      </p:sp>
      <p:sp>
        <p:nvSpPr>
          <p:cNvPr id="35" name="TextBox 34"/>
          <p:cNvSpPr txBox="1"/>
          <p:nvPr/>
        </p:nvSpPr>
        <p:spPr>
          <a:xfrm>
            <a:off x="9875520" y="2788920"/>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T8 · GENERATED</a:t>
            </a:r>
          </a:p>
        </p:txBody>
      </p:sp>
      <p:sp>
        <p:nvSpPr>
          <p:cNvPr id="36" name="Rectangle 35"/>
          <p:cNvSpPr/>
          <p:nvPr/>
        </p:nvSpPr>
        <p:spPr>
          <a:xfrm>
            <a:off x="457200" y="3154679"/>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3172968"/>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DEC-S06  12-10</a:t>
            </a:r>
          </a:p>
        </p:txBody>
      </p:sp>
      <p:sp>
        <p:nvSpPr>
          <p:cNvPr id="38" name="TextBox 37"/>
          <p:cNvSpPr txBox="1"/>
          <p:nvPr/>
        </p:nvSpPr>
        <p:spPr>
          <a:xfrm>
            <a:off x="1737360" y="3172968"/>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Thu · Story</a:t>
            </a:r>
          </a:p>
        </p:txBody>
      </p:sp>
      <p:sp>
        <p:nvSpPr>
          <p:cNvPr id="39" name="TextBox 38"/>
          <p:cNvSpPr txBox="1"/>
          <p:nvPr/>
        </p:nvSpPr>
        <p:spPr>
          <a:xfrm>
            <a:off x="2743200" y="3172968"/>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Place card of the week: Sudair City from the sky</a:t>
            </a:r>
          </a:p>
        </p:txBody>
      </p:sp>
      <p:sp>
        <p:nvSpPr>
          <p:cNvPr id="40" name="TextBox 39"/>
          <p:cNvSpPr txBox="1"/>
          <p:nvPr/>
        </p:nvSpPr>
        <p:spPr>
          <a:xfrm>
            <a:off x="7772400" y="3172968"/>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Local manufacturing</a:t>
            </a:r>
          </a:p>
        </p:txBody>
      </p:sp>
      <p:sp>
        <p:nvSpPr>
          <p:cNvPr id="41" name="TextBox 40"/>
          <p:cNvSpPr txBox="1"/>
          <p:nvPr/>
        </p:nvSpPr>
        <p:spPr>
          <a:xfrm>
            <a:off x="9875520" y="3172968"/>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T2 · REAL</a:t>
            </a:r>
          </a:p>
        </p:txBody>
      </p:sp>
      <p:sp>
        <p:nvSpPr>
          <p:cNvPr id="42" name="Rectangle 41"/>
          <p:cNvSpPr/>
          <p:nvPr/>
        </p:nvSpPr>
        <p:spPr>
          <a:xfrm>
            <a:off x="457200" y="3538727"/>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3557015"/>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DEC-S07  12-14</a:t>
            </a:r>
          </a:p>
        </p:txBody>
      </p:sp>
      <p:sp>
        <p:nvSpPr>
          <p:cNvPr id="44" name="TextBox 43"/>
          <p:cNvSpPr txBox="1"/>
          <p:nvPr/>
        </p:nvSpPr>
        <p:spPr>
          <a:xfrm>
            <a:off x="1737360" y="3557015"/>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Mon · Story</a:t>
            </a:r>
          </a:p>
        </p:txBody>
      </p:sp>
      <p:sp>
        <p:nvSpPr>
          <p:cNvPr id="45" name="TextBox 44"/>
          <p:cNvSpPr txBox="1"/>
          <p:nvPr/>
        </p:nvSpPr>
        <p:spPr>
          <a:xfrm>
            <a:off x="2743200" y="3557015"/>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Poll: where do you think this is?</a:t>
            </a:r>
          </a:p>
        </p:txBody>
      </p:sp>
      <p:sp>
        <p:nvSpPr>
          <p:cNvPr id="46" name="TextBox 45"/>
          <p:cNvSpPr txBox="1"/>
          <p:nvPr/>
        </p:nvSpPr>
        <p:spPr>
          <a:xfrm>
            <a:off x="7772400" y="3557015"/>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Year and community</a:t>
            </a:r>
          </a:p>
        </p:txBody>
      </p:sp>
      <p:sp>
        <p:nvSpPr>
          <p:cNvPr id="47" name="TextBox 46"/>
          <p:cNvSpPr txBox="1"/>
          <p:nvPr/>
        </p:nvSpPr>
        <p:spPr>
          <a:xfrm>
            <a:off x="9875520" y="3557015"/>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T6 · REAL+GENERATED</a:t>
            </a:r>
          </a:p>
        </p:txBody>
      </p:sp>
      <p:sp>
        <p:nvSpPr>
          <p:cNvPr id="48" name="Rectangle 47"/>
          <p:cNvSpPr/>
          <p:nvPr/>
        </p:nvSpPr>
        <p:spPr>
          <a:xfrm>
            <a:off x="457200" y="3922776"/>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2920" y="3941063"/>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DEC-S08  12-16</a:t>
            </a:r>
          </a:p>
        </p:txBody>
      </p:sp>
      <p:sp>
        <p:nvSpPr>
          <p:cNvPr id="50" name="TextBox 49"/>
          <p:cNvSpPr txBox="1"/>
          <p:nvPr/>
        </p:nvSpPr>
        <p:spPr>
          <a:xfrm>
            <a:off x="1737360" y="3941063"/>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Wed · Story</a:t>
            </a:r>
          </a:p>
        </p:txBody>
      </p:sp>
      <p:sp>
        <p:nvSpPr>
          <p:cNvPr id="51" name="TextBox 50"/>
          <p:cNvSpPr txBox="1"/>
          <p:nvPr/>
        </p:nvSpPr>
        <p:spPr>
          <a:xfrm>
            <a:off x="2743200" y="3941063"/>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A bench, up close</a:t>
            </a:r>
          </a:p>
        </p:txBody>
      </p:sp>
      <p:sp>
        <p:nvSpPr>
          <p:cNvPr id="52" name="TextBox 51"/>
          <p:cNvSpPr txBox="1"/>
          <p:nvPr/>
        </p:nvSpPr>
        <p:spPr>
          <a:xfrm>
            <a:off x="7772400" y="3941063"/>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Meet the makers</a:t>
            </a:r>
          </a:p>
        </p:txBody>
      </p:sp>
      <p:sp>
        <p:nvSpPr>
          <p:cNvPr id="53" name="TextBox 52"/>
          <p:cNvSpPr txBox="1"/>
          <p:nvPr/>
        </p:nvSpPr>
        <p:spPr>
          <a:xfrm>
            <a:off x="9875520" y="3941063"/>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T2 · REAL</a:t>
            </a:r>
          </a:p>
        </p:txBody>
      </p:sp>
      <p:sp>
        <p:nvSpPr>
          <p:cNvPr id="54" name="Rectangle 53"/>
          <p:cNvSpPr/>
          <p:nvPr/>
        </p:nvSpPr>
        <p:spPr>
          <a:xfrm>
            <a:off x="457200" y="4306824"/>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02920" y="4325112"/>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DEC-S09  12-17</a:t>
            </a:r>
          </a:p>
        </p:txBody>
      </p:sp>
      <p:sp>
        <p:nvSpPr>
          <p:cNvPr id="56" name="TextBox 55"/>
          <p:cNvSpPr txBox="1"/>
          <p:nvPr/>
        </p:nvSpPr>
        <p:spPr>
          <a:xfrm>
            <a:off x="1737360" y="4325112"/>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Thu · Story</a:t>
            </a:r>
          </a:p>
        </p:txBody>
      </p:sp>
      <p:sp>
        <p:nvSpPr>
          <p:cNvPr id="57" name="TextBox 56"/>
          <p:cNvSpPr txBox="1"/>
          <p:nvPr/>
        </p:nvSpPr>
        <p:spPr>
          <a:xfrm>
            <a:off x="2743200" y="4325112"/>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Place card of the week: the packaging hall</a:t>
            </a:r>
          </a:p>
        </p:txBody>
      </p:sp>
      <p:sp>
        <p:nvSpPr>
          <p:cNvPr id="58" name="TextBox 57"/>
          <p:cNvSpPr txBox="1"/>
          <p:nvPr/>
        </p:nvSpPr>
        <p:spPr>
          <a:xfrm>
            <a:off x="7772400" y="4325112"/>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People and careers</a:t>
            </a:r>
          </a:p>
        </p:txBody>
      </p:sp>
      <p:sp>
        <p:nvSpPr>
          <p:cNvPr id="59" name="TextBox 58"/>
          <p:cNvSpPr txBox="1"/>
          <p:nvPr/>
        </p:nvSpPr>
        <p:spPr>
          <a:xfrm>
            <a:off x="9875520" y="4325112"/>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T2 · REAL</a:t>
            </a:r>
          </a:p>
        </p:txBody>
      </p:sp>
      <p:sp>
        <p:nvSpPr>
          <p:cNvPr id="60" name="Rectangle 59"/>
          <p:cNvSpPr/>
          <p:nvPr/>
        </p:nvSpPr>
        <p:spPr>
          <a:xfrm>
            <a:off x="457200" y="4690872"/>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02920" y="4709159"/>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DEC-S10  12-23</a:t>
            </a:r>
          </a:p>
        </p:txBody>
      </p:sp>
      <p:sp>
        <p:nvSpPr>
          <p:cNvPr id="62" name="TextBox 61"/>
          <p:cNvSpPr txBox="1"/>
          <p:nvPr/>
        </p:nvSpPr>
        <p:spPr>
          <a:xfrm>
            <a:off x="1737360" y="4709159"/>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Wed · Story</a:t>
            </a:r>
          </a:p>
        </p:txBody>
      </p:sp>
      <p:sp>
        <p:nvSpPr>
          <p:cNvPr id="63" name="TextBox 62"/>
          <p:cNvSpPr txBox="1"/>
          <p:nvPr/>
        </p:nvSpPr>
        <p:spPr>
          <a:xfrm>
            <a:off x="2743200" y="4709159"/>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Thank you</a:t>
            </a:r>
          </a:p>
        </p:txBody>
      </p:sp>
      <p:sp>
        <p:nvSpPr>
          <p:cNvPr id="64" name="TextBox 63"/>
          <p:cNvSpPr txBox="1"/>
          <p:nvPr/>
        </p:nvSpPr>
        <p:spPr>
          <a:xfrm>
            <a:off x="7772400" y="4709159"/>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Year and community</a:t>
            </a:r>
          </a:p>
        </p:txBody>
      </p:sp>
      <p:sp>
        <p:nvSpPr>
          <p:cNvPr id="65" name="TextBox 64"/>
          <p:cNvSpPr txBox="1"/>
          <p:nvPr/>
        </p:nvSpPr>
        <p:spPr>
          <a:xfrm>
            <a:off x="9875520" y="4709159"/>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T8 · GENERATED</a:t>
            </a:r>
          </a:p>
        </p:txBody>
      </p:sp>
      <p:sp>
        <p:nvSpPr>
          <p:cNvPr id="66" name="Rectangle 65"/>
          <p:cNvSpPr/>
          <p:nvPr/>
        </p:nvSpPr>
        <p:spPr>
          <a:xfrm>
            <a:off x="457200" y="5074920"/>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02920" y="5093207"/>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DEC-S11  12-28</a:t>
            </a:r>
          </a:p>
        </p:txBody>
      </p:sp>
      <p:sp>
        <p:nvSpPr>
          <p:cNvPr id="68" name="TextBox 67"/>
          <p:cNvSpPr txBox="1"/>
          <p:nvPr/>
        </p:nvSpPr>
        <p:spPr>
          <a:xfrm>
            <a:off x="1737360" y="5093207"/>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Mon · Story</a:t>
            </a:r>
          </a:p>
        </p:txBody>
      </p:sp>
      <p:sp>
        <p:nvSpPr>
          <p:cNvPr id="69" name="TextBox 68"/>
          <p:cNvSpPr txBox="1"/>
          <p:nvPr/>
        </p:nvSpPr>
        <p:spPr>
          <a:xfrm>
            <a:off x="2743200" y="5093207"/>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The night shift</a:t>
            </a:r>
          </a:p>
        </p:txBody>
      </p:sp>
      <p:sp>
        <p:nvSpPr>
          <p:cNvPr id="70" name="TextBox 69"/>
          <p:cNvSpPr txBox="1"/>
          <p:nvPr/>
        </p:nvSpPr>
        <p:spPr>
          <a:xfrm>
            <a:off x="7772400" y="5093207"/>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Meet the makers</a:t>
            </a:r>
          </a:p>
        </p:txBody>
      </p:sp>
      <p:sp>
        <p:nvSpPr>
          <p:cNvPr id="71" name="TextBox 70"/>
          <p:cNvSpPr txBox="1"/>
          <p:nvPr/>
        </p:nvSpPr>
        <p:spPr>
          <a:xfrm>
            <a:off x="9875520" y="5093207"/>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T2 · REAL+GENERATED</a:t>
            </a:r>
          </a:p>
        </p:txBody>
      </p:sp>
      <p:sp>
        <p:nvSpPr>
          <p:cNvPr id="72" name="Rectangle 71"/>
          <p:cNvSpPr/>
          <p:nvPr/>
        </p:nvSpPr>
        <p:spPr>
          <a:xfrm>
            <a:off x="457200" y="5458968"/>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02920" y="5477255"/>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DEC-S12  12-31</a:t>
            </a:r>
          </a:p>
        </p:txBody>
      </p:sp>
      <p:sp>
        <p:nvSpPr>
          <p:cNvPr id="74" name="TextBox 73"/>
          <p:cNvSpPr txBox="1"/>
          <p:nvPr/>
        </p:nvSpPr>
        <p:spPr>
          <a:xfrm>
            <a:off x="1737360" y="5477255"/>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Thu · Story</a:t>
            </a:r>
          </a:p>
        </p:txBody>
      </p:sp>
      <p:sp>
        <p:nvSpPr>
          <p:cNvPr id="75" name="TextBox 74"/>
          <p:cNvSpPr txBox="1"/>
          <p:nvPr/>
        </p:nvSpPr>
        <p:spPr>
          <a:xfrm>
            <a:off x="2743200" y="5477255"/>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See you in January</a:t>
            </a:r>
          </a:p>
        </p:txBody>
      </p:sp>
      <p:sp>
        <p:nvSpPr>
          <p:cNvPr id="76" name="TextBox 75"/>
          <p:cNvSpPr txBox="1"/>
          <p:nvPr/>
        </p:nvSpPr>
        <p:spPr>
          <a:xfrm>
            <a:off x="7772400" y="5477255"/>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Year and community</a:t>
            </a:r>
          </a:p>
        </p:txBody>
      </p:sp>
      <p:sp>
        <p:nvSpPr>
          <p:cNvPr id="77" name="TextBox 76"/>
          <p:cNvSpPr txBox="1"/>
          <p:nvPr/>
        </p:nvSpPr>
        <p:spPr>
          <a:xfrm>
            <a:off x="9875520" y="5477255"/>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T8 · GENERATED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48640"/>
          </a:xfrm>
          <a:prstGeom prst="rect">
            <a:avLst/>
          </a:prstGeom>
          <a:noFill/>
        </p:spPr>
        <p:txBody>
          <a:bodyPr wrap="square" lIns="36576" rIns="36576" tIns="18288" bIns="18288" anchor="t">
            <a:spAutoFit/>
          </a:bodyPr>
          <a:lstStyle/>
          <a:p>
            <a:pPr algn="l"/>
            <a:r>
              <a:rPr sz="2400" b="1" i="0">
                <a:solidFill>
                  <a:srgbClr val="0B4F35"/>
                </a:solidFill>
                <a:latin typeface="Segoe UI"/>
                <a:cs typeface="Tahoma"/>
              </a:rPr>
              <a:t>December 2026: LinkedIn + X carousels</a:t>
            </a:r>
          </a:p>
        </p:txBody>
      </p:sp>
      <p:sp>
        <p:nvSpPr>
          <p:cNvPr id="4" name="TextBox 3"/>
          <p:cNvSpPr txBox="1"/>
          <p:nvPr/>
        </p:nvSpPr>
        <p:spPr>
          <a:xfrm>
            <a:off x="457200" y="749808"/>
            <a:ext cx="11247120" cy="365760"/>
          </a:xfrm>
          <a:prstGeom prst="rect">
            <a:avLst/>
          </a:prstGeom>
          <a:noFill/>
        </p:spPr>
        <p:txBody>
          <a:bodyPr wrap="square" lIns="36576" rIns="36576" tIns="18288" bIns="18288" anchor="t">
            <a:spAutoFit/>
          </a:bodyPr>
          <a:lstStyle/>
          <a:p>
            <a:pPr algn="l"/>
            <a:r>
              <a:rPr sz="1200" b="0" i="0">
                <a:solidFill>
                  <a:srgbClr val="5B6B63"/>
                </a:solidFill>
                <a:latin typeface="Segoe UI"/>
                <a:cs typeface="Tahoma"/>
              </a:rPr>
              <a:t>8 pieces</a:t>
            </a:r>
          </a:p>
        </p:txBody>
      </p:sp>
      <p:sp>
        <p:nvSpPr>
          <p:cNvPr id="5" name="TextBox 4"/>
          <p:cNvSpPr txBox="1"/>
          <p:nvPr/>
        </p:nvSpPr>
        <p:spPr>
          <a:xfrm>
            <a:off x="11155680" y="6492240"/>
            <a:ext cx="731520" cy="274320"/>
          </a:xfrm>
          <a:prstGeom prst="rect">
            <a:avLst/>
          </a:prstGeom>
          <a:noFill/>
        </p:spPr>
        <p:txBody>
          <a:bodyPr wrap="square" lIns="36576" rIns="36576" tIns="18288" bIns="18288" anchor="t">
            <a:spAutoFit/>
          </a:bodyPr>
          <a:lstStyle/>
          <a:p>
            <a:pPr algn="r"/>
            <a:r>
              <a:rPr sz="900" b="0" i="0">
                <a:solidFill>
                  <a:srgbClr val="5B6B63"/>
                </a:solidFill>
                <a:latin typeface="Segoe UI"/>
                <a:cs typeface="Tahoma"/>
              </a:rPr>
              <a:t>52</a:t>
            </a:r>
          </a:p>
        </p:txBody>
      </p:sp>
      <p:sp>
        <p:nvSpPr>
          <p:cNvPr id="6" name="Rectangle 5"/>
          <p:cNvSpPr/>
          <p:nvPr/>
        </p:nvSpPr>
        <p:spPr>
          <a:xfrm>
            <a:off x="457200" y="1234440"/>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52728"/>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DEC-L01  12-01</a:t>
            </a:r>
          </a:p>
        </p:txBody>
      </p:sp>
      <p:sp>
        <p:nvSpPr>
          <p:cNvPr id="8" name="TextBox 7"/>
          <p:cNvSpPr txBox="1"/>
          <p:nvPr/>
        </p:nvSpPr>
        <p:spPr>
          <a:xfrm>
            <a:off x="1737360" y="1252728"/>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Tue · Carousel</a:t>
            </a:r>
          </a:p>
        </p:txBody>
      </p:sp>
      <p:sp>
        <p:nvSpPr>
          <p:cNvPr id="9" name="TextBox 8"/>
          <p:cNvSpPr txBox="1"/>
          <p:nvPr/>
        </p:nvSpPr>
        <p:spPr>
          <a:xfrm>
            <a:off x="2743200" y="1252728"/>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Sudair City in six views</a:t>
            </a:r>
          </a:p>
        </p:txBody>
      </p:sp>
      <p:sp>
        <p:nvSpPr>
          <p:cNvPr id="10" name="TextBox 9"/>
          <p:cNvSpPr txBox="1"/>
          <p:nvPr/>
        </p:nvSpPr>
        <p:spPr>
          <a:xfrm>
            <a:off x="7772400" y="1252728"/>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Local manufacturing</a:t>
            </a:r>
          </a:p>
        </p:txBody>
      </p:sp>
      <p:sp>
        <p:nvSpPr>
          <p:cNvPr id="11" name="TextBox 10"/>
          <p:cNvSpPr txBox="1"/>
          <p:nvPr/>
        </p:nvSpPr>
        <p:spPr>
          <a:xfrm>
            <a:off x="9875520" y="1252728"/>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T6 · REAL+GENERATED</a:t>
            </a:r>
          </a:p>
        </p:txBody>
      </p:sp>
      <p:sp>
        <p:nvSpPr>
          <p:cNvPr id="12" name="Rectangle 11"/>
          <p:cNvSpPr/>
          <p:nvPr/>
        </p:nvSpPr>
        <p:spPr>
          <a:xfrm>
            <a:off x="457200" y="1618488"/>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636776"/>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DEC-L02  12-02</a:t>
            </a:r>
          </a:p>
        </p:txBody>
      </p:sp>
      <p:sp>
        <p:nvSpPr>
          <p:cNvPr id="14" name="TextBox 13"/>
          <p:cNvSpPr txBox="1"/>
          <p:nvPr/>
        </p:nvSpPr>
        <p:spPr>
          <a:xfrm>
            <a:off x="1737360" y="1636776"/>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Wed · Carousel</a:t>
            </a:r>
          </a:p>
        </p:txBody>
      </p:sp>
      <p:sp>
        <p:nvSpPr>
          <p:cNvPr id="15" name="TextBox 14"/>
          <p:cNvSpPr txBox="1"/>
          <p:nvPr/>
        </p:nvSpPr>
        <p:spPr>
          <a:xfrm>
            <a:off x="2743200" y="1636776"/>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Meet the functions: who does what on site</a:t>
            </a:r>
          </a:p>
        </p:txBody>
      </p:sp>
      <p:sp>
        <p:nvSpPr>
          <p:cNvPr id="16" name="TextBox 15"/>
          <p:cNvSpPr txBox="1"/>
          <p:nvPr/>
        </p:nvSpPr>
        <p:spPr>
          <a:xfrm>
            <a:off x="7772400" y="1636776"/>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Meet the makers</a:t>
            </a:r>
          </a:p>
        </p:txBody>
      </p:sp>
      <p:sp>
        <p:nvSpPr>
          <p:cNvPr id="17" name="TextBox 16"/>
          <p:cNvSpPr txBox="1"/>
          <p:nvPr/>
        </p:nvSpPr>
        <p:spPr>
          <a:xfrm>
            <a:off x="9875520" y="1636776"/>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T4 · REAL+GENERATED</a:t>
            </a:r>
          </a:p>
        </p:txBody>
      </p:sp>
      <p:sp>
        <p:nvSpPr>
          <p:cNvPr id="18" name="Rectangle 17"/>
          <p:cNvSpPr/>
          <p:nvPr/>
        </p:nvSpPr>
        <p:spPr>
          <a:xfrm>
            <a:off x="457200" y="2002536"/>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020824"/>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DEC-L03  12-07</a:t>
            </a:r>
          </a:p>
        </p:txBody>
      </p:sp>
      <p:sp>
        <p:nvSpPr>
          <p:cNvPr id="20" name="TextBox 19"/>
          <p:cNvSpPr txBox="1"/>
          <p:nvPr/>
        </p:nvSpPr>
        <p:spPr>
          <a:xfrm>
            <a:off x="1737360" y="2020824"/>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Mon · Carousel</a:t>
            </a:r>
          </a:p>
        </p:txBody>
      </p:sp>
      <p:sp>
        <p:nvSpPr>
          <p:cNvPr id="21" name="TextBox 20"/>
          <p:cNvSpPr txBox="1"/>
          <p:nvPr/>
        </p:nvSpPr>
        <p:spPr>
          <a:xfrm>
            <a:off x="2743200" y="2020824"/>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The year in review: what we showed you</a:t>
            </a:r>
          </a:p>
        </p:txBody>
      </p:sp>
      <p:sp>
        <p:nvSpPr>
          <p:cNvPr id="22" name="TextBox 21"/>
          <p:cNvSpPr txBox="1"/>
          <p:nvPr/>
        </p:nvSpPr>
        <p:spPr>
          <a:xfrm>
            <a:off x="7772400" y="2020824"/>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Year and community</a:t>
            </a:r>
          </a:p>
        </p:txBody>
      </p:sp>
      <p:sp>
        <p:nvSpPr>
          <p:cNvPr id="23" name="TextBox 22"/>
          <p:cNvSpPr txBox="1"/>
          <p:nvPr/>
        </p:nvSpPr>
        <p:spPr>
          <a:xfrm>
            <a:off x="9875520" y="2020824"/>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T2 · REAL</a:t>
            </a:r>
          </a:p>
        </p:txBody>
      </p:sp>
      <p:sp>
        <p:nvSpPr>
          <p:cNvPr id="24" name="Rectangle 23"/>
          <p:cNvSpPr/>
          <p:nvPr/>
        </p:nvSpPr>
        <p:spPr>
          <a:xfrm>
            <a:off x="457200" y="2386584"/>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2404872"/>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DEC-L04  12-09</a:t>
            </a:r>
          </a:p>
        </p:txBody>
      </p:sp>
      <p:sp>
        <p:nvSpPr>
          <p:cNvPr id="26" name="TextBox 25"/>
          <p:cNvSpPr txBox="1"/>
          <p:nvPr/>
        </p:nvSpPr>
        <p:spPr>
          <a:xfrm>
            <a:off x="1737360" y="2404872"/>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Wed · Carousel</a:t>
            </a:r>
          </a:p>
        </p:txBody>
      </p:sp>
      <p:sp>
        <p:nvSpPr>
          <p:cNvPr id="27" name="TextBox 26"/>
          <p:cNvSpPr txBox="1"/>
          <p:nvPr/>
        </p:nvSpPr>
        <p:spPr>
          <a:xfrm>
            <a:off x="2743200" y="2404872"/>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Events and partnerships of 2026: the stages we shared with you</a:t>
            </a:r>
          </a:p>
        </p:txBody>
      </p:sp>
      <p:sp>
        <p:nvSpPr>
          <p:cNvPr id="28" name="TextBox 27"/>
          <p:cNvSpPr txBox="1"/>
          <p:nvPr/>
        </p:nvSpPr>
        <p:spPr>
          <a:xfrm>
            <a:off x="7772400" y="2404872"/>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Recognition and events</a:t>
            </a:r>
          </a:p>
        </p:txBody>
      </p:sp>
      <p:sp>
        <p:nvSpPr>
          <p:cNvPr id="29" name="TextBox 28"/>
          <p:cNvSpPr txBox="1"/>
          <p:nvPr/>
        </p:nvSpPr>
        <p:spPr>
          <a:xfrm>
            <a:off x="9875520" y="2404872"/>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T5 · REAL</a:t>
            </a:r>
          </a:p>
        </p:txBody>
      </p:sp>
      <p:sp>
        <p:nvSpPr>
          <p:cNvPr id="30" name="Rectangle 29"/>
          <p:cNvSpPr/>
          <p:nvPr/>
        </p:nvSpPr>
        <p:spPr>
          <a:xfrm>
            <a:off x="457200" y="2770632"/>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2788920"/>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DEC-L05  12-14</a:t>
            </a:r>
          </a:p>
        </p:txBody>
      </p:sp>
      <p:sp>
        <p:nvSpPr>
          <p:cNvPr id="32" name="TextBox 31"/>
          <p:cNvSpPr txBox="1"/>
          <p:nvPr/>
        </p:nvSpPr>
        <p:spPr>
          <a:xfrm>
            <a:off x="1737360" y="2788920"/>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Mon · Carousel</a:t>
            </a:r>
          </a:p>
        </p:txBody>
      </p:sp>
      <p:sp>
        <p:nvSpPr>
          <p:cNvPr id="33" name="TextBox 32"/>
          <p:cNvSpPr txBox="1"/>
          <p:nvPr/>
        </p:nvSpPr>
        <p:spPr>
          <a:xfrm>
            <a:off x="2743200" y="2788920"/>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Local industry in plain words</a:t>
            </a:r>
          </a:p>
        </p:txBody>
      </p:sp>
      <p:sp>
        <p:nvSpPr>
          <p:cNvPr id="34" name="TextBox 33"/>
          <p:cNvSpPr txBox="1"/>
          <p:nvPr/>
        </p:nvSpPr>
        <p:spPr>
          <a:xfrm>
            <a:off x="7772400" y="2788920"/>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Local manufacturing</a:t>
            </a:r>
          </a:p>
        </p:txBody>
      </p:sp>
      <p:sp>
        <p:nvSpPr>
          <p:cNvPr id="35" name="TextBox 34"/>
          <p:cNvSpPr txBox="1"/>
          <p:nvPr/>
        </p:nvSpPr>
        <p:spPr>
          <a:xfrm>
            <a:off x="9875520" y="2788920"/>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T7 · REAL+GENERATED</a:t>
            </a:r>
          </a:p>
        </p:txBody>
      </p:sp>
      <p:sp>
        <p:nvSpPr>
          <p:cNvPr id="36" name="Rectangle 35"/>
          <p:cNvSpPr/>
          <p:nvPr/>
        </p:nvSpPr>
        <p:spPr>
          <a:xfrm>
            <a:off x="457200" y="3154679"/>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3172968"/>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DEC-L06  12-16</a:t>
            </a:r>
          </a:p>
        </p:txBody>
      </p:sp>
      <p:sp>
        <p:nvSpPr>
          <p:cNvPr id="38" name="TextBox 37"/>
          <p:cNvSpPr txBox="1"/>
          <p:nvPr/>
        </p:nvSpPr>
        <p:spPr>
          <a:xfrm>
            <a:off x="1737360" y="3172968"/>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Wed · Carousel</a:t>
            </a:r>
          </a:p>
        </p:txBody>
      </p:sp>
      <p:sp>
        <p:nvSpPr>
          <p:cNvPr id="39" name="TextBox 38"/>
          <p:cNvSpPr txBox="1"/>
          <p:nvPr/>
        </p:nvSpPr>
        <p:spPr>
          <a:xfrm>
            <a:off x="2743200" y="3172968"/>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The people side of a plant</a:t>
            </a:r>
          </a:p>
        </p:txBody>
      </p:sp>
      <p:sp>
        <p:nvSpPr>
          <p:cNvPr id="40" name="TextBox 39"/>
          <p:cNvSpPr txBox="1"/>
          <p:nvPr/>
        </p:nvSpPr>
        <p:spPr>
          <a:xfrm>
            <a:off x="7772400" y="3172968"/>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People and careers</a:t>
            </a:r>
          </a:p>
        </p:txBody>
      </p:sp>
      <p:sp>
        <p:nvSpPr>
          <p:cNvPr id="41" name="TextBox 40"/>
          <p:cNvSpPr txBox="1"/>
          <p:nvPr/>
        </p:nvSpPr>
        <p:spPr>
          <a:xfrm>
            <a:off x="9875520" y="3172968"/>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T3 · REAL</a:t>
            </a:r>
          </a:p>
        </p:txBody>
      </p:sp>
      <p:sp>
        <p:nvSpPr>
          <p:cNvPr id="42" name="Rectangle 41"/>
          <p:cNvSpPr/>
          <p:nvPr/>
        </p:nvSpPr>
        <p:spPr>
          <a:xfrm>
            <a:off x="457200" y="3538727"/>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3557015"/>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DEC-L07  12-28</a:t>
            </a:r>
          </a:p>
        </p:txBody>
      </p:sp>
      <p:sp>
        <p:nvSpPr>
          <p:cNvPr id="44" name="TextBox 43"/>
          <p:cNvSpPr txBox="1"/>
          <p:nvPr/>
        </p:nvSpPr>
        <p:spPr>
          <a:xfrm>
            <a:off x="1737360" y="3557015"/>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Mon · Carousel</a:t>
            </a:r>
          </a:p>
        </p:txBody>
      </p:sp>
      <p:sp>
        <p:nvSpPr>
          <p:cNvPr id="45" name="TextBox 44"/>
          <p:cNvSpPr txBox="1"/>
          <p:nvPr/>
        </p:nvSpPr>
        <p:spPr>
          <a:xfrm>
            <a:off x="2743200" y="3557015"/>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Looking back with gratitude</a:t>
            </a:r>
          </a:p>
        </p:txBody>
      </p:sp>
      <p:sp>
        <p:nvSpPr>
          <p:cNvPr id="46" name="TextBox 45"/>
          <p:cNvSpPr txBox="1"/>
          <p:nvPr/>
        </p:nvSpPr>
        <p:spPr>
          <a:xfrm>
            <a:off x="7772400" y="3557015"/>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Year and community</a:t>
            </a:r>
          </a:p>
        </p:txBody>
      </p:sp>
      <p:sp>
        <p:nvSpPr>
          <p:cNvPr id="47" name="TextBox 46"/>
          <p:cNvSpPr txBox="1"/>
          <p:nvPr/>
        </p:nvSpPr>
        <p:spPr>
          <a:xfrm>
            <a:off x="9875520" y="3557015"/>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T8 · REAL+GENERATED</a:t>
            </a:r>
          </a:p>
        </p:txBody>
      </p:sp>
      <p:sp>
        <p:nvSpPr>
          <p:cNvPr id="48" name="Rectangle 47"/>
          <p:cNvSpPr/>
          <p:nvPr/>
        </p:nvSpPr>
        <p:spPr>
          <a:xfrm>
            <a:off x="457200" y="3922776"/>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2920" y="3941063"/>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DEC-L08  12-30</a:t>
            </a:r>
          </a:p>
        </p:txBody>
      </p:sp>
      <p:sp>
        <p:nvSpPr>
          <p:cNvPr id="50" name="TextBox 49"/>
          <p:cNvSpPr txBox="1"/>
          <p:nvPr/>
        </p:nvSpPr>
        <p:spPr>
          <a:xfrm>
            <a:off x="1737360" y="3941063"/>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Wed · Carousel</a:t>
            </a:r>
          </a:p>
        </p:txBody>
      </p:sp>
      <p:sp>
        <p:nvSpPr>
          <p:cNvPr id="51" name="TextBox 50"/>
          <p:cNvSpPr txBox="1"/>
          <p:nvPr/>
        </p:nvSpPr>
        <p:spPr>
          <a:xfrm>
            <a:off x="2743200" y="3941063"/>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What we carry into the new year: values and people</a:t>
            </a:r>
          </a:p>
        </p:txBody>
      </p:sp>
      <p:sp>
        <p:nvSpPr>
          <p:cNvPr id="52" name="TextBox 51"/>
          <p:cNvSpPr txBox="1"/>
          <p:nvPr/>
        </p:nvSpPr>
        <p:spPr>
          <a:xfrm>
            <a:off x="7772400" y="3941063"/>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People and careers</a:t>
            </a:r>
          </a:p>
        </p:txBody>
      </p:sp>
      <p:sp>
        <p:nvSpPr>
          <p:cNvPr id="53" name="TextBox 52"/>
          <p:cNvSpPr txBox="1"/>
          <p:nvPr/>
        </p:nvSpPr>
        <p:spPr>
          <a:xfrm>
            <a:off x="9875520" y="3941063"/>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T1 · REAL+GENERATED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493776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493776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DEC-F01</a:t>
            </a:r>
          </a:p>
          <a:p>
            <a:pPr algn="ctr"/>
            <a:r>
              <a:rPr sz="900" b="1" i="0">
                <a:solidFill>
                  <a:srgbClr val="5B6B63"/>
                </a:solidFill>
                <a:latin typeface="Segoe UI"/>
                <a:cs typeface="Tahoma"/>
              </a:rPr>
              <a:t>1080 × 1350 px (4:5)</a:t>
            </a:r>
          </a:p>
        </p:txBody>
      </p:sp>
      <p:sp>
        <p:nvSpPr>
          <p:cNvPr id="5" name="Rounded Rectangle 4"/>
          <p:cNvSpPr/>
          <p:nvPr/>
        </p:nvSpPr>
        <p:spPr>
          <a:xfrm>
            <a:off x="5669280" y="457200"/>
            <a:ext cx="603504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0" y="457200"/>
            <a:ext cx="585215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DEC-F01 · Tue 2026-12-01 · Instagram + Facebook · Still</a:t>
            </a:r>
          </a:p>
        </p:txBody>
      </p:sp>
      <p:sp>
        <p:nvSpPr>
          <p:cNvPr id="7" name="TextBox 6"/>
          <p:cNvSpPr txBox="1"/>
          <p:nvPr/>
        </p:nvSpPr>
        <p:spPr>
          <a:xfrm>
            <a:off x="5669280" y="914400"/>
            <a:ext cx="603504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Built here: the site from above  ·  Local manufacturing  ·  T6 Key-visual petal</a:t>
            </a:r>
          </a:p>
        </p:txBody>
      </p:sp>
      <p:sp>
        <p:nvSpPr>
          <p:cNvPr id="8" name="TextBox 7"/>
          <p:cNvSpPr txBox="1"/>
          <p:nvPr/>
        </p:nvSpPr>
        <p:spPr>
          <a:xfrm>
            <a:off x="5669280" y="1261872"/>
            <a:ext cx="6035040"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هنا بُني المكان</a:t>
            </a:r>
          </a:p>
        </p:txBody>
      </p:sp>
      <p:sp>
        <p:nvSpPr>
          <p:cNvPr id="9" name="TextBox 8"/>
          <p:cNvSpPr txBox="1"/>
          <p:nvPr/>
        </p:nvSpPr>
        <p:spPr>
          <a:xfrm>
            <a:off x="5669280" y="1673351"/>
            <a:ext cx="6035040"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من الأعلى</a:t>
            </a:r>
          </a:p>
        </p:txBody>
      </p:sp>
      <p:sp>
        <p:nvSpPr>
          <p:cNvPr id="10" name="TextBox 9"/>
          <p:cNvSpPr txBox="1"/>
          <p:nvPr/>
        </p:nvSpPr>
        <p:spPr>
          <a:xfrm>
            <a:off x="5669280" y="2020824"/>
            <a:ext cx="6035040"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Built here. · Sudair City, seen from above.</a:t>
            </a:r>
          </a:p>
        </p:txBody>
      </p:sp>
      <p:sp>
        <p:nvSpPr>
          <p:cNvPr id="11" name="TextBox 10"/>
          <p:cNvSpPr txBox="1"/>
          <p:nvPr/>
        </p:nvSpPr>
        <p:spPr>
          <a:xfrm>
            <a:off x="5669280" y="2478024"/>
            <a:ext cx="603504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this is where we are, built in the desert and seen whole. Base: the real drone frame of the whole Sudair City site (A002) graded to dusk teal. Above it a fan of three tall petal-shaped glowing windows, each holding one quiet real frame: the palm-lined building at golden light (A001), the corridor with its lights on (A003), glassware on a bench (A008, no readable label). Dark emerald left side with a clear co</a:t>
            </a:r>
          </a:p>
        </p:txBody>
      </p:sp>
      <p:sp>
        <p:nvSpPr>
          <p:cNvPr id="12" name="TextBox 11"/>
          <p:cNvSpPr txBox="1"/>
          <p:nvPr/>
        </p:nvSpPr>
        <p:spPr>
          <a:xfrm>
            <a:off x="5669280" y="3255264"/>
            <a:ext cx="603504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A002  Collective footage-20261001T081156Z-1-008/Collective footage/DJI_20260121084636_0010_D.MOV | A001  Collective footage-20261001T081156Z-1-008/Collective footage/DJI_20260121084222_0001_D.MOV | A003  Collective footage-20261001T081156Z-1-008/Collective footage/DJI_20260121103516_0070_D.MOV | A00</a:t>
            </a:r>
          </a:p>
        </p:txBody>
      </p:sp>
      <p:sp>
        <p:nvSpPr>
          <p:cNvPr id="13" name="TextBox 12"/>
          <p:cNvSpPr txBox="1"/>
          <p:nvPr/>
        </p:nvSpPr>
        <p:spPr>
          <a:xfrm>
            <a:off x="5669280" y="3803904"/>
            <a:ext cx="603504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مدينة سدير كما تُرى من الأعلى. مكانٌ يأتيه الناس للعمل كل صباح، ومنه تبدأ حكاية هذا الشهر. نختم عام 2026 معكم بنظرةٍ إلى الوراء وكلمة شكر. تابعونا.</a:t>
            </a:r>
          </a:p>
          <a:p>
            <a:pPr algn="l"/>
            <a:r>
              <a:rPr sz="900" b="0" i="0">
                <a:solidFill>
                  <a:srgbClr val="142B22"/>
                </a:solidFill>
                <a:latin typeface="Segoe UI"/>
                <a:cs typeface="Tahoma"/>
              </a:rPr>
              <a:t>EN: Sudair City, seen from above. A place people come to work in every morning, and where this month's story begins. We close 2026 with a look back and a thank you. Follow along.</a:t>
            </a:r>
          </a:p>
        </p:txBody>
      </p:sp>
      <p:sp>
        <p:nvSpPr>
          <p:cNvPr id="14" name="TextBox 13"/>
          <p:cNvSpPr txBox="1"/>
          <p:nvPr/>
        </p:nvSpPr>
        <p:spPr>
          <a:xfrm>
            <a:off x="5669280" y="6400800"/>
            <a:ext cx="603504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Place and mood only: no product, no process, no number, no claim. Generated figures are not staff.</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DEC-L01 · S1</a:t>
            </a:r>
          </a:p>
          <a:p>
            <a:pPr algn="ctr"/>
            <a:r>
              <a:rPr sz="900" b="1" i="0">
                <a:solidFill>
                  <a:srgbClr val="5B6B63"/>
                </a:solidFill>
                <a:latin typeface="Segoe UI"/>
                <a:cs typeface="Tahoma"/>
              </a:rPr>
              <a:t>1080 × 1350</a:t>
            </a:r>
          </a:p>
        </p:txBody>
      </p:sp>
      <p:sp>
        <p:nvSpPr>
          <p:cNvPr id="5" name="TextBox 4"/>
          <p:cNvSpPr txBox="1"/>
          <p:nvPr/>
        </p:nvSpPr>
        <p:spPr>
          <a:xfrm>
            <a:off x="45720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مدينة سدير</a:t>
            </a:r>
          </a:p>
          <a:p>
            <a:pPr algn="l"/>
            <a:r>
              <a:rPr sz="850" b="0" i="0">
                <a:solidFill>
                  <a:srgbClr val="5B6B63"/>
                </a:solidFill>
                <a:latin typeface="Segoe UI"/>
                <a:cs typeface="Tahoma"/>
              </a:rPr>
              <a:t>Sudair City, in six views</a:t>
            </a:r>
          </a:p>
        </p:txBody>
      </p:sp>
      <p:sp>
        <p:nvSpPr>
          <p:cNvPr id="6" name="Rounded Rectangle 5"/>
          <p:cNvSpPr/>
          <p:nvPr/>
        </p:nvSpPr>
        <p:spPr>
          <a:xfrm>
            <a:off x="233172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33172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DEC-L01 · S2</a:t>
            </a:r>
          </a:p>
          <a:p>
            <a:pPr algn="ctr"/>
            <a:r>
              <a:rPr sz="900" b="1" i="0">
                <a:solidFill>
                  <a:srgbClr val="5B6B63"/>
                </a:solidFill>
                <a:latin typeface="Segoe UI"/>
                <a:cs typeface="Tahoma"/>
              </a:rPr>
              <a:t>1080 × 1350</a:t>
            </a:r>
          </a:p>
        </p:txBody>
      </p:sp>
      <p:sp>
        <p:nvSpPr>
          <p:cNvPr id="8" name="TextBox 7"/>
          <p:cNvSpPr txBox="1"/>
          <p:nvPr/>
        </p:nvSpPr>
        <p:spPr>
          <a:xfrm>
            <a:off x="233172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بين النخيل</a:t>
            </a:r>
          </a:p>
          <a:p>
            <a:pPr algn="l"/>
            <a:r>
              <a:rPr sz="850" b="0" i="0">
                <a:solidFill>
                  <a:srgbClr val="5B6B63"/>
                </a:solidFill>
                <a:latin typeface="Segoe UI"/>
                <a:cs typeface="Tahoma"/>
              </a:rPr>
              <a:t>Among the palms</a:t>
            </a:r>
          </a:p>
        </p:txBody>
      </p:sp>
      <p:sp>
        <p:nvSpPr>
          <p:cNvPr id="9" name="Rounded Rectangle 8"/>
          <p:cNvSpPr/>
          <p:nvPr/>
        </p:nvSpPr>
        <p:spPr>
          <a:xfrm>
            <a:off x="420624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DEC-L01 · S3</a:t>
            </a:r>
          </a:p>
          <a:p>
            <a:pPr algn="ctr"/>
            <a:r>
              <a:rPr sz="900" b="1" i="0">
                <a:solidFill>
                  <a:srgbClr val="5B6B63"/>
                </a:solidFill>
                <a:latin typeface="Segoe UI"/>
                <a:cs typeface="Tahoma"/>
              </a:rPr>
              <a:t>1080 × 1350</a:t>
            </a:r>
          </a:p>
        </p:txBody>
      </p:sp>
      <p:sp>
        <p:nvSpPr>
          <p:cNvPr id="11" name="TextBox 10"/>
          <p:cNvSpPr txBox="1"/>
          <p:nvPr/>
        </p:nvSpPr>
        <p:spPr>
          <a:xfrm>
            <a:off x="420624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idea</a:t>
            </a:r>
          </a:p>
          <a:p>
            <a:pPr rtl="1" algn="r"/>
            <a:r>
              <a:rPr sz="850" b="0" i="0">
                <a:solidFill>
                  <a:srgbClr val="5B6B63"/>
                </a:solidFill>
                <a:latin typeface="Segoe UI"/>
                <a:cs typeface="Tahoma"/>
              </a:rPr>
              <a:t>الواجهة</a:t>
            </a:r>
          </a:p>
          <a:p>
            <a:pPr algn="l"/>
            <a:r>
              <a:rPr sz="850" b="0" i="0">
                <a:solidFill>
                  <a:srgbClr val="5B6B63"/>
                </a:solidFill>
                <a:latin typeface="Segoe UI"/>
                <a:cs typeface="Tahoma"/>
              </a:rPr>
              <a:t>The facade, from the site road</a:t>
            </a:r>
          </a:p>
        </p:txBody>
      </p:sp>
      <p:sp>
        <p:nvSpPr>
          <p:cNvPr id="12" name="Rounded Rectangle 11"/>
          <p:cNvSpPr/>
          <p:nvPr/>
        </p:nvSpPr>
        <p:spPr>
          <a:xfrm>
            <a:off x="608076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8076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DEC-L01 · S4</a:t>
            </a:r>
          </a:p>
          <a:p>
            <a:pPr algn="ctr"/>
            <a:r>
              <a:rPr sz="900" b="1" i="0">
                <a:solidFill>
                  <a:srgbClr val="5B6B63"/>
                </a:solidFill>
                <a:latin typeface="Segoe UI"/>
                <a:cs typeface="Tahoma"/>
              </a:rPr>
              <a:t>1080 × 1350</a:t>
            </a:r>
          </a:p>
        </p:txBody>
      </p:sp>
      <p:sp>
        <p:nvSpPr>
          <p:cNvPr id="14" name="TextBox 13"/>
          <p:cNvSpPr txBox="1"/>
          <p:nvPr/>
        </p:nvSpPr>
        <p:spPr>
          <a:xfrm>
            <a:off x="608076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idea</a:t>
            </a:r>
          </a:p>
          <a:p>
            <a:pPr rtl="1" algn="r"/>
            <a:r>
              <a:rPr sz="850" b="0" i="0">
                <a:solidFill>
                  <a:srgbClr val="5B6B63"/>
                </a:solidFill>
                <a:latin typeface="Segoe UI"/>
                <a:cs typeface="Tahoma"/>
              </a:rPr>
              <a:t>ممرّ في الداخل</a:t>
            </a:r>
          </a:p>
          <a:p>
            <a:pPr algn="l"/>
            <a:r>
              <a:rPr sz="850" b="0" i="0">
                <a:solidFill>
                  <a:srgbClr val="5B6B63"/>
                </a:solidFill>
                <a:latin typeface="Segoe UI"/>
                <a:cs typeface="Tahoma"/>
              </a:rPr>
              <a:t>A corridor, inside</a:t>
            </a:r>
          </a:p>
        </p:txBody>
      </p:sp>
      <p:sp>
        <p:nvSpPr>
          <p:cNvPr id="15" name="Rounded Rectangle 14"/>
          <p:cNvSpPr/>
          <p:nvPr/>
        </p:nvSpPr>
        <p:spPr>
          <a:xfrm>
            <a:off x="795528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DEC-L01 · S5</a:t>
            </a:r>
          </a:p>
          <a:p>
            <a:pPr algn="ctr"/>
            <a:r>
              <a:rPr sz="900" b="1" i="0">
                <a:solidFill>
                  <a:srgbClr val="5B6B63"/>
                </a:solidFill>
                <a:latin typeface="Segoe UI"/>
                <a:cs typeface="Tahoma"/>
              </a:rPr>
              <a:t>1080 × 1350</a:t>
            </a:r>
          </a:p>
        </p:txBody>
      </p:sp>
      <p:sp>
        <p:nvSpPr>
          <p:cNvPr id="17" name="TextBox 16"/>
          <p:cNvSpPr txBox="1"/>
          <p:nvPr/>
        </p:nvSpPr>
        <p:spPr>
          <a:xfrm>
            <a:off x="795528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idea</a:t>
            </a:r>
          </a:p>
          <a:p>
            <a:pPr rtl="1" algn="r"/>
            <a:r>
              <a:rPr sz="850" b="0" i="0">
                <a:solidFill>
                  <a:srgbClr val="5B6B63"/>
                </a:solidFill>
                <a:latin typeface="Segoe UI"/>
                <a:cs typeface="Tahoma"/>
              </a:rPr>
              <a:t>عند المدخل</a:t>
            </a:r>
          </a:p>
          <a:p>
            <a:pPr algn="l"/>
            <a:r>
              <a:rPr sz="850" b="0" i="0">
                <a:solidFill>
                  <a:srgbClr val="5B6B63"/>
                </a:solidFill>
                <a:latin typeface="Segoe UI"/>
                <a:cs typeface="Tahoma"/>
              </a:rPr>
              <a:t>At the entrance, among the palms</a:t>
            </a:r>
          </a:p>
        </p:txBody>
      </p:sp>
      <p:sp>
        <p:nvSpPr>
          <p:cNvPr id="18" name="Rounded Rectangle 17"/>
          <p:cNvSpPr/>
          <p:nvPr/>
        </p:nvSpPr>
        <p:spPr>
          <a:xfrm>
            <a:off x="982980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2980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DEC-L01 · S6</a:t>
            </a:r>
          </a:p>
          <a:p>
            <a:pPr algn="ctr"/>
            <a:r>
              <a:rPr sz="900" b="1" i="0">
                <a:solidFill>
                  <a:srgbClr val="5B6B63"/>
                </a:solidFill>
                <a:latin typeface="Segoe UI"/>
                <a:cs typeface="Tahoma"/>
              </a:rPr>
              <a:t>1080 × 1350</a:t>
            </a:r>
          </a:p>
        </p:txBody>
      </p:sp>
      <p:sp>
        <p:nvSpPr>
          <p:cNvPr id="20" name="TextBox 19"/>
          <p:cNvSpPr txBox="1"/>
          <p:nvPr/>
        </p:nvSpPr>
        <p:spPr>
          <a:xfrm>
            <a:off x="982980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6. cta</a:t>
            </a:r>
          </a:p>
          <a:p>
            <a:pPr rtl="1" algn="r"/>
            <a:r>
              <a:rPr sz="850" b="0" i="0">
                <a:solidFill>
                  <a:srgbClr val="5B6B63"/>
                </a:solidFill>
                <a:latin typeface="Segoe UI"/>
                <a:cs typeface="Tahoma"/>
              </a:rPr>
              <a:t>الموقع كلّه</a:t>
            </a:r>
          </a:p>
          <a:p>
            <a:pPr algn="l"/>
            <a:r>
              <a:rPr sz="850" b="0" i="0">
                <a:solidFill>
                  <a:srgbClr val="5B6B63"/>
                </a:solidFill>
                <a:latin typeface="Segoe UI"/>
                <a:cs typeface="Tahoma"/>
              </a:rPr>
              <a:t>The whole site, on a table</a:t>
            </a:r>
          </a:p>
        </p:txBody>
      </p:sp>
      <p:sp>
        <p:nvSpPr>
          <p:cNvPr id="21" name="Rounded Rectangle 20"/>
          <p:cNvSpPr/>
          <p:nvPr/>
        </p:nvSpPr>
        <p:spPr>
          <a:xfrm>
            <a:off x="457200" y="350901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50901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DEC-L01 · Tue 2026-12-01 · LinkedIn + X · Carousel</a:t>
            </a:r>
          </a:p>
        </p:txBody>
      </p:sp>
      <p:sp>
        <p:nvSpPr>
          <p:cNvPr id="23" name="TextBox 22"/>
          <p:cNvSpPr txBox="1"/>
          <p:nvPr/>
        </p:nvSpPr>
        <p:spPr>
          <a:xfrm>
            <a:off x="457200" y="396621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Sudair City in six views  ·  Local manufacturing  ·  T6 Key-visual petal</a:t>
            </a:r>
          </a:p>
        </p:txBody>
      </p:sp>
      <p:sp>
        <p:nvSpPr>
          <p:cNvPr id="24" name="TextBox 23"/>
          <p:cNvSpPr txBox="1"/>
          <p:nvPr/>
        </p:nvSpPr>
        <p:spPr>
          <a:xfrm>
            <a:off x="457200" y="431368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The message is: Sudair City is a real place you can look at closely. The cover is the key-visual petal frame, three tall petal-shaped glowing windows in a fan over the real drone view of the whole site in the desert (A002), the palm-lined campus in golden light (A001) inside the left petal, dusk-graded sky, mint rim light on the petal edges. No people, no vehicles in focus, no readable signage. Empty 190 x 190 px are</a:t>
            </a:r>
          </a:p>
        </p:txBody>
      </p:sp>
      <p:sp>
        <p:nvSpPr>
          <p:cNvPr id="25" name="TextBox 24"/>
          <p:cNvSpPr txBox="1"/>
          <p:nvPr/>
        </p:nvSpPr>
        <p:spPr>
          <a:xfrm>
            <a:off x="457200" y="495376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A002  Collective footage-20261001T081156Z-1-008/Collective footage/DJI_20260121084636_0010_D.MOV | A001  Collective footage-20261001T081156Z-1-008/Collective footage/DJI_20260121084222_0001_D.MOV | A030  News Photos-20261001T081151Z-1-001/News Photos/IMG_1326.JPG | A003  Collective footage-20261001T</a:t>
            </a:r>
          </a:p>
        </p:txBody>
      </p:sp>
      <p:sp>
        <p:nvSpPr>
          <p:cNvPr id="26" name="TextBox 25"/>
          <p:cNvSpPr txBox="1"/>
          <p:nvPr/>
        </p:nvSpPr>
        <p:spPr>
          <a:xfrm>
            <a:off x="457200" y="550240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مدينة سدير كما تبدو من الأعلى، ثم من طريق الموقع، ثم من الداخل. لقطات للمكان الذي نعمل فيه، تتابعونها شريحة بعد شريحة. أيّ لقطة أعجبتكم؟ شاركونا رأيكم.</a:t>
            </a:r>
          </a:p>
          <a:p>
            <a:pPr algn="l"/>
            <a:r>
              <a:rPr sz="900" b="0" i="0">
                <a:solidFill>
                  <a:srgbClr val="142B22"/>
                </a:solidFill>
                <a:latin typeface="Segoe UI"/>
                <a:cs typeface="Tahoma"/>
              </a:rPr>
              <a:t>EN: Sudair City, from above, then from the site road, then from inside. Six views of the place where we work, one slide at a time. Which view stays with you? Tell us.</a:t>
            </a:r>
          </a:p>
        </p:txBody>
      </p:sp>
      <p:sp>
        <p:nvSpPr>
          <p:cNvPr id="27" name="TextBox 26"/>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Place and architecture only: no process, assurance or technical wording. Leaders visible in A030, A041 and A021 need consent, or crop tight to the facade, the palms and the site model.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DEC-L02 · S1</a:t>
            </a:r>
          </a:p>
          <a:p>
            <a:pPr algn="ctr"/>
            <a:r>
              <a:rPr sz="900" b="1" i="0">
                <a:solidFill>
                  <a:srgbClr val="5B6B63"/>
                </a:solidFill>
                <a:latin typeface="Segoe UI"/>
                <a:cs typeface="Tahoma"/>
              </a:rPr>
              <a:t>1080 × 1350</a:t>
            </a:r>
          </a:p>
        </p:txBody>
      </p:sp>
      <p:sp>
        <p:nvSpPr>
          <p:cNvPr id="5" name="TextBox 4"/>
          <p:cNvSpPr txBox="1"/>
          <p:nvPr/>
        </p:nvSpPr>
        <p:spPr>
          <a:xfrm>
            <a:off x="45720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مَن يعمل</a:t>
            </a:r>
          </a:p>
          <a:p>
            <a:pPr algn="l"/>
            <a:r>
              <a:rPr sz="850" b="0" i="0">
                <a:solidFill>
                  <a:srgbClr val="5B6B63"/>
                </a:solidFill>
                <a:latin typeface="Segoe UI"/>
                <a:cs typeface="Tahoma"/>
              </a:rPr>
              <a:t>Who does what on site?</a:t>
            </a:r>
          </a:p>
        </p:txBody>
      </p:sp>
      <p:sp>
        <p:nvSpPr>
          <p:cNvPr id="6" name="Rounded Rectangle 5"/>
          <p:cNvSpPr/>
          <p:nvPr/>
        </p:nvSpPr>
        <p:spPr>
          <a:xfrm>
            <a:off x="233172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33172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DEC-L02 · S2</a:t>
            </a:r>
          </a:p>
          <a:p>
            <a:pPr algn="ctr"/>
            <a:r>
              <a:rPr sz="900" b="1" i="0">
                <a:solidFill>
                  <a:srgbClr val="5B6B63"/>
                </a:solidFill>
                <a:latin typeface="Segoe UI"/>
                <a:cs typeface="Tahoma"/>
              </a:rPr>
              <a:t>1080 × 1350</a:t>
            </a:r>
          </a:p>
        </p:txBody>
      </p:sp>
      <p:sp>
        <p:nvSpPr>
          <p:cNvPr id="8" name="TextBox 7"/>
          <p:cNvSpPr txBox="1"/>
          <p:nvPr/>
        </p:nvSpPr>
        <p:spPr>
          <a:xfrm>
            <a:off x="233172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المختبر</a:t>
            </a:r>
          </a:p>
          <a:p>
            <a:pPr algn="l"/>
            <a:r>
              <a:rPr sz="850" b="0" i="0">
                <a:solidFill>
                  <a:srgbClr val="5B6B63"/>
                </a:solidFill>
                <a:latin typeface="Segoe UI"/>
                <a:cs typeface="Tahoma"/>
              </a:rPr>
              <a:t>The laboratory</a:t>
            </a:r>
          </a:p>
        </p:txBody>
      </p:sp>
      <p:sp>
        <p:nvSpPr>
          <p:cNvPr id="9" name="Rounded Rectangle 8"/>
          <p:cNvSpPr/>
          <p:nvPr/>
        </p:nvSpPr>
        <p:spPr>
          <a:xfrm>
            <a:off x="420624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DEC-L02 · S3</a:t>
            </a:r>
          </a:p>
          <a:p>
            <a:pPr algn="ctr"/>
            <a:r>
              <a:rPr sz="900" b="1" i="0">
                <a:solidFill>
                  <a:srgbClr val="5B6B63"/>
                </a:solidFill>
                <a:latin typeface="Segoe UI"/>
                <a:cs typeface="Tahoma"/>
              </a:rPr>
              <a:t>1080 × 1350</a:t>
            </a:r>
          </a:p>
        </p:txBody>
      </p:sp>
      <p:sp>
        <p:nvSpPr>
          <p:cNvPr id="11" name="TextBox 10"/>
          <p:cNvSpPr txBox="1"/>
          <p:nvPr/>
        </p:nvSpPr>
        <p:spPr>
          <a:xfrm>
            <a:off x="420624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idea</a:t>
            </a:r>
          </a:p>
          <a:p>
            <a:pPr rtl="1" algn="r"/>
            <a:r>
              <a:rPr sz="850" b="0" i="0">
                <a:solidFill>
                  <a:srgbClr val="5B6B63"/>
                </a:solidFill>
                <a:latin typeface="Segoe UI"/>
                <a:cs typeface="Tahoma"/>
              </a:rPr>
              <a:t>الإنتاج</a:t>
            </a:r>
          </a:p>
          <a:p>
            <a:pPr algn="l"/>
            <a:r>
              <a:rPr sz="850" b="0" i="0">
                <a:solidFill>
                  <a:srgbClr val="5B6B63"/>
                </a:solidFill>
                <a:latin typeface="Segoe UI"/>
                <a:cs typeface="Tahoma"/>
              </a:rPr>
              <a:t>Production</a:t>
            </a:r>
          </a:p>
        </p:txBody>
      </p:sp>
      <p:sp>
        <p:nvSpPr>
          <p:cNvPr id="12" name="Rounded Rectangle 11"/>
          <p:cNvSpPr/>
          <p:nvPr/>
        </p:nvSpPr>
        <p:spPr>
          <a:xfrm>
            <a:off x="608076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8076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DEC-L02 · S4</a:t>
            </a:r>
          </a:p>
          <a:p>
            <a:pPr algn="ctr"/>
            <a:r>
              <a:rPr sz="900" b="1" i="0">
                <a:solidFill>
                  <a:srgbClr val="5B6B63"/>
                </a:solidFill>
                <a:latin typeface="Segoe UI"/>
                <a:cs typeface="Tahoma"/>
              </a:rPr>
              <a:t>1080 × 1350</a:t>
            </a:r>
          </a:p>
        </p:txBody>
      </p:sp>
      <p:sp>
        <p:nvSpPr>
          <p:cNvPr id="14" name="TextBox 13"/>
          <p:cNvSpPr txBox="1"/>
          <p:nvPr/>
        </p:nvSpPr>
        <p:spPr>
          <a:xfrm>
            <a:off x="608076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idea</a:t>
            </a:r>
          </a:p>
          <a:p>
            <a:pPr rtl="1" algn="r"/>
            <a:r>
              <a:rPr sz="850" b="0" i="0">
                <a:solidFill>
                  <a:srgbClr val="5B6B63"/>
                </a:solidFill>
                <a:latin typeface="Segoe UI"/>
                <a:cs typeface="Tahoma"/>
              </a:rPr>
              <a:t>التعبئة والتغليف</a:t>
            </a:r>
          </a:p>
          <a:p>
            <a:pPr algn="l"/>
            <a:r>
              <a:rPr sz="850" b="0" i="0">
                <a:solidFill>
                  <a:srgbClr val="5B6B63"/>
                </a:solidFill>
                <a:latin typeface="Segoe UI"/>
                <a:cs typeface="Tahoma"/>
              </a:rPr>
              <a:t>Packaging</a:t>
            </a:r>
          </a:p>
        </p:txBody>
      </p:sp>
      <p:sp>
        <p:nvSpPr>
          <p:cNvPr id="15" name="Rounded Rectangle 14"/>
          <p:cNvSpPr/>
          <p:nvPr/>
        </p:nvSpPr>
        <p:spPr>
          <a:xfrm>
            <a:off x="795528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DEC-L02 · S5</a:t>
            </a:r>
          </a:p>
          <a:p>
            <a:pPr algn="ctr"/>
            <a:r>
              <a:rPr sz="900" b="1" i="0">
                <a:solidFill>
                  <a:srgbClr val="5B6B63"/>
                </a:solidFill>
                <a:latin typeface="Segoe UI"/>
                <a:cs typeface="Tahoma"/>
              </a:rPr>
              <a:t>1080 × 1350</a:t>
            </a:r>
          </a:p>
        </p:txBody>
      </p:sp>
      <p:sp>
        <p:nvSpPr>
          <p:cNvPr id="17" name="TextBox 16"/>
          <p:cNvSpPr txBox="1"/>
          <p:nvPr/>
        </p:nvSpPr>
        <p:spPr>
          <a:xfrm>
            <a:off x="795528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idea</a:t>
            </a:r>
          </a:p>
          <a:p>
            <a:pPr rtl="1" algn="r"/>
            <a:r>
              <a:rPr sz="850" b="0" i="0">
                <a:solidFill>
                  <a:srgbClr val="5B6B63"/>
                </a:solidFill>
                <a:latin typeface="Segoe UI"/>
                <a:cs typeface="Tahoma"/>
              </a:rPr>
              <a:t>الهندسة والإمداد</a:t>
            </a:r>
          </a:p>
          <a:p>
            <a:pPr algn="l"/>
            <a:r>
              <a:rPr sz="850" b="0" i="0">
                <a:solidFill>
                  <a:srgbClr val="5B6B63"/>
                </a:solidFill>
                <a:latin typeface="Segoe UI"/>
                <a:cs typeface="Tahoma"/>
              </a:rPr>
              <a:t>Engineering and logistics</a:t>
            </a:r>
          </a:p>
        </p:txBody>
      </p:sp>
      <p:sp>
        <p:nvSpPr>
          <p:cNvPr id="18" name="Rounded Rectangle 17"/>
          <p:cNvSpPr/>
          <p:nvPr/>
        </p:nvSpPr>
        <p:spPr>
          <a:xfrm>
            <a:off x="982980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2980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DEC-L02 · S6</a:t>
            </a:r>
          </a:p>
          <a:p>
            <a:pPr algn="ctr"/>
            <a:r>
              <a:rPr sz="900" b="1" i="0">
                <a:solidFill>
                  <a:srgbClr val="5B6B63"/>
                </a:solidFill>
                <a:latin typeface="Segoe UI"/>
                <a:cs typeface="Tahoma"/>
              </a:rPr>
              <a:t>1080 × 1350</a:t>
            </a:r>
          </a:p>
        </p:txBody>
      </p:sp>
      <p:sp>
        <p:nvSpPr>
          <p:cNvPr id="20" name="TextBox 19"/>
          <p:cNvSpPr txBox="1"/>
          <p:nvPr/>
        </p:nvSpPr>
        <p:spPr>
          <a:xfrm>
            <a:off x="982980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6. cta</a:t>
            </a:r>
          </a:p>
          <a:p>
            <a:pPr rtl="1" algn="r"/>
            <a:r>
              <a:rPr sz="850" b="0" i="0">
                <a:solidFill>
                  <a:srgbClr val="5B6B63"/>
                </a:solidFill>
                <a:latin typeface="Segoe UI"/>
                <a:cs typeface="Tahoma"/>
              </a:rPr>
              <a:t>فريقًا بعد فريق</a:t>
            </a:r>
          </a:p>
          <a:p>
            <a:pPr algn="l"/>
            <a:r>
              <a:rPr sz="850" b="0" i="0">
                <a:solidFill>
                  <a:srgbClr val="5B6B63"/>
                </a:solidFill>
                <a:latin typeface="Segoe UI"/>
                <a:cs typeface="Tahoma"/>
              </a:rPr>
              <a:t>Team by team, we introduce the people</a:t>
            </a:r>
          </a:p>
        </p:txBody>
      </p:sp>
      <p:sp>
        <p:nvSpPr>
          <p:cNvPr id="21" name="Rounded Rectangle 20"/>
          <p:cNvSpPr/>
          <p:nvPr/>
        </p:nvSpPr>
        <p:spPr>
          <a:xfrm>
            <a:off x="457200" y="350901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50901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DEC-L02 · Wed 2026-12-02 · LinkedIn + X · Carousel</a:t>
            </a:r>
          </a:p>
        </p:txBody>
      </p:sp>
      <p:sp>
        <p:nvSpPr>
          <p:cNvPr id="23" name="TextBox 22"/>
          <p:cNvSpPr txBox="1"/>
          <p:nvPr/>
        </p:nvSpPr>
        <p:spPr>
          <a:xfrm>
            <a:off x="457200" y="396621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Meet the functions: who does what on site  ·  Meet the makers  ·  T4 Card explainer</a:t>
            </a:r>
          </a:p>
        </p:txBody>
      </p:sp>
      <p:sp>
        <p:nvSpPr>
          <p:cNvPr id="24" name="TextBox 23"/>
          <p:cNvSpPr txBox="1"/>
          <p:nvPr/>
        </p:nvSpPr>
        <p:spPr>
          <a:xfrm>
            <a:off x="457200" y="431368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The message is: a site is teams, not machines. The cover is a card explainer: five rounded cream cards with a lime-green edge, each holding a friendly 3D character in green work clothes standing for a team (bench, line, packaging, engineering, logistics), on the emerald lattice background. Then one real photograph per team.</a:t>
            </a:r>
          </a:p>
        </p:txBody>
      </p:sp>
      <p:sp>
        <p:nvSpPr>
          <p:cNvPr id="25" name="TextBox 24"/>
          <p:cNvSpPr txBox="1"/>
          <p:nvPr/>
        </p:nvSpPr>
        <p:spPr>
          <a:xfrm>
            <a:off x="457200" y="495376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A007  Collective footage-20261001T081156Z-1-008/Collective footage/Camera/1/ALABBASY.8838.MP4 | A005  Collective footage-20261001T081156Z-1-008/Collective footage/Camera/1/ALABBASY.8829.MP4 | A012  Collective footage-20261001T081156Z-1-008/Collective footage/Camera/1/ALABBASY.8892.MP4 | A013  Collec</a:t>
            </a:r>
          </a:p>
        </p:txBody>
      </p:sp>
      <p:sp>
        <p:nvSpPr>
          <p:cNvPr id="26" name="TextBox 25"/>
          <p:cNvSpPr txBox="1"/>
          <p:nvPr/>
        </p:nvSpPr>
        <p:spPr>
          <a:xfrm>
            <a:off x="457200" y="550240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من يعمل في موقعنا؟ فِرق كثيرة تجتمع في المكان نفسه. المختبر، والخط، والتعبئة، والهندسة، والإمداد: لكل فريق مكانه ووجوهه. أيّ فريق تحبون أن تتعرّفوا عليه أكثر؟</a:t>
            </a:r>
          </a:p>
          <a:p>
            <a:pPr algn="l"/>
            <a:r>
              <a:rPr sz="900" b="0" i="0">
                <a:solidFill>
                  <a:srgbClr val="142B22"/>
                </a:solidFill>
                <a:latin typeface="Segoe UI"/>
                <a:cs typeface="Tahoma"/>
              </a:rPr>
              <a:t>EN: Who works at our site? Many teams, in the same place. The lab, the line, packaging, engineering and logistics: each team has a place and faces. Which team would you like to meet?</a:t>
            </a:r>
          </a:p>
        </p:txBody>
      </p:sp>
      <p:sp>
        <p:nvSpPr>
          <p:cNvPr id="27" name="TextBox 26"/>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Roles named by place only, with no description of what the work does. Lab, line and packaging staff in A005, A007, A012 and A013 need written consent. Client to confirm the team names against the org </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DEC-S01</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DEC-S01 · Wed 2026-12-02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Good morning from Sudair City  ·  Local manufacturing  ·  T8 Type card</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صباح الخير</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من مدينة سدير</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Good morning from Sudair City. · A new day at the site.</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Deep emerald type card with a hairline inset frame, a thin mint rule and one small white sunrise line icon at 60 px; centred two-level headline. No photograph. Keep 250 px free at the top and 340 px at the bottom.</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Generated only</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صباح الخير من مدينة سدير.</a:t>
            </a:r>
          </a:p>
          <a:p>
            <a:pPr algn="l"/>
            <a:r>
              <a:rPr sz="900" b="0" i="0">
                <a:solidFill>
                  <a:srgbClr val="142B22"/>
                </a:solidFill>
                <a:latin typeface="Segoe UI"/>
                <a:cs typeface="Tahoma"/>
              </a:rPr>
              <a:t>EN: Good morning from Sudair City.</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Greeting only: no claim, no product, no number.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DEC-S02</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DEC-S02 · Wed 2026-12-02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Behind the doors  ·  Meet the makers  ·  T1 Glass object</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خلف الأبواب</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ممرٌّ يُضاء</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Behind the doors. · A corridor, lit for the day.</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Premium 3D render of a tall glass-and-brushed-metal door standing slightly ajar on a glossy emerald floor, mint rim light, soft studio light from the upper left; through the gap, the real corridor frame (A003) glows warmly. Emerald gradient #09A45B to #04301F with a faint lattice. Object centred, 55% of height. Keep 250 px free at the top and 340 px at the bottom.</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A003  Collective footage-20261001T081156Z-1-008/Collective footage/DJI_20260121103516_0070_D.MOV</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ماذا يوجد خلف الباب؟ ممرٌّ يُضاء مع الصباح.</a:t>
            </a:r>
          </a:p>
          <a:p>
            <a:pPr algn="l"/>
            <a:r>
              <a:rPr sz="900" b="0" i="0">
                <a:solidFill>
                  <a:srgbClr val="142B22"/>
                </a:solidFill>
                <a:latin typeface="Segoe UI"/>
                <a:cs typeface="Tahoma"/>
              </a:rPr>
              <a:t>EN: What is behind the door? A corridor, lit for the morning.</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Invitation only: no description of what happens behind the door, no label, no claim.</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1332738" cy="2369312"/>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76096"/>
            <a:ext cx="1332738"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DEC-F02 · COVER</a:t>
            </a:r>
          </a:p>
          <a:p>
            <a:pPr algn="ctr"/>
            <a:r>
              <a:rPr sz="900" b="1" i="0">
                <a:solidFill>
                  <a:srgbClr val="5B6B63"/>
                </a:solidFill>
                <a:latin typeface="Segoe UI"/>
                <a:cs typeface="Tahoma"/>
              </a:rPr>
              <a:t>9:16</a:t>
            </a:r>
          </a:p>
        </p:txBody>
      </p:sp>
      <p:sp>
        <p:nvSpPr>
          <p:cNvPr id="5" name="TextBox 4"/>
          <p:cNvSpPr txBox="1"/>
          <p:nvPr/>
        </p:nvSpPr>
        <p:spPr>
          <a:xfrm>
            <a:off x="457200" y="2808224"/>
            <a:ext cx="1332738" cy="64008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Cover</a:t>
            </a:r>
          </a:p>
          <a:p>
            <a:pPr rtl="1" algn="r"/>
            <a:r>
              <a:rPr sz="850" b="0" i="0">
                <a:solidFill>
                  <a:srgbClr val="5B6B63"/>
                </a:solidFill>
                <a:latin typeface="Segoe UI"/>
                <a:cs typeface="Tahoma"/>
              </a:rPr>
              <a:t>من الفجر</a:t>
            </a:r>
          </a:p>
        </p:txBody>
      </p:sp>
      <p:sp>
        <p:nvSpPr>
          <p:cNvPr id="6" name="Rounded Rectangle 5"/>
          <p:cNvSpPr/>
          <p:nvPr/>
        </p:nvSpPr>
        <p:spPr>
          <a:xfrm>
            <a:off x="1863090" y="411480"/>
            <a:ext cx="1332738" cy="2369312"/>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63090" y="1276096"/>
            <a:ext cx="1332738"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DEC-F02 · SHOT 1</a:t>
            </a:r>
          </a:p>
          <a:p>
            <a:pPr algn="ctr"/>
            <a:r>
              <a:rPr sz="900" b="1" i="0">
                <a:solidFill>
                  <a:srgbClr val="5B6B63"/>
                </a:solidFill>
                <a:latin typeface="Segoe UI"/>
                <a:cs typeface="Tahoma"/>
              </a:rPr>
              <a:t>0s to 3s</a:t>
            </a:r>
          </a:p>
        </p:txBody>
      </p:sp>
      <p:sp>
        <p:nvSpPr>
          <p:cNvPr id="8" name="TextBox 7"/>
          <p:cNvSpPr txBox="1"/>
          <p:nvPr/>
        </p:nvSpPr>
        <p:spPr>
          <a:xfrm>
            <a:off x="1863090" y="2808224"/>
            <a:ext cx="1332738"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0–3s</a:t>
            </a:r>
          </a:p>
          <a:p>
            <a:pPr rtl="1" algn="r"/>
            <a:r>
              <a:rPr sz="800" b="0" i="0">
                <a:solidFill>
                  <a:srgbClr val="5B6B63"/>
                </a:solidFill>
                <a:latin typeface="Segoe UI"/>
                <a:cs typeface="Tahoma"/>
              </a:rPr>
              <a:t>الفجر في مدينة سدير</a:t>
            </a:r>
          </a:p>
          <a:p>
            <a:pPr algn="l"/>
            <a:r>
              <a:rPr sz="800" b="0" i="0">
                <a:solidFill>
                  <a:srgbClr val="5B6B63"/>
                </a:solidFill>
                <a:latin typeface="Segoe UI"/>
                <a:cs typeface="Tahoma"/>
              </a:rPr>
              <a:t>Dawn in Sudair City</a:t>
            </a:r>
          </a:p>
        </p:txBody>
      </p:sp>
      <p:sp>
        <p:nvSpPr>
          <p:cNvPr id="9" name="Rounded Rectangle 8"/>
          <p:cNvSpPr/>
          <p:nvPr/>
        </p:nvSpPr>
        <p:spPr>
          <a:xfrm>
            <a:off x="3268980" y="411480"/>
            <a:ext cx="1332738" cy="2369312"/>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68980" y="1276096"/>
            <a:ext cx="1332738"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DEC-F02 · SHOT 2</a:t>
            </a:r>
          </a:p>
          <a:p>
            <a:pPr algn="ctr"/>
            <a:r>
              <a:rPr sz="900" b="1" i="0">
                <a:solidFill>
                  <a:srgbClr val="5B6B63"/>
                </a:solidFill>
                <a:latin typeface="Segoe UI"/>
                <a:cs typeface="Tahoma"/>
              </a:rPr>
              <a:t>3s to 6s</a:t>
            </a:r>
          </a:p>
        </p:txBody>
      </p:sp>
      <p:sp>
        <p:nvSpPr>
          <p:cNvPr id="11" name="TextBox 10"/>
          <p:cNvSpPr txBox="1"/>
          <p:nvPr/>
        </p:nvSpPr>
        <p:spPr>
          <a:xfrm>
            <a:off x="3268980" y="2808224"/>
            <a:ext cx="1332738"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3–6s</a:t>
            </a:r>
          </a:p>
          <a:p>
            <a:pPr rtl="1" algn="r"/>
            <a:r>
              <a:rPr sz="800" b="0" i="0">
                <a:solidFill>
                  <a:srgbClr val="5B6B63"/>
                </a:solidFill>
                <a:latin typeface="Segoe UI"/>
                <a:cs typeface="Tahoma"/>
              </a:rPr>
              <a:t>الممرات تُضاء</a:t>
            </a:r>
          </a:p>
          <a:p>
            <a:pPr algn="l"/>
            <a:r>
              <a:rPr sz="800" b="0" i="0">
                <a:solidFill>
                  <a:srgbClr val="5B6B63"/>
                </a:solidFill>
                <a:latin typeface="Segoe UI"/>
                <a:cs typeface="Tahoma"/>
              </a:rPr>
              <a:t>Corridors light up</a:t>
            </a:r>
          </a:p>
        </p:txBody>
      </p:sp>
      <p:sp>
        <p:nvSpPr>
          <p:cNvPr id="12" name="Rounded Rectangle 11"/>
          <p:cNvSpPr/>
          <p:nvPr/>
        </p:nvSpPr>
        <p:spPr>
          <a:xfrm>
            <a:off x="4674870" y="411480"/>
            <a:ext cx="1332738" cy="2369312"/>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74870" y="1276096"/>
            <a:ext cx="1332738"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DEC-F02 · SHOT 3</a:t>
            </a:r>
          </a:p>
          <a:p>
            <a:pPr algn="ctr"/>
            <a:r>
              <a:rPr sz="900" b="1" i="0">
                <a:solidFill>
                  <a:srgbClr val="5B6B63"/>
                </a:solidFill>
                <a:latin typeface="Segoe UI"/>
                <a:cs typeface="Tahoma"/>
              </a:rPr>
              <a:t>6s to 9s</a:t>
            </a:r>
          </a:p>
        </p:txBody>
      </p:sp>
      <p:sp>
        <p:nvSpPr>
          <p:cNvPr id="14" name="TextBox 13"/>
          <p:cNvSpPr txBox="1"/>
          <p:nvPr/>
        </p:nvSpPr>
        <p:spPr>
          <a:xfrm>
            <a:off x="4674870" y="2808224"/>
            <a:ext cx="1332738"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6–9s</a:t>
            </a:r>
          </a:p>
          <a:p>
            <a:pPr rtl="1" algn="r"/>
            <a:r>
              <a:rPr sz="800" b="0" i="0">
                <a:solidFill>
                  <a:srgbClr val="5B6B63"/>
                </a:solidFill>
                <a:latin typeface="Segoe UI"/>
                <a:cs typeface="Tahoma"/>
              </a:rPr>
              <a:t>فريقٌ يصل</a:t>
            </a:r>
          </a:p>
          <a:p>
            <a:pPr algn="l"/>
            <a:r>
              <a:rPr sz="800" b="0" i="0">
                <a:solidFill>
                  <a:srgbClr val="5B6B63"/>
                </a:solidFill>
                <a:latin typeface="Segoe UI"/>
                <a:cs typeface="Tahoma"/>
              </a:rPr>
              <a:t>A team arrives</a:t>
            </a:r>
          </a:p>
        </p:txBody>
      </p:sp>
      <p:sp>
        <p:nvSpPr>
          <p:cNvPr id="15" name="Rounded Rectangle 14"/>
          <p:cNvSpPr/>
          <p:nvPr/>
        </p:nvSpPr>
        <p:spPr>
          <a:xfrm>
            <a:off x="6080760" y="411480"/>
            <a:ext cx="1332738" cy="2369312"/>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0760" y="1276096"/>
            <a:ext cx="1332738"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DEC-F02 · SHOT 4</a:t>
            </a:r>
          </a:p>
          <a:p>
            <a:pPr algn="ctr"/>
            <a:r>
              <a:rPr sz="900" b="1" i="0">
                <a:solidFill>
                  <a:srgbClr val="5B6B63"/>
                </a:solidFill>
                <a:latin typeface="Segoe UI"/>
                <a:cs typeface="Tahoma"/>
              </a:rPr>
              <a:t>9s to 12s</a:t>
            </a:r>
          </a:p>
        </p:txBody>
      </p:sp>
      <p:sp>
        <p:nvSpPr>
          <p:cNvPr id="17" name="TextBox 16"/>
          <p:cNvSpPr txBox="1"/>
          <p:nvPr/>
        </p:nvSpPr>
        <p:spPr>
          <a:xfrm>
            <a:off x="6080760" y="2808224"/>
            <a:ext cx="1332738"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9–12s</a:t>
            </a:r>
          </a:p>
          <a:p>
            <a:pPr rtl="1" algn="r"/>
            <a:r>
              <a:rPr sz="800" b="0" i="0">
                <a:solidFill>
                  <a:srgbClr val="5B6B63"/>
                </a:solidFill>
                <a:latin typeface="Segoe UI"/>
                <a:cs typeface="Tahoma"/>
              </a:rPr>
              <a:t>ظهرًا</a:t>
            </a:r>
          </a:p>
          <a:p>
            <a:pPr algn="l"/>
            <a:r>
              <a:rPr sz="800" b="0" i="0">
                <a:solidFill>
                  <a:srgbClr val="5B6B63"/>
                </a:solidFill>
                <a:latin typeface="Segoe UI"/>
                <a:cs typeface="Tahoma"/>
              </a:rPr>
              <a:t>Midday</a:t>
            </a:r>
          </a:p>
        </p:txBody>
      </p:sp>
      <p:sp>
        <p:nvSpPr>
          <p:cNvPr id="18" name="Rounded Rectangle 17"/>
          <p:cNvSpPr/>
          <p:nvPr/>
        </p:nvSpPr>
        <p:spPr>
          <a:xfrm>
            <a:off x="7486650" y="411480"/>
            <a:ext cx="1332738" cy="2369312"/>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86650" y="1276096"/>
            <a:ext cx="1332738"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DEC-F02 · SHOT 5</a:t>
            </a:r>
          </a:p>
          <a:p>
            <a:pPr algn="ctr"/>
            <a:r>
              <a:rPr sz="900" b="1" i="0">
                <a:solidFill>
                  <a:srgbClr val="5B6B63"/>
                </a:solidFill>
                <a:latin typeface="Segoe UI"/>
                <a:cs typeface="Tahoma"/>
              </a:rPr>
              <a:t>12s to 15s</a:t>
            </a:r>
          </a:p>
        </p:txBody>
      </p:sp>
      <p:sp>
        <p:nvSpPr>
          <p:cNvPr id="20" name="TextBox 19"/>
          <p:cNvSpPr txBox="1"/>
          <p:nvPr/>
        </p:nvSpPr>
        <p:spPr>
          <a:xfrm>
            <a:off x="7486650" y="2808224"/>
            <a:ext cx="1332738"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12–15s</a:t>
            </a:r>
          </a:p>
          <a:p>
            <a:pPr rtl="1" algn="r"/>
            <a:r>
              <a:rPr sz="800" b="0" i="0">
                <a:solidFill>
                  <a:srgbClr val="5B6B63"/>
                </a:solidFill>
                <a:latin typeface="Segoe UI"/>
                <a:cs typeface="Tahoma"/>
              </a:rPr>
              <a:t>عصرًا</a:t>
            </a:r>
          </a:p>
          <a:p>
            <a:pPr algn="l"/>
            <a:r>
              <a:rPr sz="800" b="0" i="0">
                <a:solidFill>
                  <a:srgbClr val="5B6B63"/>
                </a:solidFill>
                <a:latin typeface="Segoe UI"/>
                <a:cs typeface="Tahoma"/>
              </a:rPr>
              <a:t>Afternoon</a:t>
            </a:r>
          </a:p>
        </p:txBody>
      </p:sp>
      <p:sp>
        <p:nvSpPr>
          <p:cNvPr id="21" name="Rounded Rectangle 20"/>
          <p:cNvSpPr/>
          <p:nvPr/>
        </p:nvSpPr>
        <p:spPr>
          <a:xfrm>
            <a:off x="8892540" y="411480"/>
            <a:ext cx="1332738" cy="2369312"/>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92540" y="1276096"/>
            <a:ext cx="1332738"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DEC-F02 · SHOT 6</a:t>
            </a:r>
          </a:p>
          <a:p>
            <a:pPr algn="ctr"/>
            <a:r>
              <a:rPr sz="900" b="1" i="0">
                <a:solidFill>
                  <a:srgbClr val="5B6B63"/>
                </a:solidFill>
                <a:latin typeface="Segoe UI"/>
                <a:cs typeface="Tahoma"/>
              </a:rPr>
              <a:t>15s to 18s</a:t>
            </a:r>
          </a:p>
        </p:txBody>
      </p:sp>
      <p:sp>
        <p:nvSpPr>
          <p:cNvPr id="23" name="TextBox 22"/>
          <p:cNvSpPr txBox="1"/>
          <p:nvPr/>
        </p:nvSpPr>
        <p:spPr>
          <a:xfrm>
            <a:off x="8892540" y="2808224"/>
            <a:ext cx="1332738"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15–18s</a:t>
            </a:r>
          </a:p>
          <a:p>
            <a:pPr rtl="1" algn="r"/>
            <a:r>
              <a:rPr sz="800" b="0" i="0">
                <a:solidFill>
                  <a:srgbClr val="5B6B63"/>
                </a:solidFill>
                <a:latin typeface="Segoe UI"/>
                <a:cs typeface="Tahoma"/>
              </a:rPr>
              <a:t>حتى آخر نوبة</a:t>
            </a:r>
          </a:p>
          <a:p>
            <a:pPr algn="l"/>
            <a:r>
              <a:rPr sz="800" b="0" i="0">
                <a:solidFill>
                  <a:srgbClr val="5B6B63"/>
                </a:solidFill>
                <a:latin typeface="Segoe UI"/>
                <a:cs typeface="Tahoma"/>
              </a:rPr>
              <a:t>Until the last shift</a:t>
            </a:r>
          </a:p>
        </p:txBody>
      </p:sp>
      <p:sp>
        <p:nvSpPr>
          <p:cNvPr id="24" name="Rounded Rectangle 23"/>
          <p:cNvSpPr/>
          <p:nvPr/>
        </p:nvSpPr>
        <p:spPr>
          <a:xfrm>
            <a:off x="10298430" y="411480"/>
            <a:ext cx="1332738" cy="2369312"/>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98430" y="1276096"/>
            <a:ext cx="1332738"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DEC-F02 · SHOT 7</a:t>
            </a:r>
          </a:p>
          <a:p>
            <a:pPr algn="ctr"/>
            <a:r>
              <a:rPr sz="900" b="1" i="0">
                <a:solidFill>
                  <a:srgbClr val="5B6B63"/>
                </a:solidFill>
                <a:latin typeface="Segoe UI"/>
                <a:cs typeface="Tahoma"/>
              </a:rPr>
              <a:t>18s to 20s</a:t>
            </a:r>
          </a:p>
        </p:txBody>
      </p:sp>
      <p:sp>
        <p:nvSpPr>
          <p:cNvPr id="26" name="TextBox 25"/>
          <p:cNvSpPr txBox="1"/>
          <p:nvPr/>
        </p:nvSpPr>
        <p:spPr>
          <a:xfrm>
            <a:off x="10298430" y="2808224"/>
            <a:ext cx="1332738"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18–20s</a:t>
            </a:r>
          </a:p>
          <a:p>
            <a:pPr rtl="1" algn="r"/>
            <a:r>
              <a:rPr sz="800" b="0" i="0">
                <a:solidFill>
                  <a:srgbClr val="5B6B63"/>
                </a:solidFill>
                <a:latin typeface="Segoe UI"/>
                <a:cs typeface="Tahoma"/>
              </a:rPr>
              <a:t>صناعة تُرى، وأثر يُقاس.</a:t>
            </a:r>
          </a:p>
          <a:p>
            <a:pPr algn="l"/>
            <a:r>
              <a:rPr sz="800" b="0" i="0">
                <a:solidFill>
                  <a:srgbClr val="5B6B63"/>
                </a:solidFill>
                <a:latin typeface="Segoe UI"/>
                <a:cs typeface="Tahoma"/>
              </a:rPr>
              <a:t>Visible capability. Measurable impact. sudairpharma.com</a:t>
            </a:r>
          </a:p>
        </p:txBody>
      </p:sp>
      <p:sp>
        <p:nvSpPr>
          <p:cNvPr id="27" name="Rounded Rectangle 26"/>
          <p:cNvSpPr/>
          <p:nvPr/>
        </p:nvSpPr>
        <p:spPr>
          <a:xfrm>
            <a:off x="457200" y="3695192"/>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3695192"/>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DEC-F02 · Thu 2026-12-03 · Instagram + Facebook · Reel</a:t>
            </a:r>
          </a:p>
        </p:txBody>
      </p:sp>
      <p:sp>
        <p:nvSpPr>
          <p:cNvPr id="29" name="TextBox 28"/>
          <p:cNvSpPr txBox="1"/>
          <p:nvPr/>
        </p:nvSpPr>
        <p:spPr>
          <a:xfrm>
            <a:off x="457200" y="4152392"/>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From dawn to the last shift  ·  Meet the makers  ·  T7 People hero</a:t>
            </a:r>
          </a:p>
        </p:txBody>
      </p:sp>
      <p:sp>
        <p:nvSpPr>
          <p:cNvPr id="30" name="TextBox 29"/>
          <p:cNvSpPr txBox="1"/>
          <p:nvPr/>
        </p:nvSpPr>
        <p:spPr>
          <a:xfrm>
            <a:off x="457200" y="4499864"/>
            <a:ext cx="11247120"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من الفجر</a:t>
            </a:r>
          </a:p>
        </p:txBody>
      </p:sp>
      <p:sp>
        <p:nvSpPr>
          <p:cNvPr id="31" name="TextBox 30"/>
          <p:cNvSpPr txBox="1"/>
          <p:nvPr/>
        </p:nvSpPr>
        <p:spPr>
          <a:xfrm>
            <a:off x="457200" y="4911344"/>
            <a:ext cx="11247120"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إلى آخر نوبة</a:t>
            </a:r>
          </a:p>
        </p:txBody>
      </p:sp>
      <p:sp>
        <p:nvSpPr>
          <p:cNvPr id="32" name="TextBox 31"/>
          <p:cNvSpPr txBox="1"/>
          <p:nvPr/>
        </p:nvSpPr>
        <p:spPr>
          <a:xfrm>
            <a:off x="457200" y="5258816"/>
            <a:ext cx="11247120"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From dawn to the last shift. · A day at Sudair City.</a:t>
            </a:r>
          </a:p>
        </p:txBody>
      </p:sp>
      <p:sp>
        <p:nvSpPr>
          <p:cNvPr id="33" name="TextBox 32"/>
          <p:cNvSpPr txBox="1"/>
          <p:nvPr/>
        </p:nvSpPr>
        <p:spPr>
          <a:xfrm>
            <a:off x="457200" y="5716016"/>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a day at Sudair City is a day of people at work. Reel cover: a Saudi woman in a deep green hijab and abaya beside a Saudi man in a white thobe and red-white shemagh, arms crossed, calm and proud, looking up and to the right, soft cinematic light on a teal dusk gradient (illustration, never captioned as staff). Lower third: the real drone photograph of the palm-lined campus (A001). Logo area top-left clear.</a:t>
            </a:r>
          </a:p>
        </p:txBody>
      </p:sp>
      <p:sp>
        <p:nvSpPr>
          <p:cNvPr id="34" name="TextBox 33"/>
          <p:cNvSpPr txBox="1"/>
          <p:nvPr/>
        </p:nvSpPr>
        <p:spPr>
          <a:xfrm>
            <a:off x="457200" y="6493256"/>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A001  Collective footage-20261001T081156Z-1-008/Collective footage/DJI_20260121084222_0001_D.MOV | A003  Collective footage-20261001T081156Z-1-008/Collective footage/DJI_20260121103516_0070_D.MOV | A012  Collective footage-20261001T081156Z-1-008/Collective footage/Camera/1/ALABBASY.8892.MP4 | A013  </a:t>
            </a:r>
          </a:p>
        </p:txBody>
      </p:sp>
      <p:sp>
        <p:nvSpPr>
          <p:cNvPr id="35" name="TextBox 34"/>
          <p:cNvSpPr txBox="1"/>
          <p:nvPr/>
        </p:nvSpPr>
        <p:spPr>
          <a:xfrm>
            <a:off x="457200" y="7041895"/>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يومٌ في مدينة سدير، من الفجر إلى آخر نوبة. ممرٌّ يُضاء، وفريقٌ يصل، وأيدٍ تعمل معًا. من أيّ ساعةٍ من اليوم تودّون أن تروا المكان؟ أخبرونا.</a:t>
            </a:r>
          </a:p>
          <a:p>
            <a:pPr algn="l"/>
            <a:r>
              <a:rPr sz="900" b="0" i="0">
                <a:solidFill>
                  <a:srgbClr val="142B22"/>
                </a:solidFill>
                <a:latin typeface="Segoe UI"/>
                <a:cs typeface="Tahoma"/>
              </a:rPr>
              <a:t>EN: A day at Sudair City, from dawn to the last shift. A corridor lights up, a team arrives, hands work together. Which hour of the day would you like to see next? Tell us.</a:t>
            </a:r>
          </a:p>
        </p:txBody>
      </p:sp>
      <p:sp>
        <p:nvSpPr>
          <p:cNvPr id="36" name="TextBox 35"/>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Staff in A012, A013, A007 need written consent before the reel runs; no pack, product or readable label in any frame; no output, speed or quality wording.</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DEC-S03</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DEC-S03 · Thu 2026-12-03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Place card of the week: the facade among the palms  ·  Local manufacturing  ·  T2 Team landscape</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مكان الأسبوع</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الواجهة بين النخيل</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The facade, among the palms. · Place of the week, Sudair City.</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Full-bleed real drone frame of the palm-lined building at golden light (A001), graded to the Sudair emerald palette with a teal sky; a rounded outlined chip reading PLACE OF THE WEEK and a small map-pin line icon. Keep 250 px free at the top and 340 px at the bottom for the platform UI.</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A001  Collective footage-20261001T081156Z-1-008/Collective footage/DJI_20260121084222_0001_D.MOV</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مكان الأسبوع: الواجهة بين النخيل.</a:t>
            </a:r>
          </a:p>
          <a:p>
            <a:pPr algn="l"/>
            <a:r>
              <a:rPr sz="900" b="0" i="0">
                <a:solidFill>
                  <a:srgbClr val="142B22"/>
                </a:solidFill>
                <a:latin typeface="Segoe UI"/>
                <a:cs typeface="Tahoma"/>
              </a:rPr>
              <a:t>EN: Place of the week: the facade among the palms.</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Place name only; no claim, no number, no people.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493776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493776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DEC-F03</a:t>
            </a:r>
          </a:p>
          <a:p>
            <a:pPr algn="ctr"/>
            <a:r>
              <a:rPr sz="900" b="1" i="0">
                <a:solidFill>
                  <a:srgbClr val="5B6B63"/>
                </a:solidFill>
                <a:latin typeface="Segoe UI"/>
                <a:cs typeface="Tahoma"/>
              </a:rPr>
              <a:t>1080 × 1350 px (4:5)</a:t>
            </a:r>
          </a:p>
        </p:txBody>
      </p:sp>
      <p:sp>
        <p:nvSpPr>
          <p:cNvPr id="5" name="Rounded Rectangle 4"/>
          <p:cNvSpPr/>
          <p:nvPr/>
        </p:nvSpPr>
        <p:spPr>
          <a:xfrm>
            <a:off x="5669280" y="457200"/>
            <a:ext cx="603504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0" y="457200"/>
            <a:ext cx="585215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DEC-F03 · Sun 2026-12-06 · Instagram + Facebook · Still</a:t>
            </a:r>
          </a:p>
        </p:txBody>
      </p:sp>
      <p:sp>
        <p:nvSpPr>
          <p:cNvPr id="7" name="TextBox 6"/>
          <p:cNvSpPr txBox="1"/>
          <p:nvPr/>
        </p:nvSpPr>
        <p:spPr>
          <a:xfrm>
            <a:off x="5669280" y="914400"/>
            <a:ext cx="603504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Thank you to the teams who keep it running  ·  People and careers  ·  T3 Portrait panel</a:t>
            </a:r>
          </a:p>
        </p:txBody>
      </p:sp>
      <p:sp>
        <p:nvSpPr>
          <p:cNvPr id="8" name="TextBox 7"/>
          <p:cNvSpPr txBox="1"/>
          <p:nvPr/>
        </p:nvSpPr>
        <p:spPr>
          <a:xfrm>
            <a:off x="5669280" y="1261872"/>
            <a:ext cx="6035040"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شكرًا لفِرقنا</a:t>
            </a:r>
          </a:p>
        </p:txBody>
      </p:sp>
      <p:sp>
        <p:nvSpPr>
          <p:cNvPr id="9" name="TextBox 8"/>
          <p:cNvSpPr txBox="1"/>
          <p:nvPr/>
        </p:nvSpPr>
        <p:spPr>
          <a:xfrm>
            <a:off x="5669280" y="1673351"/>
            <a:ext cx="6035040"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في كل يوم</a:t>
            </a:r>
          </a:p>
        </p:txBody>
      </p:sp>
      <p:sp>
        <p:nvSpPr>
          <p:cNvPr id="10" name="TextBox 9"/>
          <p:cNvSpPr txBox="1"/>
          <p:nvPr/>
        </p:nvSpPr>
        <p:spPr>
          <a:xfrm>
            <a:off x="5669280" y="2020824"/>
            <a:ext cx="6035040"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Thank you, teams. · For every day you keep Sudair City working.</a:t>
            </a:r>
          </a:p>
        </p:txBody>
      </p:sp>
      <p:sp>
        <p:nvSpPr>
          <p:cNvPr id="11" name="TextBox 10"/>
          <p:cNvSpPr txBox="1"/>
          <p:nvPr/>
        </p:nvSpPr>
        <p:spPr>
          <a:xfrm>
            <a:off x="5669280" y="2478024"/>
            <a:ext cx="603504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gratitude to the people at the bench. Portrait panel: the lab analyst at work (A007) in three-quarter view, calm and focused, soft key light from the left, graded to the Sudair emerald palette, dark green panelled wall with a faint vertical line pattern. Left 55% is the person; right 45% is clear dark green for the headline. Glassware in soft focus, nothing readable. Badge area bottom kept empty. Logo area t</a:t>
            </a:r>
          </a:p>
        </p:txBody>
      </p:sp>
      <p:sp>
        <p:nvSpPr>
          <p:cNvPr id="12" name="TextBox 11"/>
          <p:cNvSpPr txBox="1"/>
          <p:nvPr/>
        </p:nvSpPr>
        <p:spPr>
          <a:xfrm>
            <a:off x="5669280" y="3255264"/>
            <a:ext cx="603504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A007  Collective footage-20261001T081156Z-1-008/Collective footage/Camera/1/ALABBASY.8838.MP4</a:t>
            </a:r>
          </a:p>
        </p:txBody>
      </p:sp>
      <p:sp>
        <p:nvSpPr>
          <p:cNvPr id="13" name="TextBox 12"/>
          <p:cNvSpPr txBox="1"/>
          <p:nvPr/>
        </p:nvSpPr>
        <p:spPr>
          <a:xfrm>
            <a:off x="5669280" y="3803904"/>
            <a:ext cx="603504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خلف كل يوم عمل في مدينة سدير فِرقٌ تحضر وتعمل وتُنجز بصمت. شكرًا لكل يدٍ ولكل فكرة. اكتبوا في التعليقات كلمة شكر لزميلٍ تعرفونه.</a:t>
            </a:r>
          </a:p>
          <a:p>
            <a:pPr algn="l"/>
            <a:r>
              <a:rPr sz="900" b="0" i="0">
                <a:solidFill>
                  <a:srgbClr val="142B22"/>
                </a:solidFill>
                <a:latin typeface="Segoe UI"/>
                <a:cs typeface="Tahoma"/>
              </a:rPr>
              <a:t>EN: Behind every working day in Sudair City are teams who show up and get on with it. Thank you for every hand and every idea. Leave a thank-you for a colleague in the comments.</a:t>
            </a:r>
          </a:p>
        </p:txBody>
      </p:sp>
      <p:sp>
        <p:nvSpPr>
          <p:cNvPr id="14" name="TextBox 13"/>
          <p:cNvSpPr txBox="1"/>
          <p:nvPr/>
        </p:nvSpPr>
        <p:spPr>
          <a:xfrm>
            <a:off x="5669280" y="6400800"/>
            <a:ext cx="603504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Staff member in A007 needs written consent; no name or title shown; no product, no process wording.</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DEC-L03 · S1</a:t>
            </a:r>
          </a:p>
          <a:p>
            <a:pPr algn="ctr"/>
            <a:r>
              <a:rPr sz="900" b="1" i="0">
                <a:solidFill>
                  <a:srgbClr val="5B6B63"/>
                </a:solidFill>
                <a:latin typeface="Segoe UI"/>
                <a:cs typeface="Tahoma"/>
              </a:rPr>
              <a:t>1080 × 1350</a:t>
            </a:r>
          </a:p>
        </p:txBody>
      </p:sp>
      <p:sp>
        <p:nvSpPr>
          <p:cNvPr id="5" name="TextBox 4"/>
          <p:cNvSpPr txBox="1"/>
          <p:nvPr/>
        </p:nvSpPr>
        <p:spPr>
          <a:xfrm>
            <a:off x="45720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عامنا 2026</a:t>
            </a:r>
          </a:p>
          <a:p>
            <a:pPr algn="l"/>
            <a:r>
              <a:rPr sz="850" b="0" i="0">
                <a:solidFill>
                  <a:srgbClr val="5B6B63"/>
                </a:solidFill>
                <a:latin typeface="Segoe UI"/>
                <a:cs typeface="Tahoma"/>
              </a:rPr>
              <a:t>2026, as you saw it</a:t>
            </a:r>
          </a:p>
        </p:txBody>
      </p:sp>
      <p:sp>
        <p:nvSpPr>
          <p:cNvPr id="6" name="Rounded Rectangle 5"/>
          <p:cNvSpPr/>
          <p:nvPr/>
        </p:nvSpPr>
        <p:spPr>
          <a:xfrm>
            <a:off x="265176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DEC-L03 · S2</a:t>
            </a:r>
          </a:p>
          <a:p>
            <a:pPr algn="ctr"/>
            <a:r>
              <a:rPr sz="900" b="1" i="0">
                <a:solidFill>
                  <a:srgbClr val="5B6B63"/>
                </a:solidFill>
                <a:latin typeface="Segoe UI"/>
                <a:cs typeface="Tahoma"/>
              </a:rPr>
              <a:t>1080 × 1350</a:t>
            </a:r>
          </a:p>
        </p:txBody>
      </p:sp>
      <p:sp>
        <p:nvSpPr>
          <p:cNvPr id="8" name="TextBox 7"/>
          <p:cNvSpPr txBox="1"/>
          <p:nvPr/>
        </p:nvSpPr>
        <p:spPr>
          <a:xfrm>
            <a:off x="265176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رأيتم المكان</a:t>
            </a:r>
          </a:p>
          <a:p>
            <a:pPr algn="l"/>
            <a:r>
              <a:rPr sz="850" b="0" i="0">
                <a:solidFill>
                  <a:srgbClr val="5B6B63"/>
                </a:solidFill>
                <a:latin typeface="Segoe UI"/>
                <a:cs typeface="Tahoma"/>
              </a:rPr>
              <a:t>You saw the place</a:t>
            </a:r>
          </a:p>
        </p:txBody>
      </p:sp>
      <p:sp>
        <p:nvSpPr>
          <p:cNvPr id="9" name="Rounded Rectangle 8"/>
          <p:cNvSpPr/>
          <p:nvPr/>
        </p:nvSpPr>
        <p:spPr>
          <a:xfrm>
            <a:off x="484632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DEC-L03 · S3</a:t>
            </a:r>
          </a:p>
          <a:p>
            <a:pPr algn="ctr"/>
            <a:r>
              <a:rPr sz="900" b="1" i="0">
                <a:solidFill>
                  <a:srgbClr val="5B6B63"/>
                </a:solidFill>
                <a:latin typeface="Segoe UI"/>
                <a:cs typeface="Tahoma"/>
              </a:rPr>
              <a:t>1080 × 1350</a:t>
            </a:r>
          </a:p>
        </p:txBody>
      </p:sp>
      <p:sp>
        <p:nvSpPr>
          <p:cNvPr id="11" name="TextBox 10"/>
          <p:cNvSpPr txBox="1"/>
          <p:nvPr/>
        </p:nvSpPr>
        <p:spPr>
          <a:xfrm>
            <a:off x="484632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idea</a:t>
            </a:r>
          </a:p>
          <a:p>
            <a:pPr rtl="1" algn="r"/>
            <a:r>
              <a:rPr sz="850" b="0" i="0">
                <a:solidFill>
                  <a:srgbClr val="5B6B63"/>
                </a:solidFill>
                <a:latin typeface="Segoe UI"/>
                <a:cs typeface="Tahoma"/>
              </a:rPr>
              <a:t>رأيتم الناس</a:t>
            </a:r>
          </a:p>
          <a:p>
            <a:pPr algn="l"/>
            <a:r>
              <a:rPr sz="850" b="0" i="0">
                <a:solidFill>
                  <a:srgbClr val="5B6B63"/>
                </a:solidFill>
                <a:latin typeface="Segoe UI"/>
                <a:cs typeface="Tahoma"/>
              </a:rPr>
              <a:t>You met the people</a:t>
            </a:r>
          </a:p>
        </p:txBody>
      </p:sp>
      <p:sp>
        <p:nvSpPr>
          <p:cNvPr id="12" name="Rounded Rectangle 11"/>
          <p:cNvSpPr/>
          <p:nvPr/>
        </p:nvSpPr>
        <p:spPr>
          <a:xfrm>
            <a:off x="7040879"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79"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DEC-L03 · S4</a:t>
            </a:r>
          </a:p>
          <a:p>
            <a:pPr algn="ctr"/>
            <a:r>
              <a:rPr sz="900" b="1" i="0">
                <a:solidFill>
                  <a:srgbClr val="5B6B63"/>
                </a:solidFill>
                <a:latin typeface="Segoe UI"/>
                <a:cs typeface="Tahoma"/>
              </a:rPr>
              <a:t>1080 × 1350</a:t>
            </a:r>
          </a:p>
        </p:txBody>
      </p:sp>
      <p:sp>
        <p:nvSpPr>
          <p:cNvPr id="14" name="TextBox 13"/>
          <p:cNvSpPr txBox="1"/>
          <p:nvPr/>
        </p:nvSpPr>
        <p:spPr>
          <a:xfrm>
            <a:off x="7040879"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idea</a:t>
            </a:r>
          </a:p>
          <a:p>
            <a:pPr rtl="1" algn="r"/>
            <a:r>
              <a:rPr sz="850" b="0" i="0">
                <a:solidFill>
                  <a:srgbClr val="5B6B63"/>
                </a:solidFill>
                <a:latin typeface="Segoe UI"/>
                <a:cs typeface="Tahoma"/>
              </a:rPr>
              <a:t>ورأيتمونا</a:t>
            </a:r>
          </a:p>
          <a:p>
            <a:pPr algn="l"/>
            <a:r>
              <a:rPr sz="850" b="0" i="0">
                <a:solidFill>
                  <a:srgbClr val="5B6B63"/>
                </a:solidFill>
                <a:latin typeface="Segoe UI"/>
                <a:cs typeface="Tahoma"/>
              </a:rPr>
              <a:t>You saw us at the shows</a:t>
            </a:r>
          </a:p>
        </p:txBody>
      </p:sp>
      <p:sp>
        <p:nvSpPr>
          <p:cNvPr id="15" name="Rounded Rectangle 14"/>
          <p:cNvSpPr/>
          <p:nvPr/>
        </p:nvSpPr>
        <p:spPr>
          <a:xfrm>
            <a:off x="923544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DEC-L03 · S5</a:t>
            </a:r>
          </a:p>
          <a:p>
            <a:pPr algn="ctr"/>
            <a:r>
              <a:rPr sz="900" b="1" i="0">
                <a:solidFill>
                  <a:srgbClr val="5B6B63"/>
                </a:solidFill>
                <a:latin typeface="Segoe UI"/>
                <a:cs typeface="Tahoma"/>
              </a:rPr>
              <a:t>1080 × 1350</a:t>
            </a:r>
          </a:p>
        </p:txBody>
      </p:sp>
      <p:sp>
        <p:nvSpPr>
          <p:cNvPr id="17" name="TextBox 16"/>
          <p:cNvSpPr txBox="1"/>
          <p:nvPr/>
        </p:nvSpPr>
        <p:spPr>
          <a:xfrm>
            <a:off x="923544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cta</a:t>
            </a:r>
          </a:p>
          <a:p>
            <a:pPr rtl="1" algn="r"/>
            <a:r>
              <a:rPr sz="850" b="0" i="0">
                <a:solidFill>
                  <a:srgbClr val="5B6B63"/>
                </a:solidFill>
                <a:latin typeface="Segoe UI"/>
                <a:cs typeface="Tahoma"/>
              </a:rPr>
              <a:t>شكرًا</a:t>
            </a:r>
          </a:p>
          <a:p>
            <a:pPr algn="l"/>
            <a:r>
              <a:rPr sz="850" b="0" i="0">
                <a:solidFill>
                  <a:srgbClr val="5B6B63"/>
                </a:solidFill>
                <a:latin typeface="Segoe UI"/>
                <a:cs typeface="Tahoma"/>
              </a:rPr>
              <a:t>Thank you for being there</a:t>
            </a:r>
          </a:p>
        </p:txBody>
      </p:sp>
      <p:sp>
        <p:nvSpPr>
          <p:cNvPr id="18" name="Rounded Rectangle 17"/>
          <p:cNvSpPr/>
          <p:nvPr/>
        </p:nvSpPr>
        <p:spPr>
          <a:xfrm>
            <a:off x="457200" y="390906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0906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DEC-L03 · Mon 2026-12-07 · LinkedIn + X · Carousel</a:t>
            </a:r>
          </a:p>
        </p:txBody>
      </p:sp>
      <p:sp>
        <p:nvSpPr>
          <p:cNvPr id="20" name="TextBox 19"/>
          <p:cNvSpPr txBox="1"/>
          <p:nvPr/>
        </p:nvSpPr>
        <p:spPr>
          <a:xfrm>
            <a:off x="457200" y="436626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The year in review: what we showed you  ·  Year and community  ·  T2 Team landscape</a:t>
            </a:r>
          </a:p>
        </p:txBody>
      </p:sp>
      <p:sp>
        <p:nvSpPr>
          <p:cNvPr id="21" name="TextBox 20"/>
          <p:cNvSpPr txBox="1"/>
          <p:nvPr/>
        </p:nvSpPr>
        <p:spPr>
          <a:xfrm>
            <a:off x="457200" y="471373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The message is: a year of showing the place and the people, with thanks. The cover is the wide team photograph at the booth (A048), team standing in a single row, graded teal-green sky behind the photo band, horizon at 60 percent; ID badges softened so no name is readable.</a:t>
            </a:r>
          </a:p>
        </p:txBody>
      </p:sp>
      <p:sp>
        <p:nvSpPr>
          <p:cNvPr id="22" name="TextBox 21"/>
          <p:cNvSpPr txBox="1"/>
          <p:nvPr/>
        </p:nvSpPr>
        <p:spPr>
          <a:xfrm>
            <a:off x="457200" y="535381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A048  OneDrive_2026-10-01/Gallery Photos/GHE25/sudair-pharma-global-health-2025-team.JPG | A002  Collective footage-20261001T081156Z-1-008/Collective footage/DJI_20260121084636_0010_D.MOV | A007  Collective footage-20261001T081156Z-1-008/Collective footage/Camera/1/ALABBASY.8838.MP4 | A082  OneDrive</a:t>
            </a:r>
          </a:p>
        </p:txBody>
      </p:sp>
      <p:sp>
        <p:nvSpPr>
          <p:cNvPr id="23" name="TextBox 22"/>
          <p:cNvSpPr txBox="1"/>
          <p:nvPr/>
        </p:nvSpPr>
        <p:spPr>
          <a:xfrm>
            <a:off x="457200" y="590245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عام 2026 كما رأيتموه: المكان من الأعلى، والناس عند عملهم، والمنصّات التي وقفنا عليها. شكرًا لكل من تابعنا وتفاعل معنا على مدار العام. ما اللقطة التي بقيت في ذاكرتكم؟</a:t>
            </a:r>
          </a:p>
          <a:p>
            <a:pPr algn="l"/>
            <a:r>
              <a:rPr sz="900" b="0" i="0">
                <a:solidFill>
                  <a:srgbClr val="142B22"/>
                </a:solidFill>
                <a:latin typeface="Segoe UI"/>
                <a:cs typeface="Tahoma"/>
              </a:rPr>
              <a:t>EN: 2026 as you saw it: the place from above, the people at work, the stages we stood on. Thank you to everyone who followed and engaged with us through the year. Which moment stayed with you?</a:t>
            </a:r>
          </a:p>
        </p:txBody>
      </p:sp>
      <p:sp>
        <p:nvSpPr>
          <p:cNvPr id="24" name="TextBox 23"/>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Recap of material already published; no new facts, no numbers. Staff in A048, A007 and A013 need written consent; soften ID badges in A048. Client to confirm each item shown was published this year.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DEC-S04</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DEC-S04 · Mon 2026-12-07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Our year in photos  ·  Year and community  ·  T6 Key-visual petal</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عامنا في صور</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من مدينة سدير</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Our year in photos. · Frames from a year of work.</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Dark emerald left side fading to a dusk landscape; a fan of three tall petal-shaped glowing windows holding real frames: the whole site from above (A002), glassware on a bench (A008, no readable label) and the packaging hall team (A013). Soft mist, mint rim light on the petal edges. Keep 250 px free at the top and 340 px at the bottom.</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A002  Collective footage-20261001T081156Z-1-008/Collective footage/DJI_20260121084636_0010_D.MOV | A008  Collective footage-20261001T081156Z-1-008/Collective footage/Camera/1/ALABBASY.8839.MP4 | A013  Collective footage-20261001T081156Z-1-008/Collective footage/Camera/2/jaradi20260121_8608.MP4</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عامنا في صور، من مدينة سدير.</a:t>
            </a:r>
          </a:p>
          <a:p>
            <a:pPr algn="l"/>
            <a:r>
              <a:rPr sz="900" b="0" i="0">
                <a:solidFill>
                  <a:srgbClr val="142B22"/>
                </a:solidFill>
                <a:latin typeface="Segoe UI"/>
                <a:cs typeface="Tahoma"/>
              </a:rPr>
              <a:t>EN: Our year in photos, from Sudair City.</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Looking back only: no event, no date, no number, no claim; staff in A013 need consent.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DEC-F04 · S1</a:t>
            </a:r>
          </a:p>
          <a:p>
            <a:pPr algn="ctr"/>
            <a:r>
              <a:rPr sz="900" b="1" i="0">
                <a:solidFill>
                  <a:srgbClr val="5B6B63"/>
                </a:solidFill>
                <a:latin typeface="Segoe UI"/>
                <a:cs typeface="Tahoma"/>
              </a:rPr>
              <a:t>1080 × 1350</a:t>
            </a:r>
          </a:p>
        </p:txBody>
      </p:sp>
      <p:sp>
        <p:nvSpPr>
          <p:cNvPr id="5" name="TextBox 4"/>
          <p:cNvSpPr txBox="1"/>
          <p:nvPr/>
        </p:nvSpPr>
        <p:spPr>
          <a:xfrm>
            <a:off x="45720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عامنا</a:t>
            </a:r>
          </a:p>
          <a:p>
            <a:pPr algn="l"/>
            <a:r>
              <a:rPr sz="850" b="0" i="0">
                <a:solidFill>
                  <a:srgbClr val="5B6B63"/>
                </a:solidFill>
                <a:latin typeface="Segoe UI"/>
                <a:cs typeface="Tahoma"/>
              </a:rPr>
              <a:t>Our year, in frames.</a:t>
            </a:r>
          </a:p>
        </p:txBody>
      </p:sp>
      <p:sp>
        <p:nvSpPr>
          <p:cNvPr id="6" name="Rounded Rectangle 5"/>
          <p:cNvSpPr/>
          <p:nvPr/>
        </p:nvSpPr>
        <p:spPr>
          <a:xfrm>
            <a:off x="265176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DEC-F04 · S2</a:t>
            </a:r>
          </a:p>
          <a:p>
            <a:pPr algn="ctr"/>
            <a:r>
              <a:rPr sz="900" b="1" i="0">
                <a:solidFill>
                  <a:srgbClr val="5B6B63"/>
                </a:solidFill>
                <a:latin typeface="Segoe UI"/>
                <a:cs typeface="Tahoma"/>
              </a:rPr>
              <a:t>1080 × 1350</a:t>
            </a:r>
          </a:p>
        </p:txBody>
      </p:sp>
      <p:sp>
        <p:nvSpPr>
          <p:cNvPr id="8" name="TextBox 7"/>
          <p:cNvSpPr txBox="1"/>
          <p:nvPr/>
        </p:nvSpPr>
        <p:spPr>
          <a:xfrm>
            <a:off x="265176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المكان</a:t>
            </a:r>
          </a:p>
          <a:p>
            <a:pPr algn="l"/>
            <a:r>
              <a:rPr sz="850" b="0" i="0">
                <a:solidFill>
                  <a:srgbClr val="5B6B63"/>
                </a:solidFill>
                <a:latin typeface="Segoe UI"/>
                <a:cs typeface="Tahoma"/>
              </a:rPr>
              <a:t>The place.</a:t>
            </a:r>
          </a:p>
        </p:txBody>
      </p:sp>
      <p:sp>
        <p:nvSpPr>
          <p:cNvPr id="9" name="Rounded Rectangle 8"/>
          <p:cNvSpPr/>
          <p:nvPr/>
        </p:nvSpPr>
        <p:spPr>
          <a:xfrm>
            <a:off x="484632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DEC-F04 · S3</a:t>
            </a:r>
          </a:p>
          <a:p>
            <a:pPr algn="ctr"/>
            <a:r>
              <a:rPr sz="900" b="1" i="0">
                <a:solidFill>
                  <a:srgbClr val="5B6B63"/>
                </a:solidFill>
                <a:latin typeface="Segoe UI"/>
                <a:cs typeface="Tahoma"/>
              </a:rPr>
              <a:t>1080 × 1350</a:t>
            </a:r>
          </a:p>
        </p:txBody>
      </p:sp>
      <p:sp>
        <p:nvSpPr>
          <p:cNvPr id="11" name="TextBox 10"/>
          <p:cNvSpPr txBox="1"/>
          <p:nvPr/>
        </p:nvSpPr>
        <p:spPr>
          <a:xfrm>
            <a:off x="484632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idea</a:t>
            </a:r>
          </a:p>
          <a:p>
            <a:pPr rtl="1" algn="r"/>
            <a:r>
              <a:rPr sz="850" b="0" i="0">
                <a:solidFill>
                  <a:srgbClr val="5B6B63"/>
                </a:solidFill>
                <a:latin typeface="Segoe UI"/>
                <a:cs typeface="Tahoma"/>
              </a:rPr>
              <a:t>الوجوه</a:t>
            </a:r>
          </a:p>
          <a:p>
            <a:pPr algn="l"/>
            <a:r>
              <a:rPr sz="850" b="0" i="0">
                <a:solidFill>
                  <a:srgbClr val="5B6B63"/>
                </a:solidFill>
                <a:latin typeface="Segoe UI"/>
                <a:cs typeface="Tahoma"/>
              </a:rPr>
              <a:t>The faces.</a:t>
            </a:r>
          </a:p>
        </p:txBody>
      </p:sp>
      <p:sp>
        <p:nvSpPr>
          <p:cNvPr id="12" name="Rounded Rectangle 11"/>
          <p:cNvSpPr/>
          <p:nvPr/>
        </p:nvSpPr>
        <p:spPr>
          <a:xfrm>
            <a:off x="7040879"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79"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DEC-F04 · S4</a:t>
            </a:r>
          </a:p>
          <a:p>
            <a:pPr algn="ctr"/>
            <a:r>
              <a:rPr sz="900" b="1" i="0">
                <a:solidFill>
                  <a:srgbClr val="5B6B63"/>
                </a:solidFill>
                <a:latin typeface="Segoe UI"/>
                <a:cs typeface="Tahoma"/>
              </a:rPr>
              <a:t>1080 × 1350</a:t>
            </a:r>
          </a:p>
        </p:txBody>
      </p:sp>
      <p:sp>
        <p:nvSpPr>
          <p:cNvPr id="14" name="TextBox 13"/>
          <p:cNvSpPr txBox="1"/>
          <p:nvPr/>
        </p:nvSpPr>
        <p:spPr>
          <a:xfrm>
            <a:off x="7040879"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idea</a:t>
            </a:r>
          </a:p>
          <a:p>
            <a:pPr rtl="1" algn="r"/>
            <a:r>
              <a:rPr sz="850" b="0" i="0">
                <a:solidFill>
                  <a:srgbClr val="5B6B63"/>
                </a:solidFill>
                <a:latin typeface="Segoe UI"/>
                <a:cs typeface="Tahoma"/>
              </a:rPr>
              <a:t>التفاصيل</a:t>
            </a:r>
          </a:p>
          <a:p>
            <a:pPr algn="l"/>
            <a:r>
              <a:rPr sz="850" b="0" i="0">
                <a:solidFill>
                  <a:srgbClr val="5B6B63"/>
                </a:solidFill>
                <a:latin typeface="Segoe UI"/>
                <a:cs typeface="Tahoma"/>
              </a:rPr>
              <a:t>The details.</a:t>
            </a:r>
          </a:p>
        </p:txBody>
      </p:sp>
      <p:sp>
        <p:nvSpPr>
          <p:cNvPr id="15" name="Rounded Rectangle 14"/>
          <p:cNvSpPr/>
          <p:nvPr/>
        </p:nvSpPr>
        <p:spPr>
          <a:xfrm>
            <a:off x="923544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DEC-F04 · S5</a:t>
            </a:r>
          </a:p>
          <a:p>
            <a:pPr algn="ctr"/>
            <a:r>
              <a:rPr sz="900" b="1" i="0">
                <a:solidFill>
                  <a:srgbClr val="5B6B63"/>
                </a:solidFill>
                <a:latin typeface="Segoe UI"/>
                <a:cs typeface="Tahoma"/>
              </a:rPr>
              <a:t>1080 × 1350</a:t>
            </a:r>
          </a:p>
        </p:txBody>
      </p:sp>
      <p:sp>
        <p:nvSpPr>
          <p:cNvPr id="17" name="TextBox 16"/>
          <p:cNvSpPr txBox="1"/>
          <p:nvPr/>
        </p:nvSpPr>
        <p:spPr>
          <a:xfrm>
            <a:off x="923544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cta</a:t>
            </a:r>
          </a:p>
          <a:p>
            <a:pPr rtl="1" algn="r"/>
            <a:r>
              <a:rPr sz="850" b="0" i="0">
                <a:solidFill>
                  <a:srgbClr val="5B6B63"/>
                </a:solidFill>
                <a:latin typeface="Segoe UI"/>
                <a:cs typeface="Tahoma"/>
              </a:rPr>
              <a:t>شكرًا</a:t>
            </a:r>
          </a:p>
          <a:p>
            <a:pPr algn="l"/>
            <a:r>
              <a:rPr sz="850" b="0" i="0">
                <a:solidFill>
                  <a:srgbClr val="5B6B63"/>
                </a:solidFill>
                <a:latin typeface="Segoe UI"/>
                <a:cs typeface="Tahoma"/>
              </a:rPr>
              <a:t>Thank you for being with us.</a:t>
            </a:r>
          </a:p>
        </p:txBody>
      </p:sp>
      <p:sp>
        <p:nvSpPr>
          <p:cNvPr id="18" name="Rounded Rectangle 17"/>
          <p:cNvSpPr/>
          <p:nvPr/>
        </p:nvSpPr>
        <p:spPr>
          <a:xfrm>
            <a:off x="457200" y="390906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0906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DEC-F04 · Tue 2026-12-08 · Instagram + Facebook · Carousel</a:t>
            </a:r>
          </a:p>
        </p:txBody>
      </p:sp>
      <p:sp>
        <p:nvSpPr>
          <p:cNvPr id="20" name="TextBox 19"/>
          <p:cNvSpPr txBox="1"/>
          <p:nvPr/>
        </p:nvSpPr>
        <p:spPr>
          <a:xfrm>
            <a:off x="457200" y="436626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The year, in frames  ·  Year and community  ·  T8 Type card</a:t>
            </a:r>
          </a:p>
        </p:txBody>
      </p:sp>
      <p:sp>
        <p:nvSpPr>
          <p:cNvPr id="21" name="TextBox 20"/>
          <p:cNvSpPr txBox="1"/>
          <p:nvPr/>
        </p:nvSpPr>
        <p:spPr>
          <a:xfrm>
            <a:off x="457200" y="471373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a year of work, remembered in pictures. Cover: deep emerald type card with a hairline inset frame, a thin mint rule and a small white palm-burst line icon; centred two-level headline. No photograph. Following slides are real frames graded to the emerald palette, one per idea: the place, the people, the details.</a:t>
            </a:r>
          </a:p>
        </p:txBody>
      </p:sp>
      <p:sp>
        <p:nvSpPr>
          <p:cNvPr id="22" name="TextBox 21"/>
          <p:cNvSpPr txBox="1"/>
          <p:nvPr/>
        </p:nvSpPr>
        <p:spPr>
          <a:xfrm>
            <a:off x="457200" y="535381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A002  Collective footage-20261001T081156Z-1-008/Collective footage/DJI_20260121084636_0010_D.MOV | A005  Collective footage-20261001T081156Z-1-008/Collective footage/Camera/1/ALABBASY.8829.MP4 | A009  Collective footage-20261001T081156Z-1-008/Collective footage/Camera/1/ALABBASY.8842.MP4</a:t>
            </a:r>
          </a:p>
        </p:txBody>
      </p:sp>
      <p:sp>
        <p:nvSpPr>
          <p:cNvPr id="23" name="TextBox 22"/>
          <p:cNvSpPr txBox="1"/>
          <p:nvPr/>
        </p:nvSpPr>
        <p:spPr>
          <a:xfrm>
            <a:off x="457200" y="590245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عامنا في لقطات: المكان، والوجوه، والتفاصيل. مرّروا لتروا كيف رأينا عام 2026 معكم. أيّ لقطةٍ بقيت في ذاكرتكم؟</a:t>
            </a:r>
          </a:p>
          <a:p>
            <a:pPr algn="l"/>
            <a:r>
              <a:rPr sz="900" b="0" i="0">
                <a:solidFill>
                  <a:srgbClr val="142B22"/>
                </a:solidFill>
                <a:latin typeface="Segoe UI"/>
                <a:cs typeface="Tahoma"/>
              </a:rPr>
              <a:t>EN: Our year, in frames: the place, the faces, the details. Swipe to see how we saw 2026 with you. Which frame stays with you?</a:t>
            </a:r>
          </a:p>
        </p:txBody>
      </p:sp>
      <p:sp>
        <p:nvSpPr>
          <p:cNvPr id="24" name="TextBox 23"/>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Looking back only: no event dates, no partner names, no number, no claim. Event photos are not used because the library dates them 2025.</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DEC-L04 · S1</a:t>
            </a:r>
          </a:p>
          <a:p>
            <a:pPr algn="ctr"/>
            <a:r>
              <a:rPr sz="900" b="1" i="0">
                <a:solidFill>
                  <a:srgbClr val="5B6B63"/>
                </a:solidFill>
                <a:latin typeface="Segoe UI"/>
                <a:cs typeface="Tahoma"/>
              </a:rPr>
              <a:t>1080 × 1350</a:t>
            </a:r>
          </a:p>
        </p:txBody>
      </p:sp>
      <p:sp>
        <p:nvSpPr>
          <p:cNvPr id="5" name="TextBox 4"/>
          <p:cNvSpPr txBox="1"/>
          <p:nvPr/>
        </p:nvSpPr>
        <p:spPr>
          <a:xfrm>
            <a:off x="45720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محطّات العام</a:t>
            </a:r>
          </a:p>
          <a:p>
            <a:pPr algn="l"/>
            <a:r>
              <a:rPr sz="850" b="0" i="0">
                <a:solidFill>
                  <a:srgbClr val="5B6B63"/>
                </a:solidFill>
                <a:latin typeface="Segoe UI"/>
                <a:cs typeface="Tahoma"/>
              </a:rPr>
              <a:t>Events and partnerships of 2026</a:t>
            </a:r>
          </a:p>
        </p:txBody>
      </p:sp>
      <p:sp>
        <p:nvSpPr>
          <p:cNvPr id="6" name="Rounded Rectangle 5"/>
          <p:cNvSpPr/>
          <p:nvPr/>
        </p:nvSpPr>
        <p:spPr>
          <a:xfrm>
            <a:off x="233172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33172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DEC-L04 · S2</a:t>
            </a:r>
          </a:p>
          <a:p>
            <a:pPr algn="ctr"/>
            <a:r>
              <a:rPr sz="900" b="1" i="0">
                <a:solidFill>
                  <a:srgbClr val="5B6B63"/>
                </a:solidFill>
                <a:latin typeface="Segoe UI"/>
                <a:cs typeface="Tahoma"/>
              </a:rPr>
              <a:t>1080 × 1350</a:t>
            </a:r>
          </a:p>
        </p:txBody>
      </p:sp>
      <p:sp>
        <p:nvSpPr>
          <p:cNvPr id="8" name="TextBox 7"/>
          <p:cNvSpPr txBox="1"/>
          <p:nvPr/>
        </p:nvSpPr>
        <p:spPr>
          <a:xfrm>
            <a:off x="233172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معرض الصحة</a:t>
            </a:r>
          </a:p>
          <a:p>
            <a:pPr algn="l"/>
            <a:r>
              <a:rPr sz="850" b="0" i="0">
                <a:solidFill>
                  <a:srgbClr val="5B6B63"/>
                </a:solidFill>
                <a:latin typeface="Segoe UI"/>
                <a:cs typeface="Tahoma"/>
              </a:rPr>
              <a:t>Global Health Exhibition</a:t>
            </a:r>
          </a:p>
        </p:txBody>
      </p:sp>
      <p:sp>
        <p:nvSpPr>
          <p:cNvPr id="9" name="Rounded Rectangle 8"/>
          <p:cNvSpPr/>
          <p:nvPr/>
        </p:nvSpPr>
        <p:spPr>
          <a:xfrm>
            <a:off x="420624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DEC-L04 · S3</a:t>
            </a:r>
          </a:p>
          <a:p>
            <a:pPr algn="ctr"/>
            <a:r>
              <a:rPr sz="900" b="1" i="0">
                <a:solidFill>
                  <a:srgbClr val="5B6B63"/>
                </a:solidFill>
                <a:latin typeface="Segoe UI"/>
                <a:cs typeface="Tahoma"/>
              </a:rPr>
              <a:t>1080 × 1350</a:t>
            </a:r>
          </a:p>
        </p:txBody>
      </p:sp>
      <p:sp>
        <p:nvSpPr>
          <p:cNvPr id="11" name="TextBox 10"/>
          <p:cNvSpPr txBox="1"/>
          <p:nvPr/>
        </p:nvSpPr>
        <p:spPr>
          <a:xfrm>
            <a:off x="420624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idea</a:t>
            </a:r>
          </a:p>
          <a:p>
            <a:pPr rtl="1" algn="r"/>
            <a:r>
              <a:rPr sz="850" b="0" i="0">
                <a:solidFill>
                  <a:srgbClr val="5B6B63"/>
                </a:solidFill>
                <a:latin typeface="Segoe UI"/>
                <a:cs typeface="Tahoma"/>
              </a:rPr>
              <a:t>معرض CPHI</a:t>
            </a:r>
          </a:p>
          <a:p>
            <a:pPr algn="l"/>
            <a:r>
              <a:rPr sz="850" b="0" i="0">
                <a:solidFill>
                  <a:srgbClr val="5B6B63"/>
                </a:solidFill>
                <a:latin typeface="Segoe UI"/>
                <a:cs typeface="Tahoma"/>
              </a:rPr>
              <a:t>CPHI Middle East</a:t>
            </a:r>
          </a:p>
        </p:txBody>
      </p:sp>
      <p:sp>
        <p:nvSpPr>
          <p:cNvPr id="12" name="Rounded Rectangle 11"/>
          <p:cNvSpPr/>
          <p:nvPr/>
        </p:nvSpPr>
        <p:spPr>
          <a:xfrm>
            <a:off x="608076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8076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DEC-L04 · S4</a:t>
            </a:r>
          </a:p>
          <a:p>
            <a:pPr algn="ctr"/>
            <a:r>
              <a:rPr sz="900" b="1" i="0">
                <a:solidFill>
                  <a:srgbClr val="5B6B63"/>
                </a:solidFill>
                <a:latin typeface="Segoe UI"/>
                <a:cs typeface="Tahoma"/>
              </a:rPr>
              <a:t>1080 × 1350</a:t>
            </a:r>
          </a:p>
        </p:txBody>
      </p:sp>
      <p:sp>
        <p:nvSpPr>
          <p:cNvPr id="14" name="TextBox 13"/>
          <p:cNvSpPr txBox="1"/>
          <p:nvPr/>
        </p:nvSpPr>
        <p:spPr>
          <a:xfrm>
            <a:off x="608076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idea</a:t>
            </a:r>
          </a:p>
          <a:p>
            <a:pPr rtl="1" algn="r"/>
            <a:r>
              <a:rPr sz="850" b="0" i="0">
                <a:solidFill>
                  <a:srgbClr val="5B6B63"/>
                </a:solidFill>
                <a:latin typeface="Segoe UI"/>
                <a:cs typeface="Tahoma"/>
              </a:rPr>
              <a:t>معرض صُنع</a:t>
            </a:r>
          </a:p>
          <a:p>
            <a:pPr algn="l"/>
            <a:r>
              <a:rPr sz="850" b="0" i="0">
                <a:solidFill>
                  <a:srgbClr val="5B6B63"/>
                </a:solidFill>
                <a:latin typeface="Segoe UI"/>
                <a:cs typeface="Tahoma"/>
              </a:rPr>
              <a:t>Made in Saudi</a:t>
            </a:r>
          </a:p>
        </p:txBody>
      </p:sp>
      <p:sp>
        <p:nvSpPr>
          <p:cNvPr id="15" name="Rounded Rectangle 14"/>
          <p:cNvSpPr/>
          <p:nvPr/>
        </p:nvSpPr>
        <p:spPr>
          <a:xfrm>
            <a:off x="795528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DEC-L04 · S5</a:t>
            </a:r>
          </a:p>
          <a:p>
            <a:pPr algn="ctr"/>
            <a:r>
              <a:rPr sz="900" b="1" i="0">
                <a:solidFill>
                  <a:srgbClr val="5B6B63"/>
                </a:solidFill>
                <a:latin typeface="Segoe UI"/>
                <a:cs typeface="Tahoma"/>
              </a:rPr>
              <a:t>1080 × 1350</a:t>
            </a:r>
          </a:p>
        </p:txBody>
      </p:sp>
      <p:sp>
        <p:nvSpPr>
          <p:cNvPr id="17" name="TextBox 16"/>
          <p:cNvSpPr txBox="1"/>
          <p:nvPr/>
        </p:nvSpPr>
        <p:spPr>
          <a:xfrm>
            <a:off x="795528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idea</a:t>
            </a:r>
          </a:p>
          <a:p>
            <a:pPr rtl="1" algn="r"/>
            <a:r>
              <a:rPr sz="850" b="0" i="0">
                <a:solidFill>
                  <a:srgbClr val="5B6B63"/>
                </a:solidFill>
                <a:latin typeface="Segoe UI"/>
                <a:cs typeface="Tahoma"/>
              </a:rPr>
              <a:t>شراكات</a:t>
            </a:r>
          </a:p>
          <a:p>
            <a:pPr algn="l"/>
            <a:r>
              <a:rPr sz="850" b="0" i="0">
                <a:solidFill>
                  <a:srgbClr val="5B6B63"/>
                </a:solidFill>
                <a:latin typeface="Segoe UI"/>
                <a:cs typeface="Tahoma"/>
              </a:rPr>
              <a:t>Partnerships with universities</a:t>
            </a:r>
          </a:p>
        </p:txBody>
      </p:sp>
      <p:sp>
        <p:nvSpPr>
          <p:cNvPr id="18" name="Rounded Rectangle 17"/>
          <p:cNvSpPr/>
          <p:nvPr/>
        </p:nvSpPr>
        <p:spPr>
          <a:xfrm>
            <a:off x="982980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2980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DEC-L04 · S6</a:t>
            </a:r>
          </a:p>
          <a:p>
            <a:pPr algn="ctr"/>
            <a:r>
              <a:rPr sz="900" b="1" i="0">
                <a:solidFill>
                  <a:srgbClr val="5B6B63"/>
                </a:solidFill>
                <a:latin typeface="Segoe UI"/>
                <a:cs typeface="Tahoma"/>
              </a:rPr>
              <a:t>1080 × 1350</a:t>
            </a:r>
          </a:p>
        </p:txBody>
      </p:sp>
      <p:sp>
        <p:nvSpPr>
          <p:cNvPr id="20" name="TextBox 19"/>
          <p:cNvSpPr txBox="1"/>
          <p:nvPr/>
        </p:nvSpPr>
        <p:spPr>
          <a:xfrm>
            <a:off x="982980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6. cta</a:t>
            </a:r>
          </a:p>
          <a:p>
            <a:pPr rtl="1" algn="r"/>
            <a:r>
              <a:rPr sz="850" b="0" i="0">
                <a:solidFill>
                  <a:srgbClr val="5B6B63"/>
                </a:solidFill>
                <a:latin typeface="Segoe UI"/>
                <a:cs typeface="Tahoma"/>
              </a:rPr>
              <a:t>شكرًا لشركائنا</a:t>
            </a:r>
          </a:p>
          <a:p>
            <a:pPr algn="l"/>
            <a:r>
              <a:rPr sz="850" b="0" i="0">
                <a:solidFill>
                  <a:srgbClr val="5B6B63"/>
                </a:solidFill>
                <a:latin typeface="Segoe UI"/>
                <a:cs typeface="Tahoma"/>
              </a:rPr>
              <a:t>Thank you to our partners</a:t>
            </a:r>
          </a:p>
        </p:txBody>
      </p:sp>
      <p:sp>
        <p:nvSpPr>
          <p:cNvPr id="21" name="Rounded Rectangle 20"/>
          <p:cNvSpPr/>
          <p:nvPr/>
        </p:nvSpPr>
        <p:spPr>
          <a:xfrm>
            <a:off x="457200" y="350901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50901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DEC-L04 · Wed 2026-12-09 · LinkedIn + X · Carousel</a:t>
            </a:r>
          </a:p>
        </p:txBody>
      </p:sp>
      <p:sp>
        <p:nvSpPr>
          <p:cNvPr id="23" name="TextBox 22"/>
          <p:cNvSpPr txBox="1"/>
          <p:nvPr/>
        </p:nvSpPr>
        <p:spPr>
          <a:xfrm>
            <a:off x="457200" y="396621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Events and partnerships of 2026: the stages we shared with you  ·  Recognition and events  ·  T5 Speaker or event</a:t>
            </a:r>
          </a:p>
        </p:txBody>
      </p:sp>
      <p:sp>
        <p:nvSpPr>
          <p:cNvPr id="24" name="TextBox 23"/>
          <p:cNvSpPr txBox="1"/>
          <p:nvPr/>
        </p:nvSpPr>
        <p:spPr>
          <a:xfrm>
            <a:off x="457200" y="431368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The message is: stages shared, partners thanked. The cover is the event layout: the real photograph of the booth architecture with the SPC logo wall (A082) as the single event image, a row of three small pill labels (exhibition names, no dates) below, a thin outlined bar for the account name.</a:t>
            </a:r>
          </a:p>
        </p:txBody>
      </p:sp>
      <p:sp>
        <p:nvSpPr>
          <p:cNvPr id="25" name="TextBox 24"/>
          <p:cNvSpPr txBox="1"/>
          <p:nvPr/>
        </p:nvSpPr>
        <p:spPr>
          <a:xfrm>
            <a:off x="457200" y="4953762"/>
            <a:ext cx="11247120" cy="548640"/>
          </a:xfrm>
          <a:prstGeom prst="rect">
            <a:avLst/>
          </a:prstGeom>
          <a:noFill/>
        </p:spPr>
        <p:txBody>
          <a:bodyPr wrap="square" lIns="36576" rIns="36576" tIns="18288" bIns="18288" anchor="t">
            <a:spAutoFit/>
          </a:bodyPr>
          <a:lstStyle/>
          <a:p>
            <a:pPr rtl="1" algn="r"/>
            <a:r>
              <a:rPr sz="850" b="0" i="0">
                <a:solidFill>
                  <a:srgbClr val="5B6B63"/>
                </a:solidFill>
                <a:latin typeface="Segoe UI"/>
                <a:cs typeface="Tahoma"/>
              </a:rPr>
              <a:t>Assets (relative to Sudair Assets): A082  OneDrive_2026-10-01/Gallery Photos/مشاركة CPHI ME 2024/sudair-pharma-cphi-2025-booth.JPG | A054  OneDrive_2026-10-01/Gallery Photos/GHE25/sudair-pharma-strategic-agreement-global-health-2025.JPG | A097  OneDrive_2026-10-01/Gallery Photos/مشاركة CPHI ME 2024/sudair-pharma-nupco-agreement-cphi-2</a:t>
            </a:r>
          </a:p>
        </p:txBody>
      </p:sp>
      <p:sp>
        <p:nvSpPr>
          <p:cNvPr id="26" name="TextBox 25"/>
          <p:cNvSpPr txBox="1"/>
          <p:nvPr/>
        </p:nvSpPr>
        <p:spPr>
          <a:xfrm>
            <a:off x="457200" y="550240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المنصّات التي وقفنا عليها هذا العام: معارض، وتوقيعات، وشراكات مع الجامعات. شكرًا لكل شريك وقف معنا على تلك المنصّات. تابعونا لنكمل القصة معكم.</a:t>
            </a:r>
          </a:p>
          <a:p>
            <a:pPr algn="l"/>
            <a:r>
              <a:rPr sz="900" b="0" i="0">
                <a:solidFill>
                  <a:srgbClr val="142B22"/>
                </a:solidFill>
                <a:latin typeface="Segoe UI"/>
                <a:cs typeface="Tahoma"/>
              </a:rPr>
              <a:t>EN: The stages we stood on this year: exhibitions, signings and partnerships with universities. Thank you to every partner who stood with us on them. Follow along as the story continues.</a:t>
            </a:r>
          </a:p>
        </p:txBody>
      </p:sp>
      <p:sp>
        <p:nvSpPr>
          <p:cNvPr id="27" name="TextBox 26"/>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Only items already published; the client confirms each one and its year before posting, because file names carry 2025 labels. Host signage in A054 and A097 is event recap only, no endorsement. No coun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DEC-S05</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DEC-S05 · Wed 2026-12-09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Question box: what should we show next?  ·  Year and community  ·  T8 Type card</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ماذا تودّون</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أن نُريكم بعد؟</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What should we show next? · Send us your question or your pick.</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Deep emerald type card with a hairline inset frame, a thin mint rule and one small white speech-bubble icon at 60 px; centred two-level headline, space below for the question sticker. No photograph. Keep 250 px free at the top and 340 px at the bottom.</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Generated only</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ماذا تودّون أن نُريكم بعد؟</a:t>
            </a:r>
          </a:p>
          <a:p>
            <a:pPr algn="l"/>
            <a:r>
              <a:rPr sz="900" b="0" i="0">
                <a:solidFill>
                  <a:srgbClr val="142B22"/>
                </a:solidFill>
                <a:latin typeface="Segoe UI"/>
                <a:cs typeface="Tahoma"/>
              </a:rPr>
              <a:t>EN: What should we show you next?</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Open invitation: no claim, no product, no number.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DEC-F05 · COVER</a:t>
            </a:r>
          </a:p>
          <a:p>
            <a:pPr algn="ctr"/>
            <a:r>
              <a:rPr sz="900" b="1" i="0">
                <a:solidFill>
                  <a:srgbClr val="5B6B63"/>
                </a:solidFill>
                <a:latin typeface="Segoe UI"/>
                <a:cs typeface="Tahoma"/>
              </a:rPr>
              <a:t>9:16</a:t>
            </a:r>
          </a:p>
        </p:txBody>
      </p:sp>
      <p:sp>
        <p:nvSpPr>
          <p:cNvPr id="5" name="TextBox 4"/>
          <p:cNvSpPr txBox="1"/>
          <p:nvPr/>
        </p:nvSpPr>
        <p:spPr>
          <a:xfrm>
            <a:off x="457200" y="2877312"/>
            <a:ext cx="1371600" cy="64008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Cover</a:t>
            </a:r>
          </a:p>
          <a:p>
            <a:pPr rtl="1" algn="r"/>
            <a:r>
              <a:rPr sz="850" b="0" i="0">
                <a:solidFill>
                  <a:srgbClr val="5B6B63"/>
                </a:solidFill>
                <a:latin typeface="Segoe UI"/>
                <a:cs typeface="Tahoma"/>
              </a:rPr>
              <a:t>المكان نفسه</a:t>
            </a:r>
          </a:p>
        </p:txBody>
      </p:sp>
      <p:sp>
        <p:nvSpPr>
          <p:cNvPr id="6" name="Rounded Rectangle 5"/>
          <p:cNvSpPr/>
          <p:nvPr/>
        </p:nvSpPr>
        <p:spPr>
          <a:xfrm>
            <a:off x="1901952"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01952"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DEC-F05 · SHOT 1</a:t>
            </a:r>
          </a:p>
          <a:p>
            <a:pPr algn="ctr"/>
            <a:r>
              <a:rPr sz="900" b="1" i="0">
                <a:solidFill>
                  <a:srgbClr val="5B6B63"/>
                </a:solidFill>
                <a:latin typeface="Segoe UI"/>
                <a:cs typeface="Tahoma"/>
              </a:rPr>
              <a:t>0s to 4s</a:t>
            </a:r>
          </a:p>
        </p:txBody>
      </p:sp>
      <p:sp>
        <p:nvSpPr>
          <p:cNvPr id="8" name="TextBox 7"/>
          <p:cNvSpPr txBox="1"/>
          <p:nvPr/>
        </p:nvSpPr>
        <p:spPr>
          <a:xfrm>
            <a:off x="1901952"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0–4s</a:t>
            </a:r>
          </a:p>
          <a:p>
            <a:pPr rtl="1" algn="r"/>
            <a:r>
              <a:rPr sz="800" b="0" i="0">
                <a:solidFill>
                  <a:srgbClr val="5B6B63"/>
                </a:solidFill>
                <a:latin typeface="Segoe UI"/>
                <a:cs typeface="Tahoma"/>
              </a:rPr>
              <a:t>المكان نفسه</a:t>
            </a:r>
          </a:p>
          <a:p>
            <a:pPr algn="l"/>
            <a:r>
              <a:rPr sz="800" b="0" i="0">
                <a:solidFill>
                  <a:srgbClr val="5B6B63"/>
                </a:solidFill>
                <a:latin typeface="Segoe UI"/>
                <a:cs typeface="Tahoma"/>
              </a:rPr>
              <a:t>The same place</a:t>
            </a:r>
          </a:p>
        </p:txBody>
      </p:sp>
      <p:sp>
        <p:nvSpPr>
          <p:cNvPr id="9" name="Rounded Rectangle 8"/>
          <p:cNvSpPr/>
          <p:nvPr/>
        </p:nvSpPr>
        <p:spPr>
          <a:xfrm>
            <a:off x="3346704"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46704"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DEC-F05 · SHOT 2</a:t>
            </a:r>
          </a:p>
          <a:p>
            <a:pPr algn="ctr"/>
            <a:r>
              <a:rPr sz="900" b="1" i="0">
                <a:solidFill>
                  <a:srgbClr val="5B6B63"/>
                </a:solidFill>
                <a:latin typeface="Segoe UI"/>
                <a:cs typeface="Tahoma"/>
              </a:rPr>
              <a:t>4s to 8s</a:t>
            </a:r>
          </a:p>
        </p:txBody>
      </p:sp>
      <p:sp>
        <p:nvSpPr>
          <p:cNvPr id="11" name="TextBox 10"/>
          <p:cNvSpPr txBox="1"/>
          <p:nvPr/>
        </p:nvSpPr>
        <p:spPr>
          <a:xfrm>
            <a:off x="3346704"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4–8s</a:t>
            </a:r>
          </a:p>
          <a:p>
            <a:pPr rtl="1" algn="r"/>
            <a:r>
              <a:rPr sz="800" b="0" i="0">
                <a:solidFill>
                  <a:srgbClr val="5B6B63"/>
                </a:solidFill>
                <a:latin typeface="Segoe UI"/>
                <a:cs typeface="Tahoma"/>
              </a:rPr>
              <a:t>نظرةٌ أبعد</a:t>
            </a:r>
          </a:p>
          <a:p>
            <a:pPr algn="l"/>
            <a:r>
              <a:rPr sz="800" b="0" i="0">
                <a:solidFill>
                  <a:srgbClr val="5B6B63"/>
                </a:solidFill>
                <a:latin typeface="Segoe UI"/>
                <a:cs typeface="Tahoma"/>
              </a:rPr>
              <a:t>A longer view</a:t>
            </a:r>
          </a:p>
        </p:txBody>
      </p:sp>
      <p:sp>
        <p:nvSpPr>
          <p:cNvPr id="12" name="Rounded Rectangle 11"/>
          <p:cNvSpPr/>
          <p:nvPr/>
        </p:nvSpPr>
        <p:spPr>
          <a:xfrm>
            <a:off x="4791456"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91456"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DEC-F05 · SHOT 3</a:t>
            </a:r>
          </a:p>
          <a:p>
            <a:pPr algn="ctr"/>
            <a:r>
              <a:rPr sz="900" b="1" i="0">
                <a:solidFill>
                  <a:srgbClr val="5B6B63"/>
                </a:solidFill>
                <a:latin typeface="Segoe UI"/>
                <a:cs typeface="Tahoma"/>
              </a:rPr>
              <a:t>8s to 12s</a:t>
            </a:r>
          </a:p>
        </p:txBody>
      </p:sp>
      <p:sp>
        <p:nvSpPr>
          <p:cNvPr id="14" name="TextBox 13"/>
          <p:cNvSpPr txBox="1"/>
          <p:nvPr/>
        </p:nvSpPr>
        <p:spPr>
          <a:xfrm>
            <a:off x="4791456"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8–12s</a:t>
            </a:r>
          </a:p>
          <a:p>
            <a:pPr rtl="1" algn="r"/>
            <a:r>
              <a:rPr sz="800" b="0" i="0">
                <a:solidFill>
                  <a:srgbClr val="5B6B63"/>
                </a:solidFill>
                <a:latin typeface="Segoe UI"/>
                <a:cs typeface="Tahoma"/>
              </a:rPr>
              <a:t>مدينة سدير</a:t>
            </a:r>
          </a:p>
          <a:p>
            <a:pPr algn="l"/>
            <a:r>
              <a:rPr sz="800" b="0" i="0">
                <a:solidFill>
                  <a:srgbClr val="5B6B63"/>
                </a:solidFill>
                <a:latin typeface="Segoe UI"/>
                <a:cs typeface="Tahoma"/>
              </a:rPr>
              <a:t>Sudair City</a:t>
            </a:r>
          </a:p>
        </p:txBody>
      </p:sp>
      <p:sp>
        <p:nvSpPr>
          <p:cNvPr id="15" name="Rounded Rectangle 14"/>
          <p:cNvSpPr/>
          <p:nvPr/>
        </p:nvSpPr>
        <p:spPr>
          <a:xfrm>
            <a:off x="6236208"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36208"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DEC-F05 · SHOT 4</a:t>
            </a:r>
          </a:p>
          <a:p>
            <a:pPr algn="ctr"/>
            <a:r>
              <a:rPr sz="900" b="1" i="0">
                <a:solidFill>
                  <a:srgbClr val="5B6B63"/>
                </a:solidFill>
                <a:latin typeface="Segoe UI"/>
                <a:cs typeface="Tahoma"/>
              </a:rPr>
              <a:t>12s to 16s</a:t>
            </a:r>
          </a:p>
        </p:txBody>
      </p:sp>
      <p:sp>
        <p:nvSpPr>
          <p:cNvPr id="17" name="TextBox 16"/>
          <p:cNvSpPr txBox="1"/>
          <p:nvPr/>
        </p:nvSpPr>
        <p:spPr>
          <a:xfrm>
            <a:off x="6236208"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12–16s</a:t>
            </a:r>
          </a:p>
          <a:p>
            <a:pPr rtl="1" algn="r"/>
            <a:r>
              <a:rPr sz="800" b="0" i="0">
                <a:solidFill>
                  <a:srgbClr val="5B6B63"/>
                </a:solidFill>
                <a:latin typeface="Segoe UI"/>
                <a:cs typeface="Tahoma"/>
              </a:rPr>
              <a:t>ويبقى الناس في قلبها</a:t>
            </a:r>
          </a:p>
          <a:p>
            <a:pPr algn="l"/>
            <a:r>
              <a:rPr sz="800" b="0" i="0">
                <a:solidFill>
                  <a:srgbClr val="5B6B63"/>
                </a:solidFill>
                <a:latin typeface="Segoe UI"/>
                <a:cs typeface="Tahoma"/>
              </a:rPr>
              <a:t>And the people stay at its heart</a:t>
            </a:r>
          </a:p>
        </p:txBody>
      </p:sp>
      <p:sp>
        <p:nvSpPr>
          <p:cNvPr id="18" name="Rounded Rectangle 17"/>
          <p:cNvSpPr/>
          <p:nvPr/>
        </p:nvSpPr>
        <p:spPr>
          <a:xfrm>
            <a:off x="7680960"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0"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DEC-F05 · SHOT 5</a:t>
            </a:r>
          </a:p>
          <a:p>
            <a:pPr algn="ctr"/>
            <a:r>
              <a:rPr sz="900" b="1" i="0">
                <a:solidFill>
                  <a:srgbClr val="5B6B63"/>
                </a:solidFill>
                <a:latin typeface="Segoe UI"/>
                <a:cs typeface="Tahoma"/>
              </a:rPr>
              <a:t>16s to 20s</a:t>
            </a:r>
          </a:p>
        </p:txBody>
      </p:sp>
      <p:sp>
        <p:nvSpPr>
          <p:cNvPr id="20" name="TextBox 19"/>
          <p:cNvSpPr txBox="1"/>
          <p:nvPr/>
        </p:nvSpPr>
        <p:spPr>
          <a:xfrm>
            <a:off x="7680960"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16–20s</a:t>
            </a:r>
          </a:p>
          <a:p>
            <a:pPr rtl="1" algn="r"/>
            <a:r>
              <a:rPr sz="800" b="0" i="0">
                <a:solidFill>
                  <a:srgbClr val="5B6B63"/>
                </a:solidFill>
                <a:latin typeface="Segoe UI"/>
                <a:cs typeface="Tahoma"/>
              </a:rPr>
              <a:t>صناعة تُرى، وأثر يُقاس.</a:t>
            </a:r>
          </a:p>
          <a:p>
            <a:pPr algn="l"/>
            <a:r>
              <a:rPr sz="800" b="0" i="0">
                <a:solidFill>
                  <a:srgbClr val="5B6B63"/>
                </a:solidFill>
                <a:latin typeface="Segoe UI"/>
                <a:cs typeface="Tahoma"/>
              </a:rPr>
              <a:t>Visible capability. Measurable impact. sudairpharma.com</a:t>
            </a:r>
          </a:p>
        </p:txBody>
      </p:sp>
      <p:sp>
        <p:nvSpPr>
          <p:cNvPr id="21" name="Rounded Rectangle 20"/>
          <p:cNvSpPr/>
          <p:nvPr/>
        </p:nvSpPr>
        <p:spPr>
          <a:xfrm>
            <a:off x="457200" y="376428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76428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DEC-F05 · Thu 2026-12-10 · Instagram + Facebook · Reel</a:t>
            </a:r>
          </a:p>
        </p:txBody>
      </p:sp>
      <p:sp>
        <p:nvSpPr>
          <p:cNvPr id="23" name="TextBox 22"/>
          <p:cNvSpPr txBox="1"/>
          <p:nvPr/>
        </p:nvSpPr>
        <p:spPr>
          <a:xfrm>
            <a:off x="457200" y="422148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The same site, a longer view  ·  Year and community  ·  T6 Key-visual petal</a:t>
            </a:r>
          </a:p>
        </p:txBody>
      </p:sp>
      <p:sp>
        <p:nvSpPr>
          <p:cNvPr id="24" name="TextBox 23"/>
          <p:cNvSpPr txBox="1"/>
          <p:nvPr/>
        </p:nvSpPr>
        <p:spPr>
          <a:xfrm>
            <a:off x="457200" y="4568952"/>
            <a:ext cx="11247120"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المكان نفسه</a:t>
            </a:r>
          </a:p>
        </p:txBody>
      </p:sp>
      <p:sp>
        <p:nvSpPr>
          <p:cNvPr id="25" name="TextBox 24"/>
          <p:cNvSpPr txBox="1"/>
          <p:nvPr/>
        </p:nvSpPr>
        <p:spPr>
          <a:xfrm>
            <a:off x="457200" y="4980432"/>
            <a:ext cx="11247120"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بنظرة أبعد</a:t>
            </a:r>
          </a:p>
        </p:txBody>
      </p:sp>
      <p:sp>
        <p:nvSpPr>
          <p:cNvPr id="26" name="TextBox 25"/>
          <p:cNvSpPr txBox="1"/>
          <p:nvPr/>
        </p:nvSpPr>
        <p:spPr>
          <a:xfrm>
            <a:off x="457200" y="5327904"/>
            <a:ext cx="11247120"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The same site. A longer view. · Sudair City, widening out.</a:t>
            </a:r>
          </a:p>
        </p:txBody>
      </p:sp>
      <p:sp>
        <p:nvSpPr>
          <p:cNvPr id="27" name="TextBox 26"/>
          <p:cNvSpPr txBox="1"/>
          <p:nvPr/>
        </p:nvSpPr>
        <p:spPr>
          <a:xfrm>
            <a:off x="457200" y="5785104"/>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the same site, seen from further away. Reel cover: dark emerald left side fading to a Saudi dusk on the right, three tall petal-shaped glowing windows in a fan above the real drone frame of the whole site (A002), soft mist, mint rim light on the petal edges. Headline column clear on the left. Logo area top-left clear.</a:t>
            </a:r>
          </a:p>
        </p:txBody>
      </p:sp>
      <p:sp>
        <p:nvSpPr>
          <p:cNvPr id="28" name="TextBox 27"/>
          <p:cNvSpPr txBox="1"/>
          <p:nvPr/>
        </p:nvSpPr>
        <p:spPr>
          <a:xfrm>
            <a:off x="457200" y="6562344"/>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A001  Collective footage-20261001T081156Z-1-008/Collective footage/DJI_20260121084222_0001_D.MOV | A002  Collective footage-20261001T081156Z-1-008/Collective footage/DJI_20260121084636_0010_D.MOV</a:t>
            </a:r>
          </a:p>
        </p:txBody>
      </p:sp>
      <p:sp>
        <p:nvSpPr>
          <p:cNvPr id="29" name="TextBox 28"/>
          <p:cNvSpPr txBox="1"/>
          <p:nvPr/>
        </p:nvSpPr>
        <p:spPr>
          <a:xfrm>
            <a:off x="457200" y="7110984"/>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المكان نفسه، ونظرةٌ أبعد. من الواجهة إلى الأفق، تتّسع الصورة ويبقى الناس في قلبها. شاركوا الفيديو مع من يعرف مدينة سدير.</a:t>
            </a:r>
          </a:p>
          <a:p>
            <a:pPr algn="l"/>
            <a:r>
              <a:rPr sz="900" b="0" i="0">
                <a:solidFill>
                  <a:srgbClr val="142B22"/>
                </a:solidFill>
                <a:latin typeface="Segoe UI"/>
                <a:cs typeface="Tahoma"/>
              </a:rPr>
              <a:t>EN: The same place, a longer view. From the facade to the horizon the picture widens, and the people stay at its heart. Send this to someone who knows Sudair City.</a:t>
            </a:r>
          </a:p>
        </p:txBody>
      </p:sp>
      <p:sp>
        <p:nvSpPr>
          <p:cNvPr id="30" name="TextBox 29"/>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Drone footage only, no people, no wording about the future or about output; theme line is the client's own.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DEC-S06</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DEC-S06 · Thu 2026-12-10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Place card of the week: Sudair City from the sky  ·  Local manufacturing  ·  T2 Team landscape</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مكان الأسبوع</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مدينة سدير من السماء</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Sudair City, from the sky. · Place of the week.</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Full-bleed real drone frame of the whole site in the desert (A002), teal-green grade; rounded outlined chip PLACE OF THE WEEK and a small map-pin line icon. Keep 250 px free at the top and 340 px at the bottom.</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A002  Collective footage-20261001T081156Z-1-008/Collective footage/DJI_20260121084636_0010_D.MOV</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مكان الأسبوع: مدينة سدير من السماء.</a:t>
            </a:r>
          </a:p>
          <a:p>
            <a:pPr algn="l"/>
            <a:r>
              <a:rPr sz="900" b="0" i="0">
                <a:solidFill>
                  <a:srgbClr val="142B22"/>
                </a:solidFill>
                <a:latin typeface="Segoe UI"/>
                <a:cs typeface="Tahoma"/>
              </a:rPr>
              <a:t>EN: Place of the week: Sudair City from the sky.</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Place name only; no claim, no number, no people.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493776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493776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DEC-F06</a:t>
            </a:r>
          </a:p>
          <a:p>
            <a:pPr algn="ctr"/>
            <a:r>
              <a:rPr sz="900" b="1" i="0">
                <a:solidFill>
                  <a:srgbClr val="5B6B63"/>
                </a:solidFill>
                <a:latin typeface="Segoe UI"/>
                <a:cs typeface="Tahoma"/>
              </a:rPr>
              <a:t>1080 × 1350 px (4:5)</a:t>
            </a:r>
          </a:p>
        </p:txBody>
      </p:sp>
      <p:sp>
        <p:nvSpPr>
          <p:cNvPr id="5" name="Rounded Rectangle 4"/>
          <p:cNvSpPr/>
          <p:nvPr/>
        </p:nvSpPr>
        <p:spPr>
          <a:xfrm>
            <a:off x="5669280" y="457200"/>
            <a:ext cx="603504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0" y="457200"/>
            <a:ext cx="585215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DEC-F06 · Sun 2026-12-13 · Instagram + Facebook · Still</a:t>
            </a:r>
          </a:p>
        </p:txBody>
      </p:sp>
      <p:sp>
        <p:nvSpPr>
          <p:cNvPr id="7" name="TextBox 6"/>
          <p:cNvSpPr txBox="1"/>
          <p:nvPr/>
        </p:nvSpPr>
        <p:spPr>
          <a:xfrm>
            <a:off x="5669280" y="914400"/>
            <a:ext cx="603504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Thank you to the teams  ·  People and careers  ·  T2 Team landscape</a:t>
            </a:r>
          </a:p>
        </p:txBody>
      </p:sp>
      <p:sp>
        <p:nvSpPr>
          <p:cNvPr id="8" name="TextBox 7"/>
          <p:cNvSpPr txBox="1"/>
          <p:nvPr/>
        </p:nvSpPr>
        <p:spPr>
          <a:xfrm>
            <a:off x="5669280" y="1261872"/>
            <a:ext cx="6035040"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شكرًا لكل فريق</a:t>
            </a:r>
          </a:p>
        </p:txBody>
      </p:sp>
      <p:sp>
        <p:nvSpPr>
          <p:cNvPr id="9" name="TextBox 8"/>
          <p:cNvSpPr txBox="1"/>
          <p:nvPr/>
        </p:nvSpPr>
        <p:spPr>
          <a:xfrm>
            <a:off x="5669280" y="1673351"/>
            <a:ext cx="6035040"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في عام 2026</a:t>
            </a:r>
          </a:p>
        </p:txBody>
      </p:sp>
      <p:sp>
        <p:nvSpPr>
          <p:cNvPr id="10" name="TextBox 9"/>
          <p:cNvSpPr txBox="1"/>
          <p:nvPr/>
        </p:nvSpPr>
        <p:spPr>
          <a:xfrm>
            <a:off x="5669280" y="2020824"/>
            <a:ext cx="6035040"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Thank you, every team. · For a year of work, together.</a:t>
            </a:r>
          </a:p>
        </p:txBody>
      </p:sp>
      <p:sp>
        <p:nvSpPr>
          <p:cNvPr id="11" name="TextBox 10"/>
          <p:cNvSpPr txBox="1"/>
          <p:nvPr/>
        </p:nvSpPr>
        <p:spPr>
          <a:xfrm>
            <a:off x="5669280" y="2478024"/>
            <a:ext cx="603504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thanks to the teams, standing together. Wide documentary photograph of the large team group (A048), women in abayas and men standing in a single row, graded to the Sudair emerald palette with a teal-green sky treatment behind, natural faces, no retouching beyond colour; horizon at 60% of the tile. Headline top 160-400, credit line bottom. Logo area top-left clear.</a:t>
            </a:r>
          </a:p>
        </p:txBody>
      </p:sp>
      <p:sp>
        <p:nvSpPr>
          <p:cNvPr id="12" name="TextBox 11"/>
          <p:cNvSpPr txBox="1"/>
          <p:nvPr/>
        </p:nvSpPr>
        <p:spPr>
          <a:xfrm>
            <a:off x="5669280" y="3255264"/>
            <a:ext cx="603504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A048  OneDrive_2026-10-01/Gallery Photos/GHE25/sudair-pharma-global-health-2025-team.JPG</a:t>
            </a:r>
          </a:p>
        </p:txBody>
      </p:sp>
      <p:sp>
        <p:nvSpPr>
          <p:cNvPr id="13" name="TextBox 12"/>
          <p:cNvSpPr txBox="1"/>
          <p:nvPr/>
        </p:nvSpPr>
        <p:spPr>
          <a:xfrm>
            <a:off x="5669280" y="3803904"/>
            <a:ext cx="603504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عامٌ من العمل المشترك، وخلفه فِرقٌ كثيرة. إلى كل فريقٍ في سدير: شكرًا لما قدّمتموه هذا العام. من يودّ أن يشكر فريقًا بعينه؟ تعليقاتكم لهم.</a:t>
            </a:r>
          </a:p>
          <a:p>
            <a:pPr algn="l"/>
            <a:r>
              <a:rPr sz="900" b="0" i="0">
                <a:solidFill>
                  <a:srgbClr val="142B22"/>
                </a:solidFill>
                <a:latin typeface="Segoe UI"/>
                <a:cs typeface="Tahoma"/>
              </a:rPr>
              <a:t>EN: A year of work, together, and many teams behind it. To every team at Sudair: thank you for what you gave this year. Who would you like to thank? The comments are yours.</a:t>
            </a:r>
          </a:p>
        </p:txBody>
      </p:sp>
      <p:sp>
        <p:nvSpPr>
          <p:cNvPr id="14" name="TextBox 13"/>
          <p:cNvSpPr txBox="1"/>
          <p:nvPr/>
        </p:nvSpPr>
        <p:spPr>
          <a:xfrm>
            <a:off x="5669280" y="6400800"/>
            <a:ext cx="603504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All people in A048 need written consent; ID badges must be blurred or unreadable; no host signage in frame; no event name or date used.</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DEC-L05 · S1</a:t>
            </a:r>
          </a:p>
          <a:p>
            <a:pPr algn="ctr"/>
            <a:r>
              <a:rPr sz="900" b="1" i="0">
                <a:solidFill>
                  <a:srgbClr val="5B6B63"/>
                </a:solidFill>
                <a:latin typeface="Segoe UI"/>
                <a:cs typeface="Tahoma"/>
              </a:rPr>
              <a:t>1080 × 1350</a:t>
            </a:r>
          </a:p>
        </p:txBody>
      </p:sp>
      <p:sp>
        <p:nvSpPr>
          <p:cNvPr id="5" name="TextBox 4"/>
          <p:cNvSpPr txBox="1"/>
          <p:nvPr/>
        </p:nvSpPr>
        <p:spPr>
          <a:xfrm>
            <a:off x="45720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صُنع هنا</a:t>
            </a:r>
          </a:p>
          <a:p>
            <a:pPr algn="l"/>
            <a:r>
              <a:rPr sz="850" b="0" i="0">
                <a:solidFill>
                  <a:srgbClr val="5B6B63"/>
                </a:solidFill>
                <a:latin typeface="Segoe UI"/>
                <a:cs typeface="Tahoma"/>
              </a:rPr>
              <a:t>Made here, in the Kingdom</a:t>
            </a:r>
          </a:p>
        </p:txBody>
      </p:sp>
      <p:sp>
        <p:nvSpPr>
          <p:cNvPr id="6" name="Rounded Rectangle 5"/>
          <p:cNvSpPr/>
          <p:nvPr/>
        </p:nvSpPr>
        <p:spPr>
          <a:xfrm>
            <a:off x="265176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DEC-L05 · S2</a:t>
            </a:r>
          </a:p>
          <a:p>
            <a:pPr algn="ctr"/>
            <a:r>
              <a:rPr sz="900" b="1" i="0">
                <a:solidFill>
                  <a:srgbClr val="5B6B63"/>
                </a:solidFill>
                <a:latin typeface="Segoe UI"/>
                <a:cs typeface="Tahoma"/>
              </a:rPr>
              <a:t>1080 × 1350</a:t>
            </a:r>
          </a:p>
        </p:txBody>
      </p:sp>
      <p:sp>
        <p:nvSpPr>
          <p:cNvPr id="8" name="TextBox 7"/>
          <p:cNvSpPr txBox="1"/>
          <p:nvPr/>
        </p:nvSpPr>
        <p:spPr>
          <a:xfrm>
            <a:off x="265176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الموقع هنا</a:t>
            </a:r>
          </a:p>
          <a:p>
            <a:pPr algn="l"/>
            <a:r>
              <a:rPr sz="850" b="0" i="0">
                <a:solidFill>
                  <a:srgbClr val="5B6B63"/>
                </a:solidFill>
                <a:latin typeface="Segoe UI"/>
                <a:cs typeface="Tahoma"/>
              </a:rPr>
              <a:t>The place is here</a:t>
            </a:r>
          </a:p>
        </p:txBody>
      </p:sp>
      <p:sp>
        <p:nvSpPr>
          <p:cNvPr id="9" name="Rounded Rectangle 8"/>
          <p:cNvSpPr/>
          <p:nvPr/>
        </p:nvSpPr>
        <p:spPr>
          <a:xfrm>
            <a:off x="484632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DEC-L05 · S3</a:t>
            </a:r>
          </a:p>
          <a:p>
            <a:pPr algn="ctr"/>
            <a:r>
              <a:rPr sz="900" b="1" i="0">
                <a:solidFill>
                  <a:srgbClr val="5B6B63"/>
                </a:solidFill>
                <a:latin typeface="Segoe UI"/>
                <a:cs typeface="Tahoma"/>
              </a:rPr>
              <a:t>1080 × 1350</a:t>
            </a:r>
          </a:p>
        </p:txBody>
      </p:sp>
      <p:sp>
        <p:nvSpPr>
          <p:cNvPr id="11" name="TextBox 10"/>
          <p:cNvSpPr txBox="1"/>
          <p:nvPr/>
        </p:nvSpPr>
        <p:spPr>
          <a:xfrm>
            <a:off x="484632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idea</a:t>
            </a:r>
          </a:p>
          <a:p>
            <a:pPr rtl="1" algn="r"/>
            <a:r>
              <a:rPr sz="850" b="0" i="0">
                <a:solidFill>
                  <a:srgbClr val="5B6B63"/>
                </a:solidFill>
                <a:latin typeface="Segoe UI"/>
                <a:cs typeface="Tahoma"/>
              </a:rPr>
              <a:t>الناس هنا</a:t>
            </a:r>
          </a:p>
          <a:p>
            <a:pPr algn="l"/>
            <a:r>
              <a:rPr sz="850" b="0" i="0">
                <a:solidFill>
                  <a:srgbClr val="5B6B63"/>
                </a:solidFill>
                <a:latin typeface="Segoe UI"/>
                <a:cs typeface="Tahoma"/>
              </a:rPr>
              <a:t>The people are here</a:t>
            </a:r>
          </a:p>
        </p:txBody>
      </p:sp>
      <p:sp>
        <p:nvSpPr>
          <p:cNvPr id="12" name="Rounded Rectangle 11"/>
          <p:cNvSpPr/>
          <p:nvPr/>
        </p:nvSpPr>
        <p:spPr>
          <a:xfrm>
            <a:off x="7040879"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79"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DEC-L05 · S4</a:t>
            </a:r>
          </a:p>
          <a:p>
            <a:pPr algn="ctr"/>
            <a:r>
              <a:rPr sz="900" b="1" i="0">
                <a:solidFill>
                  <a:srgbClr val="5B6B63"/>
                </a:solidFill>
                <a:latin typeface="Segoe UI"/>
                <a:cs typeface="Tahoma"/>
              </a:rPr>
              <a:t>1080 × 1350</a:t>
            </a:r>
          </a:p>
        </p:txBody>
      </p:sp>
      <p:sp>
        <p:nvSpPr>
          <p:cNvPr id="14" name="TextBox 13"/>
          <p:cNvSpPr txBox="1"/>
          <p:nvPr/>
        </p:nvSpPr>
        <p:spPr>
          <a:xfrm>
            <a:off x="7040879"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idea</a:t>
            </a:r>
          </a:p>
          <a:p>
            <a:pPr rtl="1" algn="r"/>
            <a:r>
              <a:rPr sz="850" b="0" i="0">
                <a:solidFill>
                  <a:srgbClr val="5B6B63"/>
                </a:solidFill>
                <a:latin typeface="Segoe UI"/>
                <a:cs typeface="Tahoma"/>
              </a:rPr>
              <a:t>والعمل يُنجَز هنا</a:t>
            </a:r>
          </a:p>
          <a:p>
            <a:pPr algn="l"/>
            <a:r>
              <a:rPr sz="850" b="0" i="0">
                <a:solidFill>
                  <a:srgbClr val="5B6B63"/>
                </a:solidFill>
                <a:latin typeface="Segoe UI"/>
                <a:cs typeface="Tahoma"/>
              </a:rPr>
              <a:t>The work is done here</a:t>
            </a:r>
          </a:p>
        </p:txBody>
      </p:sp>
      <p:sp>
        <p:nvSpPr>
          <p:cNvPr id="15" name="Rounded Rectangle 14"/>
          <p:cNvSpPr/>
          <p:nvPr/>
        </p:nvSpPr>
        <p:spPr>
          <a:xfrm>
            <a:off x="923544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DEC-L05 · S5</a:t>
            </a:r>
          </a:p>
          <a:p>
            <a:pPr algn="ctr"/>
            <a:r>
              <a:rPr sz="900" b="1" i="0">
                <a:solidFill>
                  <a:srgbClr val="5B6B63"/>
                </a:solidFill>
                <a:latin typeface="Segoe UI"/>
                <a:cs typeface="Tahoma"/>
              </a:rPr>
              <a:t>1080 × 1350</a:t>
            </a:r>
          </a:p>
        </p:txBody>
      </p:sp>
      <p:sp>
        <p:nvSpPr>
          <p:cNvPr id="17" name="TextBox 16"/>
          <p:cNvSpPr txBox="1"/>
          <p:nvPr/>
        </p:nvSpPr>
        <p:spPr>
          <a:xfrm>
            <a:off x="923544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cta</a:t>
            </a:r>
          </a:p>
          <a:p>
            <a:pPr rtl="1" algn="r"/>
            <a:r>
              <a:rPr sz="850" b="0" i="0">
                <a:solidFill>
                  <a:srgbClr val="5B6B63"/>
                </a:solidFill>
                <a:latin typeface="Segoe UI"/>
                <a:cs typeface="Tahoma"/>
              </a:rPr>
              <a:t>هذا ما نعنيه</a:t>
            </a:r>
          </a:p>
          <a:p>
            <a:pPr algn="l"/>
            <a:r>
              <a:rPr sz="850" b="0" i="0">
                <a:solidFill>
                  <a:srgbClr val="5B6B63"/>
                </a:solidFill>
                <a:latin typeface="Segoe UI"/>
                <a:cs typeface="Tahoma"/>
              </a:rPr>
              <a:t>That is what local industry means to us</a:t>
            </a:r>
          </a:p>
        </p:txBody>
      </p:sp>
      <p:sp>
        <p:nvSpPr>
          <p:cNvPr id="18" name="Rounded Rectangle 17"/>
          <p:cNvSpPr/>
          <p:nvPr/>
        </p:nvSpPr>
        <p:spPr>
          <a:xfrm>
            <a:off x="457200" y="390906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0906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DEC-L05 · Mon 2026-12-14 · LinkedIn + X · Carousel</a:t>
            </a:r>
          </a:p>
        </p:txBody>
      </p:sp>
      <p:sp>
        <p:nvSpPr>
          <p:cNvPr id="20" name="TextBox 19"/>
          <p:cNvSpPr txBox="1"/>
          <p:nvPr/>
        </p:nvSpPr>
        <p:spPr>
          <a:xfrm>
            <a:off x="457200" y="436626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Local industry in plain words  ·  Local manufacturing  ·  T7 People hero</a:t>
            </a:r>
          </a:p>
        </p:txBody>
      </p:sp>
      <p:sp>
        <p:nvSpPr>
          <p:cNvPr id="21" name="TextBox 20"/>
          <p:cNvSpPr txBox="1"/>
          <p:nvPr/>
        </p:nvSpPr>
        <p:spPr>
          <a:xfrm>
            <a:off x="457200" y="471373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The message is: made here. A young Saudi woman in a deep green hijab and abaya beside a Saudi man in a white thobe and red-white shemagh, arms crossed, calm and proud, looking up and to the right, night sky with a teal gradient (generated, never captioned as staff); under them the real drone view of the whole site (A002) fills the lower third.</a:t>
            </a:r>
          </a:p>
        </p:txBody>
      </p:sp>
      <p:sp>
        <p:nvSpPr>
          <p:cNvPr id="22" name="TextBox 21"/>
          <p:cNvSpPr txBox="1"/>
          <p:nvPr/>
        </p:nvSpPr>
        <p:spPr>
          <a:xfrm>
            <a:off x="457200" y="535381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A002  Collective footage-20261001T081156Z-1-008/Collective footage/DJI_20260121084636_0010_D.MOV | A013  Collective footage-20261001T081156Z-1-008/Collective footage/Camera/2/jaradi20260121_8608.MP4 | A009  Collective footage-20261001T081156Z-1-008/Collective footage/Camera/1/ALABBASY.8842.MP4 | A00</a:t>
            </a:r>
          </a:p>
        </p:txBody>
      </p:sp>
      <p:sp>
        <p:nvSpPr>
          <p:cNvPr id="23" name="TextBox 22"/>
          <p:cNvSpPr txBox="1"/>
          <p:nvPr/>
        </p:nvSpPr>
        <p:spPr>
          <a:xfrm>
            <a:off x="457200" y="590245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صُنع هنا، في المملكة. ماذا يعني ذلك لنا؟ الموقع هنا، والناس هنا، والعمل يُنجَز هنا. ماذا يعني لكم «صُنع في المملكة»؟</a:t>
            </a:r>
          </a:p>
          <a:p>
            <a:pPr algn="l"/>
            <a:r>
              <a:rPr sz="900" b="0" i="0">
                <a:solidFill>
                  <a:srgbClr val="142B22"/>
                </a:solidFill>
                <a:latin typeface="Segoe UI"/>
                <a:cs typeface="Tahoma"/>
              </a:rPr>
              <a:t>EN: Made here, in the Kingdom. What does that mean to us? The place is here, the people are here, the work is done here. What does 'made in the Kingdom' mean to you?</a:t>
            </a:r>
          </a:p>
        </p:txBody>
      </p:sp>
      <p:sp>
        <p:nvSpPr>
          <p:cNvPr id="24" name="TextBox 23"/>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Plain statements of place and people only; no policy, no figures, no comparison or ranking, no vision-programme wording. Staff in A013 need written consent. Generated people are not captioned as staff</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DEC-S07</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DEC-S07 · Mon 2026-12-14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Poll: where do you think this is?  ·  Year and community  ·  T6 Key-visual petal</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أين تظنون</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أننا هنا؟</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Where do you think this is? · Vote now. The answer comes on Wednesday.</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Dark emerald background with the lattice; one tall petal-shaped glowing window in the centre holding a very tight real crop of a gloved hand beside glassware (A009), no readable label; mint rim light on the petal edge. Keep 250 px free at the top and 340 px at the bottom and leave space for the poll sticker.</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A009  Collective footage-20261001T081156Z-1-008/Collective footage/Camera/1/ALABBASY.8842.MP4</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أين تظنون أننا هنا؟ صوّتوا، والإجابة يوم الأربعاء.</a:t>
            </a:r>
          </a:p>
          <a:p>
            <a:pPr algn="l"/>
            <a:r>
              <a:rPr sz="900" b="0" i="0">
                <a:solidFill>
                  <a:srgbClr val="142B22"/>
                </a:solidFill>
                <a:latin typeface="Segoe UI"/>
                <a:cs typeface="Tahoma"/>
              </a:rPr>
              <a:t>EN: Where do you think this is? Vote now; the answer comes on Wednesday.</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Guessing game only: no label legible, no explanation, no claim.</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493776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493776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DEC-F07</a:t>
            </a:r>
          </a:p>
          <a:p>
            <a:pPr algn="ctr"/>
            <a:r>
              <a:rPr sz="900" b="1" i="0">
                <a:solidFill>
                  <a:srgbClr val="5B6B63"/>
                </a:solidFill>
                <a:latin typeface="Segoe UI"/>
                <a:cs typeface="Tahoma"/>
              </a:rPr>
              <a:t>1080 × 1350 px (4:5)</a:t>
            </a:r>
          </a:p>
        </p:txBody>
      </p:sp>
      <p:sp>
        <p:nvSpPr>
          <p:cNvPr id="5" name="Rounded Rectangle 4"/>
          <p:cNvSpPr/>
          <p:nvPr/>
        </p:nvSpPr>
        <p:spPr>
          <a:xfrm>
            <a:off x="5669280" y="457200"/>
            <a:ext cx="603504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0" y="457200"/>
            <a:ext cx="585215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DEC-F07 · Tue 2026-12-15 · Instagram + Facebook · Still</a:t>
            </a:r>
          </a:p>
        </p:txBody>
      </p:sp>
      <p:sp>
        <p:nvSpPr>
          <p:cNvPr id="7" name="TextBox 6"/>
          <p:cNvSpPr txBox="1"/>
          <p:nvPr/>
        </p:nvSpPr>
        <p:spPr>
          <a:xfrm>
            <a:off x="5669280" y="914400"/>
            <a:ext cx="603504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Local manufacturing, in one picture  ·  Local manufacturing  ·  T7 People hero</a:t>
            </a:r>
          </a:p>
        </p:txBody>
      </p:sp>
      <p:sp>
        <p:nvSpPr>
          <p:cNvPr id="8" name="TextBox 7"/>
          <p:cNvSpPr txBox="1"/>
          <p:nvPr/>
        </p:nvSpPr>
        <p:spPr>
          <a:xfrm>
            <a:off x="5669280" y="1261872"/>
            <a:ext cx="6035040"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صُنع هنا</a:t>
            </a:r>
          </a:p>
        </p:txBody>
      </p:sp>
      <p:sp>
        <p:nvSpPr>
          <p:cNvPr id="9" name="TextBox 8"/>
          <p:cNvSpPr txBox="1"/>
          <p:nvPr/>
        </p:nvSpPr>
        <p:spPr>
          <a:xfrm>
            <a:off x="5669280" y="1673351"/>
            <a:ext cx="6035040"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في المملكة</a:t>
            </a:r>
          </a:p>
        </p:txBody>
      </p:sp>
      <p:sp>
        <p:nvSpPr>
          <p:cNvPr id="10" name="TextBox 9"/>
          <p:cNvSpPr txBox="1"/>
          <p:nvPr/>
        </p:nvSpPr>
        <p:spPr>
          <a:xfrm>
            <a:off x="5669280" y="2020824"/>
            <a:ext cx="6035040"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Made here. In the Kingdom. · Local industry, in one picture.</a:t>
            </a:r>
          </a:p>
        </p:txBody>
      </p:sp>
      <p:sp>
        <p:nvSpPr>
          <p:cNvPr id="11" name="TextBox 10"/>
          <p:cNvSpPr txBox="1"/>
          <p:nvPr/>
        </p:nvSpPr>
        <p:spPr>
          <a:xfrm>
            <a:off x="5669280" y="2478024"/>
            <a:ext cx="603504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made here, in the Kingdom, by people who come to it every day. Photoreal portrait of a young Saudi woman in a deep green hijab and abaya beside a Saudi man in a white thobe and red-white shemagh, arms crossed, proud and calm, looking up and to the right, soft cinematic light, a night sky with a teal gradient. Below them the real drone photograph of the whole Sudair City site (A002) fills the lower third. Hea</a:t>
            </a:r>
          </a:p>
        </p:txBody>
      </p:sp>
      <p:sp>
        <p:nvSpPr>
          <p:cNvPr id="12" name="TextBox 11"/>
          <p:cNvSpPr txBox="1"/>
          <p:nvPr/>
        </p:nvSpPr>
        <p:spPr>
          <a:xfrm>
            <a:off x="5669280" y="3255264"/>
            <a:ext cx="603504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A002  Collective footage-20261001T081156Z-1-008/Collective footage/DJI_20260121084636_0010_D.MOV</a:t>
            </a:r>
          </a:p>
        </p:txBody>
      </p:sp>
      <p:sp>
        <p:nvSpPr>
          <p:cNvPr id="13" name="TextBox 12"/>
          <p:cNvSpPr txBox="1"/>
          <p:nvPr/>
        </p:nvSpPr>
        <p:spPr>
          <a:xfrm>
            <a:off x="5669280" y="3803904"/>
            <a:ext cx="603504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صُنع هنا، في المملكة. مصنعٌ يقوم على أرض سدير، وخلفه ناسٌ يأتون إليه كل يوم. الصناعة المحلية في صورة. تابعونا.</a:t>
            </a:r>
          </a:p>
          <a:p>
            <a:pPr algn="l"/>
            <a:r>
              <a:rPr sz="900" b="0" i="0">
                <a:solidFill>
                  <a:srgbClr val="142B22"/>
                </a:solidFill>
                <a:latin typeface="Segoe UI"/>
                <a:cs typeface="Tahoma"/>
              </a:rPr>
              <a:t>EN: Made here, in the Kingdom. A plant on Sudair soil, and people who come to it every day. Local industry, in one picture. Follow along.</a:t>
            </a:r>
          </a:p>
        </p:txBody>
      </p:sp>
      <p:sp>
        <p:nvSpPr>
          <p:cNvPr id="14" name="TextBox 13"/>
          <p:cNvSpPr txBox="1"/>
          <p:nvPr/>
        </p:nvSpPr>
        <p:spPr>
          <a:xfrm>
            <a:off x="5669280" y="6400800"/>
            <a:ext cx="603504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Place and pride only: no statistic, no share of production, no ranking, no comparison; generated people are not staff.</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DEC-L06 · S1</a:t>
            </a:r>
          </a:p>
          <a:p>
            <a:pPr algn="ctr"/>
            <a:r>
              <a:rPr sz="900" b="1" i="0">
                <a:solidFill>
                  <a:srgbClr val="5B6B63"/>
                </a:solidFill>
                <a:latin typeface="Segoe UI"/>
                <a:cs typeface="Tahoma"/>
              </a:rPr>
              <a:t>1080 × 1350</a:t>
            </a:r>
          </a:p>
        </p:txBody>
      </p:sp>
      <p:sp>
        <p:nvSpPr>
          <p:cNvPr id="5" name="TextBox 4"/>
          <p:cNvSpPr txBox="1"/>
          <p:nvPr/>
        </p:nvSpPr>
        <p:spPr>
          <a:xfrm>
            <a:off x="45720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قبل الآلات</a:t>
            </a:r>
          </a:p>
          <a:p>
            <a:pPr algn="l"/>
            <a:r>
              <a:rPr sz="850" b="0" i="0">
                <a:solidFill>
                  <a:srgbClr val="5B6B63"/>
                </a:solidFill>
                <a:latin typeface="Segoe UI"/>
                <a:cs typeface="Tahoma"/>
              </a:rPr>
              <a:t>Before the machines, the people</a:t>
            </a:r>
          </a:p>
        </p:txBody>
      </p:sp>
      <p:sp>
        <p:nvSpPr>
          <p:cNvPr id="6" name="Rounded Rectangle 5"/>
          <p:cNvSpPr/>
          <p:nvPr/>
        </p:nvSpPr>
        <p:spPr>
          <a:xfrm>
            <a:off x="265176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DEC-L06 · S2</a:t>
            </a:r>
          </a:p>
          <a:p>
            <a:pPr algn="ctr"/>
            <a:r>
              <a:rPr sz="900" b="1" i="0">
                <a:solidFill>
                  <a:srgbClr val="5B6B63"/>
                </a:solidFill>
                <a:latin typeface="Segoe UI"/>
                <a:cs typeface="Tahoma"/>
              </a:rPr>
              <a:t>1080 × 1350</a:t>
            </a:r>
          </a:p>
        </p:txBody>
      </p:sp>
      <p:sp>
        <p:nvSpPr>
          <p:cNvPr id="8" name="TextBox 7"/>
          <p:cNvSpPr txBox="1"/>
          <p:nvPr/>
        </p:nvSpPr>
        <p:spPr>
          <a:xfrm>
            <a:off x="265176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فريق المختبر</a:t>
            </a:r>
          </a:p>
          <a:p>
            <a:pPr algn="l"/>
            <a:r>
              <a:rPr sz="850" b="0" i="0">
                <a:solidFill>
                  <a:srgbClr val="5B6B63"/>
                </a:solidFill>
                <a:latin typeface="Segoe UI"/>
                <a:cs typeface="Tahoma"/>
              </a:rPr>
              <a:t>The lab team, together</a:t>
            </a:r>
          </a:p>
        </p:txBody>
      </p:sp>
      <p:sp>
        <p:nvSpPr>
          <p:cNvPr id="9" name="Rounded Rectangle 8"/>
          <p:cNvSpPr/>
          <p:nvPr/>
        </p:nvSpPr>
        <p:spPr>
          <a:xfrm>
            <a:off x="484632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DEC-L06 · S3</a:t>
            </a:r>
          </a:p>
          <a:p>
            <a:pPr algn="ctr"/>
            <a:r>
              <a:rPr sz="900" b="1" i="0">
                <a:solidFill>
                  <a:srgbClr val="5B6B63"/>
                </a:solidFill>
                <a:latin typeface="Segoe UI"/>
                <a:cs typeface="Tahoma"/>
              </a:rPr>
              <a:t>1080 × 1350</a:t>
            </a:r>
          </a:p>
        </p:txBody>
      </p:sp>
      <p:sp>
        <p:nvSpPr>
          <p:cNvPr id="11" name="TextBox 10"/>
          <p:cNvSpPr txBox="1"/>
          <p:nvPr/>
        </p:nvSpPr>
        <p:spPr>
          <a:xfrm>
            <a:off x="484632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idea</a:t>
            </a:r>
          </a:p>
          <a:p>
            <a:pPr rtl="1" algn="r"/>
            <a:r>
              <a:rPr sz="850" b="0" i="0">
                <a:solidFill>
                  <a:srgbClr val="5B6B63"/>
                </a:solidFill>
                <a:latin typeface="Segoe UI"/>
                <a:cs typeface="Tahoma"/>
              </a:rPr>
              <a:t>على الخط</a:t>
            </a:r>
          </a:p>
          <a:p>
            <a:pPr algn="l"/>
            <a:r>
              <a:rPr sz="850" b="0" i="0">
                <a:solidFill>
                  <a:srgbClr val="5B6B63"/>
                </a:solidFill>
                <a:latin typeface="Segoe UI"/>
                <a:cs typeface="Tahoma"/>
              </a:rPr>
              <a:t>On the line, calm and focused</a:t>
            </a:r>
          </a:p>
        </p:txBody>
      </p:sp>
      <p:sp>
        <p:nvSpPr>
          <p:cNvPr id="12" name="Rounded Rectangle 11"/>
          <p:cNvSpPr/>
          <p:nvPr/>
        </p:nvSpPr>
        <p:spPr>
          <a:xfrm>
            <a:off x="7040879"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79"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DEC-L06 · S4</a:t>
            </a:r>
          </a:p>
          <a:p>
            <a:pPr algn="ctr"/>
            <a:r>
              <a:rPr sz="900" b="1" i="0">
                <a:solidFill>
                  <a:srgbClr val="5B6B63"/>
                </a:solidFill>
                <a:latin typeface="Segoe UI"/>
                <a:cs typeface="Tahoma"/>
              </a:rPr>
              <a:t>1080 × 1350</a:t>
            </a:r>
          </a:p>
        </p:txBody>
      </p:sp>
      <p:sp>
        <p:nvSpPr>
          <p:cNvPr id="14" name="TextBox 13"/>
          <p:cNvSpPr txBox="1"/>
          <p:nvPr/>
        </p:nvSpPr>
        <p:spPr>
          <a:xfrm>
            <a:off x="7040879"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idea</a:t>
            </a:r>
          </a:p>
          <a:p>
            <a:pPr rtl="1" algn="r"/>
            <a:r>
              <a:rPr sz="850" b="0" i="0">
                <a:solidFill>
                  <a:srgbClr val="5B6B63"/>
                </a:solidFill>
                <a:latin typeface="Segoe UI"/>
                <a:cs typeface="Tahoma"/>
              </a:rPr>
              <a:t>قاعة التعبئة</a:t>
            </a:r>
          </a:p>
          <a:p>
            <a:pPr algn="l"/>
            <a:r>
              <a:rPr sz="850" b="0" i="0">
                <a:solidFill>
                  <a:srgbClr val="5B6B63"/>
                </a:solidFill>
                <a:latin typeface="Segoe UI"/>
                <a:cs typeface="Tahoma"/>
              </a:rPr>
              <a:t>The packaging hall</a:t>
            </a:r>
          </a:p>
        </p:txBody>
      </p:sp>
      <p:sp>
        <p:nvSpPr>
          <p:cNvPr id="15" name="Rounded Rectangle 14"/>
          <p:cNvSpPr/>
          <p:nvPr/>
        </p:nvSpPr>
        <p:spPr>
          <a:xfrm>
            <a:off x="923544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DEC-L06 · S5</a:t>
            </a:r>
          </a:p>
          <a:p>
            <a:pPr algn="ctr"/>
            <a:r>
              <a:rPr sz="900" b="1" i="0">
                <a:solidFill>
                  <a:srgbClr val="5B6B63"/>
                </a:solidFill>
                <a:latin typeface="Segoe UI"/>
                <a:cs typeface="Tahoma"/>
              </a:rPr>
              <a:t>1080 × 1350</a:t>
            </a:r>
          </a:p>
        </p:txBody>
      </p:sp>
      <p:sp>
        <p:nvSpPr>
          <p:cNvPr id="17" name="TextBox 16"/>
          <p:cNvSpPr txBox="1"/>
          <p:nvPr/>
        </p:nvSpPr>
        <p:spPr>
          <a:xfrm>
            <a:off x="923544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cta</a:t>
            </a:r>
          </a:p>
          <a:p>
            <a:pPr rtl="1" algn="r"/>
            <a:r>
              <a:rPr sz="850" b="0" i="0">
                <a:solidFill>
                  <a:srgbClr val="5B6B63"/>
                </a:solidFill>
                <a:latin typeface="Segoe UI"/>
                <a:cs typeface="Tahoma"/>
              </a:rPr>
              <a:t>وراء المصنع</a:t>
            </a:r>
          </a:p>
          <a:p>
            <a:pPr algn="l"/>
            <a:r>
              <a:rPr sz="850" b="0" i="0">
                <a:solidFill>
                  <a:srgbClr val="5B6B63"/>
                </a:solidFill>
                <a:latin typeface="Segoe UI"/>
                <a:cs typeface="Tahoma"/>
              </a:rPr>
              <a:t>Behind the plant, faces and names</a:t>
            </a:r>
          </a:p>
        </p:txBody>
      </p:sp>
      <p:sp>
        <p:nvSpPr>
          <p:cNvPr id="18" name="Rounded Rectangle 17"/>
          <p:cNvSpPr/>
          <p:nvPr/>
        </p:nvSpPr>
        <p:spPr>
          <a:xfrm>
            <a:off x="457200" y="390906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0906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DEC-L06 · Wed 2026-12-16 · LinkedIn + X · Carousel</a:t>
            </a:r>
          </a:p>
        </p:txBody>
      </p:sp>
      <p:sp>
        <p:nvSpPr>
          <p:cNvPr id="20" name="TextBox 19"/>
          <p:cNvSpPr txBox="1"/>
          <p:nvPr/>
        </p:nvSpPr>
        <p:spPr>
          <a:xfrm>
            <a:off x="457200" y="436626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The people side of a plant  ·  People and careers  ·  T3 Portrait panel</a:t>
            </a:r>
          </a:p>
        </p:txBody>
      </p:sp>
      <p:sp>
        <p:nvSpPr>
          <p:cNvPr id="21" name="TextBox 20"/>
          <p:cNvSpPr txBox="1"/>
          <p:nvPr/>
        </p:nvSpPr>
        <p:spPr>
          <a:xfrm>
            <a:off x="457200" y="471373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The message is: before the machines, the people. Studio-style portrait of the lab analyst at the bench (A007), three-quarter view, calm focused look, soft key light from the left, dark green panelled wall, left 55 percent the person and right 45 percent clear dark green for the headline.</a:t>
            </a:r>
          </a:p>
        </p:txBody>
      </p:sp>
      <p:sp>
        <p:nvSpPr>
          <p:cNvPr id="22" name="TextBox 21"/>
          <p:cNvSpPr txBox="1"/>
          <p:nvPr/>
        </p:nvSpPr>
        <p:spPr>
          <a:xfrm>
            <a:off x="457200" y="535381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A007  Collective footage-20261001T081156Z-1-008/Collective footage/Camera/1/ALABBASY.8838.MP4 | A005  Collective footage-20261001T081156Z-1-008/Collective footage/Camera/1/ALABBASY.8829.MP4 | A012  Collective footage-20261001T081156Z-1-008/Collective footage/Camera/1/ALABBASY.8892.MP4 | A013  Collec</a:t>
            </a:r>
          </a:p>
        </p:txBody>
      </p:sp>
      <p:sp>
        <p:nvSpPr>
          <p:cNvPr id="23" name="TextBox 22"/>
          <p:cNvSpPr txBox="1"/>
          <p:nvPr/>
        </p:nvSpPr>
        <p:spPr>
          <a:xfrm>
            <a:off x="457200" y="590245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قبل الآلات، الناس. في المختبر، وعلى الخط، وفي قاعة التعبئة. نساء ورجال يعملون معًا في المكان نفسه. مَن تحبون أن نعرّفكم به من فريقنا؟</a:t>
            </a:r>
          </a:p>
          <a:p>
            <a:pPr algn="l"/>
            <a:r>
              <a:rPr sz="900" b="0" i="0">
                <a:solidFill>
                  <a:srgbClr val="142B22"/>
                </a:solidFill>
                <a:latin typeface="Segoe UI"/>
                <a:cs typeface="Tahoma"/>
              </a:rPr>
              <a:t>EN: Before the machines, the people: in the lab, on the line and in the packaging hall. Women and men working together in the same place. Who from our team would you like to meet?</a:t>
            </a:r>
          </a:p>
        </p:txBody>
      </p:sp>
      <p:sp>
        <p:nvSpPr>
          <p:cNvPr id="24" name="TextBox 23"/>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People shown at work, no names, no job claims, no description of tasks. Staff in A005, A007, A012 and A013 need written consent before posting.</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DEC-S08</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DEC-S08 · Wed 2026-12-16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A bench, up close  ·  Meet the makers  ·  T2 Team landscape</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طاولة عمل</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عن قرب</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A bench, up close. · Glass, light and a steady hand.</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Full-bleed real close-up of volumetric flasks on the bench (A008), soft teal-green grade, shallow depth of field, no readable label on any glass; a small chip reading THE ANSWER. Keep 250 px free at the top and 340 px at the bottom.</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A008  Collective footage-20261001T081156Z-1-008/Collective footage/Camera/1/ALABBASY.8839.MP4</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كانت الإجابة: المختبر. طاولة عمل عن قرب.</a:t>
            </a:r>
          </a:p>
          <a:p>
            <a:pPr algn="l"/>
            <a:r>
              <a:rPr sz="900" b="0" i="0">
                <a:solidFill>
                  <a:srgbClr val="142B22"/>
                </a:solidFill>
                <a:latin typeface="Segoe UI"/>
                <a:cs typeface="Tahoma"/>
              </a:rPr>
              <a:t>EN: The answer was the laboratory. A bench, up close.</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Close-up only: no explanation of what the glassware does, no label legible, no claim.</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DEC-F08 · S1</a:t>
            </a:r>
          </a:p>
          <a:p>
            <a:pPr algn="ctr"/>
            <a:r>
              <a:rPr sz="900" b="1" i="0">
                <a:solidFill>
                  <a:srgbClr val="5B6B63"/>
                </a:solidFill>
                <a:latin typeface="Segoe UI"/>
                <a:cs typeface="Tahoma"/>
              </a:rPr>
              <a:t>1080 × 1350</a:t>
            </a:r>
          </a:p>
        </p:txBody>
      </p:sp>
      <p:sp>
        <p:nvSpPr>
          <p:cNvPr id="5" name="TextBox 4"/>
          <p:cNvSpPr txBox="1"/>
          <p:nvPr/>
        </p:nvSpPr>
        <p:spPr>
          <a:xfrm>
            <a:off x="45720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أين يحدث</a:t>
            </a:r>
          </a:p>
          <a:p>
            <a:pPr algn="l"/>
            <a:r>
              <a:rPr sz="850" b="0" i="0">
                <a:solidFill>
                  <a:srgbClr val="5B6B63"/>
                </a:solidFill>
                <a:latin typeface="Segoe UI"/>
                <a:cs typeface="Tahoma"/>
              </a:rPr>
              <a:t>Where the work happens.</a:t>
            </a:r>
          </a:p>
        </p:txBody>
      </p:sp>
      <p:sp>
        <p:nvSpPr>
          <p:cNvPr id="6" name="Rounded Rectangle 5"/>
          <p:cNvSpPr/>
          <p:nvPr/>
        </p:nvSpPr>
        <p:spPr>
          <a:xfrm>
            <a:off x="265176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DEC-F08 · S2</a:t>
            </a:r>
          </a:p>
          <a:p>
            <a:pPr algn="ctr"/>
            <a:r>
              <a:rPr sz="900" b="1" i="0">
                <a:solidFill>
                  <a:srgbClr val="5B6B63"/>
                </a:solidFill>
                <a:latin typeface="Segoe UI"/>
                <a:cs typeface="Tahoma"/>
              </a:rPr>
              <a:t>1080 × 1350</a:t>
            </a:r>
          </a:p>
        </p:txBody>
      </p:sp>
      <p:sp>
        <p:nvSpPr>
          <p:cNvPr id="8" name="TextBox 7"/>
          <p:cNvSpPr txBox="1"/>
          <p:nvPr/>
        </p:nvSpPr>
        <p:spPr>
          <a:xfrm>
            <a:off x="265176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الواجهة</a:t>
            </a:r>
          </a:p>
          <a:p>
            <a:pPr algn="l"/>
            <a:r>
              <a:rPr sz="850" b="0" i="0">
                <a:solidFill>
                  <a:srgbClr val="5B6B63"/>
                </a:solidFill>
                <a:latin typeface="Segoe UI"/>
                <a:cs typeface="Tahoma"/>
              </a:rPr>
              <a:t>The facade, among the palms.</a:t>
            </a:r>
          </a:p>
        </p:txBody>
      </p:sp>
      <p:sp>
        <p:nvSpPr>
          <p:cNvPr id="9" name="Rounded Rectangle 8"/>
          <p:cNvSpPr/>
          <p:nvPr/>
        </p:nvSpPr>
        <p:spPr>
          <a:xfrm>
            <a:off x="484632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DEC-F08 · S3</a:t>
            </a:r>
          </a:p>
          <a:p>
            <a:pPr algn="ctr"/>
            <a:r>
              <a:rPr sz="900" b="1" i="0">
                <a:solidFill>
                  <a:srgbClr val="5B6B63"/>
                </a:solidFill>
                <a:latin typeface="Segoe UI"/>
                <a:cs typeface="Tahoma"/>
              </a:rPr>
              <a:t>1080 × 1350</a:t>
            </a:r>
          </a:p>
        </p:txBody>
      </p:sp>
      <p:sp>
        <p:nvSpPr>
          <p:cNvPr id="11" name="TextBox 10"/>
          <p:cNvSpPr txBox="1"/>
          <p:nvPr/>
        </p:nvSpPr>
        <p:spPr>
          <a:xfrm>
            <a:off x="484632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idea</a:t>
            </a:r>
          </a:p>
          <a:p>
            <a:pPr rtl="1" algn="r"/>
            <a:r>
              <a:rPr sz="850" b="0" i="0">
                <a:solidFill>
                  <a:srgbClr val="5B6B63"/>
                </a:solidFill>
                <a:latin typeface="Segoe UI"/>
                <a:cs typeface="Tahoma"/>
              </a:rPr>
              <a:t>الممرّ</a:t>
            </a:r>
          </a:p>
          <a:p>
            <a:pPr algn="l"/>
            <a:r>
              <a:rPr sz="850" b="0" i="0">
                <a:solidFill>
                  <a:srgbClr val="5B6B63"/>
                </a:solidFill>
                <a:latin typeface="Segoe UI"/>
                <a:cs typeface="Tahoma"/>
              </a:rPr>
              <a:t>The corridor, lit for the day.</a:t>
            </a:r>
          </a:p>
        </p:txBody>
      </p:sp>
      <p:sp>
        <p:nvSpPr>
          <p:cNvPr id="12" name="Rounded Rectangle 11"/>
          <p:cNvSpPr/>
          <p:nvPr/>
        </p:nvSpPr>
        <p:spPr>
          <a:xfrm>
            <a:off x="7040879"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79"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DEC-F08 · S4</a:t>
            </a:r>
          </a:p>
          <a:p>
            <a:pPr algn="ctr"/>
            <a:r>
              <a:rPr sz="900" b="1" i="0">
                <a:solidFill>
                  <a:srgbClr val="5B6B63"/>
                </a:solidFill>
                <a:latin typeface="Segoe UI"/>
                <a:cs typeface="Tahoma"/>
              </a:rPr>
              <a:t>1080 × 1350</a:t>
            </a:r>
          </a:p>
        </p:txBody>
      </p:sp>
      <p:sp>
        <p:nvSpPr>
          <p:cNvPr id="14" name="TextBox 13"/>
          <p:cNvSpPr txBox="1"/>
          <p:nvPr/>
        </p:nvSpPr>
        <p:spPr>
          <a:xfrm>
            <a:off x="7040879"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idea</a:t>
            </a:r>
          </a:p>
          <a:p>
            <a:pPr rtl="1" algn="r"/>
            <a:r>
              <a:rPr sz="850" b="0" i="0">
                <a:solidFill>
                  <a:srgbClr val="5B6B63"/>
                </a:solidFill>
                <a:latin typeface="Segoe UI"/>
                <a:cs typeface="Tahoma"/>
              </a:rPr>
              <a:t>طاولة العمل</a:t>
            </a:r>
          </a:p>
          <a:p>
            <a:pPr algn="l"/>
            <a:r>
              <a:rPr sz="850" b="0" i="0">
                <a:solidFill>
                  <a:srgbClr val="5B6B63"/>
                </a:solidFill>
                <a:latin typeface="Segoe UI"/>
                <a:cs typeface="Tahoma"/>
              </a:rPr>
              <a:t>The bench, up close.</a:t>
            </a:r>
          </a:p>
        </p:txBody>
      </p:sp>
      <p:sp>
        <p:nvSpPr>
          <p:cNvPr id="15" name="Rounded Rectangle 14"/>
          <p:cNvSpPr/>
          <p:nvPr/>
        </p:nvSpPr>
        <p:spPr>
          <a:xfrm>
            <a:off x="923544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DEC-F08 · S5</a:t>
            </a:r>
          </a:p>
          <a:p>
            <a:pPr algn="ctr"/>
            <a:r>
              <a:rPr sz="900" b="1" i="0">
                <a:solidFill>
                  <a:srgbClr val="5B6B63"/>
                </a:solidFill>
                <a:latin typeface="Segoe UI"/>
                <a:cs typeface="Tahoma"/>
              </a:rPr>
              <a:t>1080 × 1350</a:t>
            </a:r>
          </a:p>
        </p:txBody>
      </p:sp>
      <p:sp>
        <p:nvSpPr>
          <p:cNvPr id="17" name="TextBox 16"/>
          <p:cNvSpPr txBox="1"/>
          <p:nvPr/>
        </p:nvSpPr>
        <p:spPr>
          <a:xfrm>
            <a:off x="923544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cta</a:t>
            </a:r>
          </a:p>
          <a:p>
            <a:pPr rtl="1" algn="r"/>
            <a:r>
              <a:rPr sz="850" b="0" i="0">
                <a:solidFill>
                  <a:srgbClr val="5B6B63"/>
                </a:solidFill>
                <a:latin typeface="Segoe UI"/>
                <a:cs typeface="Tahoma"/>
              </a:rPr>
              <a:t>أيّ مكانٍ</a:t>
            </a:r>
          </a:p>
          <a:p>
            <a:pPr algn="l"/>
            <a:r>
              <a:rPr sz="850" b="0" i="0">
                <a:solidFill>
                  <a:srgbClr val="5B6B63"/>
                </a:solidFill>
                <a:latin typeface="Segoe UI"/>
                <a:cs typeface="Tahoma"/>
              </a:rPr>
              <a:t>Which place next?</a:t>
            </a:r>
          </a:p>
        </p:txBody>
      </p:sp>
      <p:sp>
        <p:nvSpPr>
          <p:cNvPr id="18" name="Rounded Rectangle 17"/>
          <p:cNvSpPr/>
          <p:nvPr/>
        </p:nvSpPr>
        <p:spPr>
          <a:xfrm>
            <a:off x="457200" y="390906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0906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DEC-F08 · Thu 2026-12-17 · Instagram + Facebook · Carousel</a:t>
            </a:r>
          </a:p>
        </p:txBody>
      </p:sp>
      <p:sp>
        <p:nvSpPr>
          <p:cNvPr id="20" name="TextBox 19"/>
          <p:cNvSpPr txBox="1"/>
          <p:nvPr/>
        </p:nvSpPr>
        <p:spPr>
          <a:xfrm>
            <a:off x="457200" y="436626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Where the work happens  ·  Meet the makers  ·  T9 Process flow</a:t>
            </a:r>
          </a:p>
        </p:txBody>
      </p:sp>
      <p:sp>
        <p:nvSpPr>
          <p:cNvPr id="21" name="TextBox 20"/>
          <p:cNvSpPr txBox="1"/>
          <p:nvPr/>
        </p:nvSpPr>
        <p:spPr>
          <a:xfrm>
            <a:off x="457200" y="471373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a walk around the site, place by place. Cover: a vertical route of four small nodes joined by a thin mint line (the places), over a faint teal-green crop of the real drone frame of the site (A002). Emerald background, lattice at 6%. Following slides are full-bleed real frames of the places.</a:t>
            </a:r>
          </a:p>
        </p:txBody>
      </p:sp>
      <p:sp>
        <p:nvSpPr>
          <p:cNvPr id="22" name="TextBox 21"/>
          <p:cNvSpPr txBox="1"/>
          <p:nvPr/>
        </p:nvSpPr>
        <p:spPr>
          <a:xfrm>
            <a:off x="457200" y="535381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A002  Collective footage-20261001T081156Z-1-008/Collective footage/DJI_20260121084636_0010_D.MOV | A001  Collective footage-20261001T081156Z-1-008/Collective footage/DJI_20260121084222_0001_D.MOV | A003  Collective footage-20261001T081156Z-1-008/Collective footage/DJI_20260121103516_0070_D.MOV | A00</a:t>
            </a:r>
          </a:p>
        </p:txBody>
      </p:sp>
      <p:sp>
        <p:nvSpPr>
          <p:cNvPr id="23" name="TextBox 22"/>
          <p:cNvSpPr txBox="1"/>
          <p:nvPr/>
        </p:nvSpPr>
        <p:spPr>
          <a:xfrm>
            <a:off x="457200" y="590245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أين يحدث العمل في مدينة سدير؟ مرّروا لنمشي معًا: الواجهة، والممرّ، وطاولة العمل. أيّ مكانٍ تودّون أن نُريكم بعد؟</a:t>
            </a:r>
          </a:p>
          <a:p>
            <a:pPr algn="l"/>
            <a:r>
              <a:rPr sz="900" b="0" i="0">
                <a:solidFill>
                  <a:srgbClr val="142B22"/>
                </a:solidFill>
                <a:latin typeface="Segoe UI"/>
                <a:cs typeface="Tahoma"/>
              </a:rPr>
              <a:t>EN: Where does the work happen at Sudair City? Swipe and walk with us: the facade, the corridor, the bench. Which place should we show next?</a:t>
            </a:r>
          </a:p>
        </p:txBody>
      </p:sp>
      <p:sp>
        <p:nvSpPr>
          <p:cNvPr id="24" name="TextBox 23"/>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Place names only: no description of any step, no process wording, no number, no claim; no label legible in A009.</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DEC-S09</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DEC-S09 · Thu 2026-12-17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Place card of the week: the packaging hall  ·  People and careers  ·  T2 Team landscape</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مكان الأسبوع</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قاعة التغليف</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The packaging hall. · Place of the week.</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Full-bleed real frame of the packaging hall with women and men side by side at the line (A013), teal-green grade, natural faces; rounded outlined chip PLACE OF THE WEEK and a small map-pin icon. Keep 250 px free at the top and 340 px at the bottom.</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A013  Collective footage-20261001T081156Z-1-008/Collective footage/Camera/2/jaradi20260121_8608.MP4</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مكان الأسبوع: قاعة التغليف.</a:t>
            </a:r>
          </a:p>
          <a:p>
            <a:pPr algn="l"/>
            <a:r>
              <a:rPr sz="900" b="0" i="0">
                <a:solidFill>
                  <a:srgbClr val="142B22"/>
                </a:solidFill>
                <a:latin typeface="Segoe UI"/>
                <a:cs typeface="Tahoma"/>
              </a:rPr>
              <a:t>EN: Place of the week: the packaging hall.</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Place name only; staff in A013 need written consent; no explanation of the work, no label legible, no claim.</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DEC-F09 · S1</a:t>
            </a:r>
          </a:p>
          <a:p>
            <a:pPr algn="ctr"/>
            <a:r>
              <a:rPr sz="900" b="1" i="0">
                <a:solidFill>
                  <a:srgbClr val="5B6B63"/>
                </a:solidFill>
                <a:latin typeface="Segoe UI"/>
                <a:cs typeface="Tahoma"/>
              </a:rPr>
              <a:t>1080 × 1350</a:t>
            </a:r>
          </a:p>
        </p:txBody>
      </p:sp>
      <p:sp>
        <p:nvSpPr>
          <p:cNvPr id="5" name="TextBox 4"/>
          <p:cNvSpPr txBox="1"/>
          <p:nvPr/>
        </p:nvSpPr>
        <p:spPr>
          <a:xfrm>
            <a:off x="45720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ناس سدير</a:t>
            </a:r>
          </a:p>
          <a:p>
            <a:pPr algn="l"/>
            <a:r>
              <a:rPr sz="850" b="0" i="0">
                <a:solidFill>
                  <a:srgbClr val="5B6B63"/>
                </a:solidFill>
                <a:latin typeface="Segoe UI"/>
                <a:cs typeface="Tahoma"/>
              </a:rPr>
              <a:t>People of Sudair.</a:t>
            </a:r>
          </a:p>
        </p:txBody>
      </p:sp>
      <p:sp>
        <p:nvSpPr>
          <p:cNvPr id="6" name="Rounded Rectangle 5"/>
          <p:cNvSpPr/>
          <p:nvPr/>
        </p:nvSpPr>
        <p:spPr>
          <a:xfrm>
            <a:off x="265176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DEC-F09 · S2</a:t>
            </a:r>
          </a:p>
          <a:p>
            <a:pPr algn="ctr"/>
            <a:r>
              <a:rPr sz="900" b="1" i="0">
                <a:solidFill>
                  <a:srgbClr val="5B6B63"/>
                </a:solidFill>
                <a:latin typeface="Segoe UI"/>
                <a:cs typeface="Tahoma"/>
              </a:rPr>
              <a:t>1080 × 1350</a:t>
            </a:r>
          </a:p>
        </p:txBody>
      </p:sp>
      <p:sp>
        <p:nvSpPr>
          <p:cNvPr id="8" name="TextBox 7"/>
          <p:cNvSpPr txBox="1"/>
          <p:nvPr/>
        </p:nvSpPr>
        <p:spPr>
          <a:xfrm>
            <a:off x="265176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فريق المختبر</a:t>
            </a:r>
          </a:p>
          <a:p>
            <a:pPr algn="l"/>
            <a:r>
              <a:rPr sz="850" b="0" i="0">
                <a:solidFill>
                  <a:srgbClr val="5B6B63"/>
                </a:solidFill>
                <a:latin typeface="Segoe UI"/>
                <a:cs typeface="Tahoma"/>
              </a:rPr>
              <a:t>The lab team, together.</a:t>
            </a:r>
          </a:p>
        </p:txBody>
      </p:sp>
      <p:sp>
        <p:nvSpPr>
          <p:cNvPr id="9" name="Rounded Rectangle 8"/>
          <p:cNvSpPr/>
          <p:nvPr/>
        </p:nvSpPr>
        <p:spPr>
          <a:xfrm>
            <a:off x="484632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DEC-F09 · S3</a:t>
            </a:r>
          </a:p>
          <a:p>
            <a:pPr algn="ctr"/>
            <a:r>
              <a:rPr sz="900" b="1" i="0">
                <a:solidFill>
                  <a:srgbClr val="5B6B63"/>
                </a:solidFill>
                <a:latin typeface="Segoe UI"/>
                <a:cs typeface="Tahoma"/>
              </a:rPr>
              <a:t>1080 × 1350</a:t>
            </a:r>
          </a:p>
        </p:txBody>
      </p:sp>
      <p:sp>
        <p:nvSpPr>
          <p:cNvPr id="11" name="TextBox 10"/>
          <p:cNvSpPr txBox="1"/>
          <p:nvPr/>
        </p:nvSpPr>
        <p:spPr>
          <a:xfrm>
            <a:off x="484632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idea</a:t>
            </a:r>
          </a:p>
          <a:p>
            <a:pPr rtl="1" algn="r"/>
            <a:r>
              <a:rPr sz="850" b="0" i="0">
                <a:solidFill>
                  <a:srgbClr val="5B6B63"/>
                </a:solidFill>
                <a:latin typeface="Segoe UI"/>
                <a:cs typeface="Tahoma"/>
              </a:rPr>
              <a:t>كلٌّ في موقعه</a:t>
            </a:r>
          </a:p>
          <a:p>
            <a:pPr algn="l"/>
            <a:r>
              <a:rPr sz="850" b="0" i="0">
                <a:solidFill>
                  <a:srgbClr val="5B6B63"/>
                </a:solidFill>
                <a:latin typeface="Segoe UI"/>
                <a:cs typeface="Tahoma"/>
              </a:rPr>
              <a:t>Each at their post.</a:t>
            </a:r>
          </a:p>
        </p:txBody>
      </p:sp>
      <p:sp>
        <p:nvSpPr>
          <p:cNvPr id="12" name="Rounded Rectangle 11"/>
          <p:cNvSpPr/>
          <p:nvPr/>
        </p:nvSpPr>
        <p:spPr>
          <a:xfrm>
            <a:off x="7040879"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79"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DEC-F09 · S4</a:t>
            </a:r>
          </a:p>
          <a:p>
            <a:pPr algn="ctr"/>
            <a:r>
              <a:rPr sz="900" b="1" i="0">
                <a:solidFill>
                  <a:srgbClr val="5B6B63"/>
                </a:solidFill>
                <a:latin typeface="Segoe UI"/>
                <a:cs typeface="Tahoma"/>
              </a:rPr>
              <a:t>1080 × 1350</a:t>
            </a:r>
          </a:p>
        </p:txBody>
      </p:sp>
      <p:sp>
        <p:nvSpPr>
          <p:cNvPr id="14" name="TextBox 13"/>
          <p:cNvSpPr txBox="1"/>
          <p:nvPr/>
        </p:nvSpPr>
        <p:spPr>
          <a:xfrm>
            <a:off x="7040879"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idea</a:t>
            </a:r>
          </a:p>
          <a:p>
            <a:pPr rtl="1" algn="r"/>
            <a:r>
              <a:rPr sz="850" b="0" i="0">
                <a:solidFill>
                  <a:srgbClr val="5B6B63"/>
                </a:solidFill>
                <a:latin typeface="Segoe UI"/>
                <a:cs typeface="Tahoma"/>
              </a:rPr>
              <a:t>بزيّ العمل</a:t>
            </a:r>
          </a:p>
          <a:p>
            <a:pPr algn="l"/>
            <a:r>
              <a:rPr sz="850" b="0" i="0">
                <a:solidFill>
                  <a:srgbClr val="5B6B63"/>
                </a:solidFill>
                <a:latin typeface="Segoe UI"/>
                <a:cs typeface="Tahoma"/>
              </a:rPr>
              <a:t>In work clothes, every morning.</a:t>
            </a:r>
          </a:p>
        </p:txBody>
      </p:sp>
      <p:sp>
        <p:nvSpPr>
          <p:cNvPr id="15" name="Rounded Rectangle 14"/>
          <p:cNvSpPr/>
          <p:nvPr/>
        </p:nvSpPr>
        <p:spPr>
          <a:xfrm>
            <a:off x="923544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DEC-F09 · S5</a:t>
            </a:r>
          </a:p>
          <a:p>
            <a:pPr algn="ctr"/>
            <a:r>
              <a:rPr sz="900" b="1" i="0">
                <a:solidFill>
                  <a:srgbClr val="5B6B63"/>
                </a:solidFill>
                <a:latin typeface="Segoe UI"/>
                <a:cs typeface="Tahoma"/>
              </a:rPr>
              <a:t>1080 × 1350</a:t>
            </a:r>
          </a:p>
        </p:txBody>
      </p:sp>
      <p:sp>
        <p:nvSpPr>
          <p:cNvPr id="17" name="TextBox 16"/>
          <p:cNvSpPr txBox="1"/>
          <p:nvPr/>
        </p:nvSpPr>
        <p:spPr>
          <a:xfrm>
            <a:off x="923544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cta</a:t>
            </a:r>
          </a:p>
          <a:p>
            <a:pPr rtl="1" algn="r"/>
            <a:r>
              <a:rPr sz="850" b="0" i="0">
                <a:solidFill>
                  <a:srgbClr val="5B6B63"/>
                </a:solidFill>
                <a:latin typeface="Segoe UI"/>
                <a:cs typeface="Tahoma"/>
              </a:rPr>
              <a:t>من تودّون</a:t>
            </a:r>
          </a:p>
          <a:p>
            <a:pPr algn="l"/>
            <a:r>
              <a:rPr sz="850" b="0" i="0">
                <a:solidFill>
                  <a:srgbClr val="5B6B63"/>
                </a:solidFill>
                <a:latin typeface="Segoe UI"/>
                <a:cs typeface="Tahoma"/>
              </a:rPr>
              <a:t>Who would you like to meet?</a:t>
            </a:r>
          </a:p>
        </p:txBody>
      </p:sp>
      <p:sp>
        <p:nvSpPr>
          <p:cNvPr id="18" name="Rounded Rectangle 17"/>
          <p:cNvSpPr/>
          <p:nvPr/>
        </p:nvSpPr>
        <p:spPr>
          <a:xfrm>
            <a:off x="457200" y="390906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0906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DEC-F09 · Sun 2026-12-20 · Instagram + Facebook · Carousel</a:t>
            </a:r>
          </a:p>
        </p:txBody>
      </p:sp>
      <p:sp>
        <p:nvSpPr>
          <p:cNvPr id="20" name="TextBox 19"/>
          <p:cNvSpPr txBox="1"/>
          <p:nvPr/>
        </p:nvSpPr>
        <p:spPr>
          <a:xfrm>
            <a:off x="457200" y="436626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People of Sudair  ·  People and careers  ·  T3 Portrait panel</a:t>
            </a:r>
          </a:p>
        </p:txBody>
      </p:sp>
      <p:sp>
        <p:nvSpPr>
          <p:cNvPr id="21" name="TextBox 20"/>
          <p:cNvSpPr txBox="1"/>
          <p:nvPr/>
        </p:nvSpPr>
        <p:spPr>
          <a:xfrm>
            <a:off x="457200" y="471373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the people are the place. Cover: portrait panel built from a tight three-quarter crop of one colleague from the hall frame (A013), calm and natural, soft key light from the left, graded to the Sudair emerald palette, dark green panelled wall with a faint vertical line pattern. Left 55% is the person; right 45% is clear dark green for the headline. Following slides are real frames of colleagues in their place</a:t>
            </a:r>
          </a:p>
        </p:txBody>
      </p:sp>
      <p:sp>
        <p:nvSpPr>
          <p:cNvPr id="22" name="TextBox 21"/>
          <p:cNvSpPr txBox="1"/>
          <p:nvPr/>
        </p:nvSpPr>
        <p:spPr>
          <a:xfrm>
            <a:off x="457200" y="535381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A013  Collective footage-20261001T081156Z-1-008/Collective footage/Camera/2/jaradi20260121_8608.MP4 | A005  Collective footage-20261001T081156Z-1-008/Collective footage/Camera/1/ALABBASY.8829.MP4 | A011  Collective footage-20261001T081156Z-1-008/Collective footage/Camera/1/ALABBASY.8871.MP4 | A012  </a:t>
            </a:r>
          </a:p>
        </p:txBody>
      </p:sp>
      <p:sp>
        <p:nvSpPr>
          <p:cNvPr id="23" name="TextBox 22"/>
          <p:cNvSpPr txBox="1"/>
          <p:nvPr/>
        </p:nvSpPr>
        <p:spPr>
          <a:xfrm>
            <a:off x="457200" y="590245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قبل المكان، هناك الناس. وجوهٌ تصل في الصباح، وأيدٍ تعمل، وفِرقٌ تعرف بعضها. من تحبّون أن تتعرّفوا عليه في سدير؟ أخبرونا.</a:t>
            </a:r>
          </a:p>
          <a:p>
            <a:pPr algn="l"/>
            <a:r>
              <a:rPr sz="900" b="0" i="0">
                <a:solidFill>
                  <a:srgbClr val="142B22"/>
                </a:solidFill>
                <a:latin typeface="Segoe UI"/>
                <a:cs typeface="Tahoma"/>
              </a:rPr>
              <a:t>EN: Before the place, there are the people. Faces arriving in the morning, hands at work, teams who know each other. Who would you like to meet at Sudair? Tell us.</a:t>
            </a:r>
          </a:p>
        </p:txBody>
      </p:sp>
      <p:sp>
        <p:nvSpPr>
          <p:cNvPr id="24" name="TextBox 23"/>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Everyone shown in A013, A005, A011, A012 needs written consent; no names or titles; no process wording, no label legible, no number, no claim.</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493776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493776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DEC-F10</a:t>
            </a:r>
          </a:p>
          <a:p>
            <a:pPr algn="ctr"/>
            <a:r>
              <a:rPr sz="900" b="1" i="0">
                <a:solidFill>
                  <a:srgbClr val="5B6B63"/>
                </a:solidFill>
                <a:latin typeface="Segoe UI"/>
                <a:cs typeface="Tahoma"/>
              </a:rPr>
              <a:t>1080 × 1350 px (4:5)</a:t>
            </a:r>
          </a:p>
        </p:txBody>
      </p:sp>
      <p:sp>
        <p:nvSpPr>
          <p:cNvPr id="5" name="Rounded Rectangle 4"/>
          <p:cNvSpPr/>
          <p:nvPr/>
        </p:nvSpPr>
        <p:spPr>
          <a:xfrm>
            <a:off x="5669280" y="457200"/>
            <a:ext cx="603504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0" y="457200"/>
            <a:ext cx="585215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DEC-F10 · Tue 2026-12-22 · Instagram + Facebook · Still</a:t>
            </a:r>
          </a:p>
        </p:txBody>
      </p:sp>
      <p:sp>
        <p:nvSpPr>
          <p:cNvPr id="7" name="TextBox 6"/>
          <p:cNvSpPr txBox="1"/>
          <p:nvPr/>
        </p:nvSpPr>
        <p:spPr>
          <a:xfrm>
            <a:off x="5669280" y="914400"/>
            <a:ext cx="603504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After every night, a brighter morning  ·  Year and community  ·  T1 Glass object</a:t>
            </a:r>
          </a:p>
        </p:txBody>
      </p:sp>
      <p:sp>
        <p:nvSpPr>
          <p:cNvPr id="8" name="TextBox 7"/>
          <p:cNvSpPr txBox="1"/>
          <p:nvPr/>
        </p:nvSpPr>
        <p:spPr>
          <a:xfrm>
            <a:off x="5669280" y="1261872"/>
            <a:ext cx="6035040"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بعد كل ليلٍ</a:t>
            </a:r>
          </a:p>
        </p:txBody>
      </p:sp>
      <p:sp>
        <p:nvSpPr>
          <p:cNvPr id="9" name="TextBox 8"/>
          <p:cNvSpPr txBox="1"/>
          <p:nvPr/>
        </p:nvSpPr>
        <p:spPr>
          <a:xfrm>
            <a:off x="5669280" y="1673351"/>
            <a:ext cx="6035040"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صباحٌ أجمل</a:t>
            </a:r>
          </a:p>
        </p:txBody>
      </p:sp>
      <p:sp>
        <p:nvSpPr>
          <p:cNvPr id="10" name="TextBox 9"/>
          <p:cNvSpPr txBox="1"/>
          <p:nvPr/>
        </p:nvSpPr>
        <p:spPr>
          <a:xfrm>
            <a:off x="5669280" y="2020824"/>
            <a:ext cx="6035040"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After every night, a brighter morning. · The light returns to Sudair City.</a:t>
            </a:r>
          </a:p>
        </p:txBody>
      </p:sp>
      <p:sp>
        <p:nvSpPr>
          <p:cNvPr id="11" name="TextBox 10"/>
          <p:cNvSpPr txBox="1"/>
          <p:nvPr/>
        </p:nvSpPr>
        <p:spPr>
          <a:xfrm>
            <a:off x="5669280" y="2478024"/>
            <a:ext cx="603504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a long night, then morning light. Premium 3D render of a clear glass orb on a glossy emerald floor, inside it a desert horizon: dark emerald in the lower half and a soft golden dawn glow rising in the upper half, brushed-metal base ring, mint rim light, soft studio light from the upper left, clean reflections. Emerald gradient #09A45B to #04301F with a faint rounded-diamond lattice at 8%. Orb centred, 55% of</a:t>
            </a:r>
          </a:p>
        </p:txBody>
      </p:sp>
      <p:sp>
        <p:nvSpPr>
          <p:cNvPr id="12" name="TextBox 11"/>
          <p:cNvSpPr txBox="1"/>
          <p:nvPr/>
        </p:nvSpPr>
        <p:spPr>
          <a:xfrm>
            <a:off x="5669280" y="3255264"/>
            <a:ext cx="603504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Generated only</a:t>
            </a:r>
          </a:p>
        </p:txBody>
      </p:sp>
      <p:sp>
        <p:nvSpPr>
          <p:cNvPr id="13" name="TextBox 12"/>
          <p:cNvSpPr txBox="1"/>
          <p:nvPr/>
        </p:nvSpPr>
        <p:spPr>
          <a:xfrm>
            <a:off x="5669280" y="3803904"/>
            <a:ext cx="603504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في الشتاء تطول الليالي في الصحراء، ومع كل صباحٍ يعود الضوء إلى مدينة سدير وتعود الخطى إلى أماكنها. نتمنى لكم أيامًا هادئة وصباحًا أجمل. شاركونا صورة صباحكم.</a:t>
            </a:r>
          </a:p>
          <a:p>
            <a:pPr algn="l"/>
            <a:r>
              <a:rPr sz="900" b="0" i="0">
                <a:solidFill>
                  <a:srgbClr val="142B22"/>
                </a:solidFill>
                <a:latin typeface="Segoe UI"/>
                <a:cs typeface="Tahoma"/>
              </a:rPr>
              <a:t>EN: Winter nights run long in the desert, and each morning the light comes back to Sudair City and the footsteps return. We wish you quiet days and a brighter morning. Send us a picture of your morning.</a:t>
            </a:r>
          </a:p>
        </p:txBody>
      </p:sp>
      <p:sp>
        <p:nvSpPr>
          <p:cNvPr id="14" name="TextBox 13"/>
          <p:cNvSpPr txBox="1"/>
          <p:nvPr/>
        </p:nvSpPr>
        <p:spPr>
          <a:xfrm>
            <a:off x="5669280" y="6400800"/>
            <a:ext cx="603504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Seasonal image of night and morning only; it is not a health, hope or outcome message and carries no claim.</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DEC-S10</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DEC-S10 · Wed 2026-12-23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Thank you  ·  Year and community  ·  T8 Type card</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شكرًا</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لأنكم معنا</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Thank you for being with us. · From everyone at Sudair Pharma.</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Deep emerald type card with a hairline inset frame, a thin mint rule and one small white palm-burst line icon at 60 px; centred two-level headline. No photograph. Keep 250 px free at the top and 340 px at the bottom.</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Generated only</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شكرًا لأنكم معنا.</a:t>
            </a:r>
          </a:p>
          <a:p>
            <a:pPr algn="l"/>
            <a:r>
              <a:rPr sz="900" b="0" i="0">
                <a:solidFill>
                  <a:srgbClr val="142B22"/>
                </a:solidFill>
                <a:latin typeface="Segoe UI"/>
                <a:cs typeface="Tahoma"/>
              </a:rPr>
              <a:t>EN: Thank you for being with us.</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Thanks only: no claim, no number.</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1332738" cy="2369312"/>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76096"/>
            <a:ext cx="1332738"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DEC-F11 · COVER</a:t>
            </a:r>
          </a:p>
          <a:p>
            <a:pPr algn="ctr"/>
            <a:r>
              <a:rPr sz="900" b="1" i="0">
                <a:solidFill>
                  <a:srgbClr val="5B6B63"/>
                </a:solidFill>
                <a:latin typeface="Segoe UI"/>
                <a:cs typeface="Tahoma"/>
              </a:rPr>
              <a:t>9:16</a:t>
            </a:r>
          </a:p>
        </p:txBody>
      </p:sp>
      <p:sp>
        <p:nvSpPr>
          <p:cNvPr id="5" name="TextBox 4"/>
          <p:cNvSpPr txBox="1"/>
          <p:nvPr/>
        </p:nvSpPr>
        <p:spPr>
          <a:xfrm>
            <a:off x="457200" y="2808224"/>
            <a:ext cx="1332738" cy="64008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Cover</a:t>
            </a:r>
          </a:p>
          <a:p>
            <a:pPr rtl="1" algn="r"/>
            <a:r>
              <a:rPr sz="850" b="0" i="0">
                <a:solidFill>
                  <a:srgbClr val="5B6B63"/>
                </a:solidFill>
                <a:latin typeface="Segoe UI"/>
                <a:cs typeface="Tahoma"/>
              </a:rPr>
              <a:t>فريق الليل</a:t>
            </a:r>
          </a:p>
        </p:txBody>
      </p:sp>
      <p:sp>
        <p:nvSpPr>
          <p:cNvPr id="6" name="Rounded Rectangle 5"/>
          <p:cNvSpPr/>
          <p:nvPr/>
        </p:nvSpPr>
        <p:spPr>
          <a:xfrm>
            <a:off x="1863090" y="411480"/>
            <a:ext cx="1332738" cy="2369312"/>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63090" y="1276096"/>
            <a:ext cx="1332738"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DEC-F11 · SHOT 1</a:t>
            </a:r>
          </a:p>
          <a:p>
            <a:pPr algn="ctr"/>
            <a:r>
              <a:rPr sz="900" b="1" i="0">
                <a:solidFill>
                  <a:srgbClr val="5B6B63"/>
                </a:solidFill>
                <a:latin typeface="Segoe UI"/>
                <a:cs typeface="Tahoma"/>
              </a:rPr>
              <a:t>0s to 3s</a:t>
            </a:r>
          </a:p>
        </p:txBody>
      </p:sp>
      <p:sp>
        <p:nvSpPr>
          <p:cNvPr id="8" name="TextBox 7"/>
          <p:cNvSpPr txBox="1"/>
          <p:nvPr/>
        </p:nvSpPr>
        <p:spPr>
          <a:xfrm>
            <a:off x="1863090" y="2808224"/>
            <a:ext cx="1332738"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0–3s</a:t>
            </a:r>
          </a:p>
          <a:p>
            <a:pPr rtl="1" algn="r"/>
            <a:r>
              <a:rPr sz="800" b="0" i="0">
                <a:solidFill>
                  <a:srgbClr val="5B6B63"/>
                </a:solidFill>
                <a:latin typeface="Segoe UI"/>
                <a:cs typeface="Tahoma"/>
              </a:rPr>
              <a:t>حين يهدأ النهار</a:t>
            </a:r>
          </a:p>
          <a:p>
            <a:pPr algn="l"/>
            <a:r>
              <a:rPr sz="800" b="0" i="0">
                <a:solidFill>
                  <a:srgbClr val="5B6B63"/>
                </a:solidFill>
                <a:latin typeface="Segoe UI"/>
                <a:cs typeface="Tahoma"/>
              </a:rPr>
              <a:t>When the day goes quiet</a:t>
            </a:r>
          </a:p>
        </p:txBody>
      </p:sp>
      <p:sp>
        <p:nvSpPr>
          <p:cNvPr id="9" name="Rounded Rectangle 8"/>
          <p:cNvSpPr/>
          <p:nvPr/>
        </p:nvSpPr>
        <p:spPr>
          <a:xfrm>
            <a:off x="3268980" y="411480"/>
            <a:ext cx="1332738" cy="2369312"/>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68980" y="1276096"/>
            <a:ext cx="1332738"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DEC-F11 · SHOT 2</a:t>
            </a:r>
          </a:p>
          <a:p>
            <a:pPr algn="ctr"/>
            <a:r>
              <a:rPr sz="900" b="1" i="0">
                <a:solidFill>
                  <a:srgbClr val="5B6B63"/>
                </a:solidFill>
                <a:latin typeface="Segoe UI"/>
                <a:cs typeface="Tahoma"/>
              </a:rPr>
              <a:t>3s to 6s</a:t>
            </a:r>
          </a:p>
        </p:txBody>
      </p:sp>
      <p:sp>
        <p:nvSpPr>
          <p:cNvPr id="11" name="TextBox 10"/>
          <p:cNvSpPr txBox="1"/>
          <p:nvPr/>
        </p:nvSpPr>
        <p:spPr>
          <a:xfrm>
            <a:off x="3268980" y="2808224"/>
            <a:ext cx="1332738"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3–6s</a:t>
            </a:r>
          </a:p>
          <a:p>
            <a:pPr rtl="1" algn="r"/>
            <a:r>
              <a:rPr sz="800" b="0" i="0">
                <a:solidFill>
                  <a:srgbClr val="5B6B63"/>
                </a:solidFill>
                <a:latin typeface="Segoe UI"/>
                <a:cs typeface="Tahoma"/>
              </a:rPr>
              <a:t>يبقى من يواصل</a:t>
            </a:r>
          </a:p>
          <a:p>
            <a:pPr algn="l"/>
            <a:r>
              <a:rPr sz="800" b="0" i="0">
                <a:solidFill>
                  <a:srgbClr val="5B6B63"/>
                </a:solidFill>
                <a:latin typeface="Segoe UI"/>
                <a:cs typeface="Tahoma"/>
              </a:rPr>
              <a:t>Someone carries on</a:t>
            </a:r>
          </a:p>
        </p:txBody>
      </p:sp>
      <p:sp>
        <p:nvSpPr>
          <p:cNvPr id="12" name="Rounded Rectangle 11"/>
          <p:cNvSpPr/>
          <p:nvPr/>
        </p:nvSpPr>
        <p:spPr>
          <a:xfrm>
            <a:off x="4674870" y="411480"/>
            <a:ext cx="1332738" cy="2369312"/>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74870" y="1276096"/>
            <a:ext cx="1332738"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DEC-F11 · SHOT 3</a:t>
            </a:r>
          </a:p>
          <a:p>
            <a:pPr algn="ctr"/>
            <a:r>
              <a:rPr sz="900" b="1" i="0">
                <a:solidFill>
                  <a:srgbClr val="5B6B63"/>
                </a:solidFill>
                <a:latin typeface="Segoe UI"/>
                <a:cs typeface="Tahoma"/>
              </a:rPr>
              <a:t>6s to 9s</a:t>
            </a:r>
          </a:p>
        </p:txBody>
      </p:sp>
      <p:sp>
        <p:nvSpPr>
          <p:cNvPr id="14" name="TextBox 13"/>
          <p:cNvSpPr txBox="1"/>
          <p:nvPr/>
        </p:nvSpPr>
        <p:spPr>
          <a:xfrm>
            <a:off x="4674870" y="2808224"/>
            <a:ext cx="1332738"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6–9s</a:t>
            </a:r>
          </a:p>
          <a:p>
            <a:pPr rtl="1" algn="r"/>
            <a:r>
              <a:rPr sz="800" b="0" i="0">
                <a:solidFill>
                  <a:srgbClr val="5B6B63"/>
                </a:solidFill>
                <a:latin typeface="Segoe UI"/>
                <a:cs typeface="Tahoma"/>
              </a:rPr>
              <a:t>فريق الليل</a:t>
            </a:r>
          </a:p>
          <a:p>
            <a:pPr algn="l"/>
            <a:r>
              <a:rPr sz="800" b="0" i="0">
                <a:solidFill>
                  <a:srgbClr val="5B6B63"/>
                </a:solidFill>
                <a:latin typeface="Segoe UI"/>
                <a:cs typeface="Tahoma"/>
              </a:rPr>
              <a:t>The night shift</a:t>
            </a:r>
          </a:p>
        </p:txBody>
      </p:sp>
      <p:sp>
        <p:nvSpPr>
          <p:cNvPr id="15" name="Rounded Rectangle 14"/>
          <p:cNvSpPr/>
          <p:nvPr/>
        </p:nvSpPr>
        <p:spPr>
          <a:xfrm>
            <a:off x="6080760" y="411480"/>
            <a:ext cx="1332738" cy="2369312"/>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0760" y="1276096"/>
            <a:ext cx="1332738"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DEC-F11 · SHOT 4</a:t>
            </a:r>
          </a:p>
          <a:p>
            <a:pPr algn="ctr"/>
            <a:r>
              <a:rPr sz="900" b="1" i="0">
                <a:solidFill>
                  <a:srgbClr val="5B6B63"/>
                </a:solidFill>
                <a:latin typeface="Segoe UI"/>
                <a:cs typeface="Tahoma"/>
              </a:rPr>
              <a:t>9s to 12s</a:t>
            </a:r>
          </a:p>
        </p:txBody>
      </p:sp>
      <p:sp>
        <p:nvSpPr>
          <p:cNvPr id="17" name="TextBox 16"/>
          <p:cNvSpPr txBox="1"/>
          <p:nvPr/>
        </p:nvSpPr>
        <p:spPr>
          <a:xfrm>
            <a:off x="6080760" y="2808224"/>
            <a:ext cx="1332738"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9–12s</a:t>
            </a:r>
          </a:p>
          <a:p>
            <a:pPr rtl="1" algn="r"/>
            <a:r>
              <a:rPr sz="800" b="0" i="0">
                <a:solidFill>
                  <a:srgbClr val="5B6B63"/>
                </a:solidFill>
                <a:latin typeface="Segoe UI"/>
                <a:cs typeface="Tahoma"/>
              </a:rPr>
              <a:t>معًا</a:t>
            </a:r>
          </a:p>
          <a:p>
            <a:pPr algn="l"/>
            <a:r>
              <a:rPr sz="800" b="0" i="0">
                <a:solidFill>
                  <a:srgbClr val="5B6B63"/>
                </a:solidFill>
                <a:latin typeface="Segoe UI"/>
                <a:cs typeface="Tahoma"/>
              </a:rPr>
              <a:t>Together</a:t>
            </a:r>
          </a:p>
        </p:txBody>
      </p:sp>
      <p:sp>
        <p:nvSpPr>
          <p:cNvPr id="18" name="Rounded Rectangle 17"/>
          <p:cNvSpPr/>
          <p:nvPr/>
        </p:nvSpPr>
        <p:spPr>
          <a:xfrm>
            <a:off x="7486650" y="411480"/>
            <a:ext cx="1332738" cy="2369312"/>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86650" y="1276096"/>
            <a:ext cx="1332738"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DEC-F11 · SHOT 5</a:t>
            </a:r>
          </a:p>
          <a:p>
            <a:pPr algn="ctr"/>
            <a:r>
              <a:rPr sz="900" b="1" i="0">
                <a:solidFill>
                  <a:srgbClr val="5B6B63"/>
                </a:solidFill>
                <a:latin typeface="Segoe UI"/>
                <a:cs typeface="Tahoma"/>
              </a:rPr>
              <a:t>12s to 15s</a:t>
            </a:r>
          </a:p>
        </p:txBody>
      </p:sp>
      <p:sp>
        <p:nvSpPr>
          <p:cNvPr id="20" name="TextBox 19"/>
          <p:cNvSpPr txBox="1"/>
          <p:nvPr/>
        </p:nvSpPr>
        <p:spPr>
          <a:xfrm>
            <a:off x="7486650" y="2808224"/>
            <a:ext cx="1332738"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12–15s</a:t>
            </a:r>
          </a:p>
          <a:p>
            <a:pPr rtl="1" algn="r"/>
            <a:r>
              <a:rPr sz="800" b="0" i="0">
                <a:solidFill>
                  <a:srgbClr val="5B6B63"/>
                </a:solidFill>
                <a:latin typeface="Segoe UI"/>
                <a:cs typeface="Tahoma"/>
              </a:rPr>
              <a:t>حتى يعود الصباح</a:t>
            </a:r>
          </a:p>
          <a:p>
            <a:pPr algn="l"/>
            <a:r>
              <a:rPr sz="800" b="0" i="0">
                <a:solidFill>
                  <a:srgbClr val="5B6B63"/>
                </a:solidFill>
                <a:latin typeface="Segoe UI"/>
                <a:cs typeface="Tahoma"/>
              </a:rPr>
              <a:t>Until morning returns</a:t>
            </a:r>
          </a:p>
        </p:txBody>
      </p:sp>
      <p:sp>
        <p:nvSpPr>
          <p:cNvPr id="21" name="Rounded Rectangle 20"/>
          <p:cNvSpPr/>
          <p:nvPr/>
        </p:nvSpPr>
        <p:spPr>
          <a:xfrm>
            <a:off x="8892540" y="411480"/>
            <a:ext cx="1332738" cy="2369312"/>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92540" y="1276096"/>
            <a:ext cx="1332738"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DEC-F11 · SHOT 6</a:t>
            </a:r>
          </a:p>
          <a:p>
            <a:pPr algn="ctr"/>
            <a:r>
              <a:rPr sz="900" b="1" i="0">
                <a:solidFill>
                  <a:srgbClr val="5B6B63"/>
                </a:solidFill>
                <a:latin typeface="Segoe UI"/>
                <a:cs typeface="Tahoma"/>
              </a:rPr>
              <a:t>15s to 18s</a:t>
            </a:r>
          </a:p>
        </p:txBody>
      </p:sp>
      <p:sp>
        <p:nvSpPr>
          <p:cNvPr id="23" name="TextBox 22"/>
          <p:cNvSpPr txBox="1"/>
          <p:nvPr/>
        </p:nvSpPr>
        <p:spPr>
          <a:xfrm>
            <a:off x="8892540" y="2808224"/>
            <a:ext cx="1332738"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15–18s</a:t>
            </a:r>
          </a:p>
          <a:p>
            <a:pPr rtl="1" algn="r"/>
            <a:r>
              <a:rPr sz="800" b="0" i="0">
                <a:solidFill>
                  <a:srgbClr val="5B6B63"/>
                </a:solidFill>
                <a:latin typeface="Segoe UI"/>
                <a:cs typeface="Tahoma"/>
              </a:rPr>
              <a:t>شكرًا لمن يسهر</a:t>
            </a:r>
          </a:p>
          <a:p>
            <a:pPr algn="l"/>
            <a:r>
              <a:rPr sz="800" b="0" i="0">
                <a:solidFill>
                  <a:srgbClr val="5B6B63"/>
                </a:solidFill>
                <a:latin typeface="Segoe UI"/>
                <a:cs typeface="Tahoma"/>
              </a:rPr>
              <a:t>Thank you to those who stay awake</a:t>
            </a:r>
          </a:p>
        </p:txBody>
      </p:sp>
      <p:sp>
        <p:nvSpPr>
          <p:cNvPr id="24" name="Rounded Rectangle 23"/>
          <p:cNvSpPr/>
          <p:nvPr/>
        </p:nvSpPr>
        <p:spPr>
          <a:xfrm>
            <a:off x="10298430" y="411480"/>
            <a:ext cx="1332738" cy="2369312"/>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98430" y="1276096"/>
            <a:ext cx="1332738"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DEC-F11 · SHOT 7</a:t>
            </a:r>
          </a:p>
          <a:p>
            <a:pPr algn="ctr"/>
            <a:r>
              <a:rPr sz="900" b="1" i="0">
                <a:solidFill>
                  <a:srgbClr val="5B6B63"/>
                </a:solidFill>
                <a:latin typeface="Segoe UI"/>
                <a:cs typeface="Tahoma"/>
              </a:rPr>
              <a:t>18s to 20s</a:t>
            </a:r>
          </a:p>
        </p:txBody>
      </p:sp>
      <p:sp>
        <p:nvSpPr>
          <p:cNvPr id="26" name="TextBox 25"/>
          <p:cNvSpPr txBox="1"/>
          <p:nvPr/>
        </p:nvSpPr>
        <p:spPr>
          <a:xfrm>
            <a:off x="10298430" y="2808224"/>
            <a:ext cx="1332738"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18–20s</a:t>
            </a:r>
          </a:p>
          <a:p>
            <a:pPr rtl="1" algn="r"/>
            <a:r>
              <a:rPr sz="800" b="0" i="0">
                <a:solidFill>
                  <a:srgbClr val="5B6B63"/>
                </a:solidFill>
                <a:latin typeface="Segoe UI"/>
                <a:cs typeface="Tahoma"/>
              </a:rPr>
              <a:t>صناعة تُرى، وأثر يُقاس.</a:t>
            </a:r>
          </a:p>
          <a:p>
            <a:pPr algn="l"/>
            <a:r>
              <a:rPr sz="800" b="0" i="0">
                <a:solidFill>
                  <a:srgbClr val="5B6B63"/>
                </a:solidFill>
                <a:latin typeface="Segoe UI"/>
                <a:cs typeface="Tahoma"/>
              </a:rPr>
              <a:t>Visible capability. Measurable impact. sudairpharma.com</a:t>
            </a:r>
          </a:p>
        </p:txBody>
      </p:sp>
      <p:sp>
        <p:nvSpPr>
          <p:cNvPr id="27" name="Rounded Rectangle 26"/>
          <p:cNvSpPr/>
          <p:nvPr/>
        </p:nvSpPr>
        <p:spPr>
          <a:xfrm>
            <a:off x="457200" y="3695192"/>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3695192"/>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DEC-F11 · Thu 2026-12-24 · Instagram + Facebook · Reel</a:t>
            </a:r>
          </a:p>
        </p:txBody>
      </p:sp>
      <p:sp>
        <p:nvSpPr>
          <p:cNvPr id="29" name="TextBox 28"/>
          <p:cNvSpPr txBox="1"/>
          <p:nvPr/>
        </p:nvSpPr>
        <p:spPr>
          <a:xfrm>
            <a:off x="457200" y="4152392"/>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Meet the night shift  ·  Meet the makers  ·  T2 Team landscape</a:t>
            </a:r>
          </a:p>
        </p:txBody>
      </p:sp>
      <p:sp>
        <p:nvSpPr>
          <p:cNvPr id="30" name="TextBox 29"/>
          <p:cNvSpPr txBox="1"/>
          <p:nvPr/>
        </p:nvSpPr>
        <p:spPr>
          <a:xfrm>
            <a:off x="457200" y="4499864"/>
            <a:ext cx="11247120"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فريق الليل</a:t>
            </a:r>
          </a:p>
        </p:txBody>
      </p:sp>
      <p:sp>
        <p:nvSpPr>
          <p:cNvPr id="31" name="TextBox 30"/>
          <p:cNvSpPr txBox="1"/>
          <p:nvPr/>
        </p:nvSpPr>
        <p:spPr>
          <a:xfrm>
            <a:off x="457200" y="4911344"/>
            <a:ext cx="11247120"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تعرّفوا عليه</a:t>
            </a:r>
          </a:p>
        </p:txBody>
      </p:sp>
      <p:sp>
        <p:nvSpPr>
          <p:cNvPr id="32" name="TextBox 31"/>
          <p:cNvSpPr txBox="1"/>
          <p:nvPr/>
        </p:nvSpPr>
        <p:spPr>
          <a:xfrm>
            <a:off x="457200" y="5258816"/>
            <a:ext cx="11247120"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Meet the night shift. · Still at work while the site is quiet.</a:t>
            </a:r>
          </a:p>
        </p:txBody>
      </p:sp>
      <p:sp>
        <p:nvSpPr>
          <p:cNvPr id="33" name="TextBox 32"/>
          <p:cNvSpPr txBox="1"/>
          <p:nvPr/>
        </p:nvSpPr>
        <p:spPr>
          <a:xfrm>
            <a:off x="457200" y="5716016"/>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the people who work after dark. Reel cover: wide documentary frame of the hall team (A013) with the real corridor light behind, graded to a deep blue-hour teal-green with warm interior light, natural faces, horizon at 60% of the tile; headline top, logo area top-left clear.</a:t>
            </a:r>
          </a:p>
        </p:txBody>
      </p:sp>
      <p:sp>
        <p:nvSpPr>
          <p:cNvPr id="34" name="TextBox 33"/>
          <p:cNvSpPr txBox="1"/>
          <p:nvPr/>
        </p:nvSpPr>
        <p:spPr>
          <a:xfrm>
            <a:off x="457200" y="6493256"/>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A001  Collective footage-20261001T081156Z-1-008/Collective footage/DJI_20260121084222_0001_D.MOV | A003  Collective footage-20261001T081156Z-1-008/Collective footage/DJI_20260121103516_0070_D.MOV | A012  Collective footage-20261001T081156Z-1-008/Collective footage/Camera/1/ALABBASY.8892.MP4 | A013  </a:t>
            </a:r>
          </a:p>
        </p:txBody>
      </p:sp>
      <p:sp>
        <p:nvSpPr>
          <p:cNvPr id="35" name="TextBox 34"/>
          <p:cNvSpPr txBox="1"/>
          <p:nvPr/>
        </p:nvSpPr>
        <p:spPr>
          <a:xfrm>
            <a:off x="457200" y="7041895"/>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حين يهدأ النهار، يبقى في مدينة سدير من يواصل. تعرّفوا على فريق المناوبة الليلية. من يعمل في الليل ويودّ أن نشكره؟ اذكروه في التعليقات.</a:t>
            </a:r>
          </a:p>
          <a:p>
            <a:pPr algn="l"/>
            <a:r>
              <a:rPr sz="900" b="0" i="0">
                <a:solidFill>
                  <a:srgbClr val="142B22"/>
                </a:solidFill>
                <a:latin typeface="Segoe UI"/>
                <a:cs typeface="Tahoma"/>
              </a:rPr>
              <a:t>EN: When the day goes quiet, someone at Sudair City carries on. Meet the night shift. Know someone who works nights? Mention them in the comments.</a:t>
            </a:r>
          </a:p>
        </p:txBody>
      </p:sp>
      <p:sp>
        <p:nvSpPr>
          <p:cNvPr id="36" name="TextBox 35"/>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Client to confirm that a night shift runs and that the crew in A012, A013, A007 agree to appear; no hour, count or output stated; no product or label in frame.</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DEC-L07 · S1</a:t>
            </a:r>
          </a:p>
          <a:p>
            <a:pPr algn="ctr"/>
            <a:r>
              <a:rPr sz="900" b="1" i="0">
                <a:solidFill>
                  <a:srgbClr val="5B6B63"/>
                </a:solidFill>
                <a:latin typeface="Segoe UI"/>
                <a:cs typeface="Tahoma"/>
              </a:rPr>
              <a:t>1080 × 1350</a:t>
            </a:r>
          </a:p>
        </p:txBody>
      </p:sp>
      <p:sp>
        <p:nvSpPr>
          <p:cNvPr id="5" name="TextBox 4"/>
          <p:cNvSpPr txBox="1"/>
          <p:nvPr/>
        </p:nvSpPr>
        <p:spPr>
          <a:xfrm>
            <a:off x="45720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شكرًا</a:t>
            </a:r>
          </a:p>
          <a:p>
            <a:pPr algn="l"/>
            <a:r>
              <a:rPr sz="850" b="0" i="0">
                <a:solidFill>
                  <a:srgbClr val="5B6B63"/>
                </a:solidFill>
                <a:latin typeface="Segoe UI"/>
                <a:cs typeface="Tahoma"/>
              </a:rPr>
              <a:t>Thank you, for a year with you</a:t>
            </a:r>
          </a:p>
        </p:txBody>
      </p:sp>
      <p:sp>
        <p:nvSpPr>
          <p:cNvPr id="6" name="Rounded Rectangle 5"/>
          <p:cNvSpPr/>
          <p:nvPr/>
        </p:nvSpPr>
        <p:spPr>
          <a:xfrm>
            <a:off x="265176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DEC-L07 · S2</a:t>
            </a:r>
          </a:p>
          <a:p>
            <a:pPr algn="ctr"/>
            <a:r>
              <a:rPr sz="900" b="1" i="0">
                <a:solidFill>
                  <a:srgbClr val="5B6B63"/>
                </a:solidFill>
                <a:latin typeface="Segoe UI"/>
                <a:cs typeface="Tahoma"/>
              </a:rPr>
              <a:t>1080 × 1350</a:t>
            </a:r>
          </a:p>
        </p:txBody>
      </p:sp>
      <p:sp>
        <p:nvSpPr>
          <p:cNvPr id="8" name="TextBox 7"/>
          <p:cNvSpPr txBox="1"/>
          <p:nvPr/>
        </p:nvSpPr>
        <p:spPr>
          <a:xfrm>
            <a:off x="265176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لفِرقنا</a:t>
            </a:r>
          </a:p>
          <a:p>
            <a:pPr algn="l"/>
            <a:r>
              <a:rPr sz="850" b="0" i="0">
                <a:solidFill>
                  <a:srgbClr val="5B6B63"/>
                </a:solidFill>
                <a:latin typeface="Segoe UI"/>
                <a:cs typeface="Tahoma"/>
              </a:rPr>
              <a:t>To our teams, on every shift</a:t>
            </a:r>
          </a:p>
        </p:txBody>
      </p:sp>
      <p:sp>
        <p:nvSpPr>
          <p:cNvPr id="9" name="Rounded Rectangle 8"/>
          <p:cNvSpPr/>
          <p:nvPr/>
        </p:nvSpPr>
        <p:spPr>
          <a:xfrm>
            <a:off x="484632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DEC-L07 · S3</a:t>
            </a:r>
          </a:p>
          <a:p>
            <a:pPr algn="ctr"/>
            <a:r>
              <a:rPr sz="900" b="1" i="0">
                <a:solidFill>
                  <a:srgbClr val="5B6B63"/>
                </a:solidFill>
                <a:latin typeface="Segoe UI"/>
                <a:cs typeface="Tahoma"/>
              </a:rPr>
              <a:t>1080 × 1350</a:t>
            </a:r>
          </a:p>
        </p:txBody>
      </p:sp>
      <p:sp>
        <p:nvSpPr>
          <p:cNvPr id="11" name="TextBox 10"/>
          <p:cNvSpPr txBox="1"/>
          <p:nvPr/>
        </p:nvSpPr>
        <p:spPr>
          <a:xfrm>
            <a:off x="484632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idea</a:t>
            </a:r>
          </a:p>
          <a:p>
            <a:pPr rtl="1" algn="r"/>
            <a:r>
              <a:rPr sz="850" b="0" i="0">
                <a:solidFill>
                  <a:srgbClr val="5B6B63"/>
                </a:solidFill>
                <a:latin typeface="Segoe UI"/>
                <a:cs typeface="Tahoma"/>
              </a:rPr>
              <a:t>لشركائنا</a:t>
            </a:r>
          </a:p>
          <a:p>
            <a:pPr algn="l"/>
            <a:r>
              <a:rPr sz="850" b="0" i="0">
                <a:solidFill>
                  <a:srgbClr val="5B6B63"/>
                </a:solidFill>
                <a:latin typeface="Segoe UI"/>
                <a:cs typeface="Tahoma"/>
              </a:rPr>
              <a:t>To our partners, on the stages</a:t>
            </a:r>
          </a:p>
        </p:txBody>
      </p:sp>
      <p:sp>
        <p:nvSpPr>
          <p:cNvPr id="12" name="Rounded Rectangle 11"/>
          <p:cNvSpPr/>
          <p:nvPr/>
        </p:nvSpPr>
        <p:spPr>
          <a:xfrm>
            <a:off x="7040879"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79"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DEC-L07 · S4</a:t>
            </a:r>
          </a:p>
          <a:p>
            <a:pPr algn="ctr"/>
            <a:r>
              <a:rPr sz="900" b="1" i="0">
                <a:solidFill>
                  <a:srgbClr val="5B6B63"/>
                </a:solidFill>
                <a:latin typeface="Segoe UI"/>
                <a:cs typeface="Tahoma"/>
              </a:rPr>
              <a:t>1080 × 1350</a:t>
            </a:r>
          </a:p>
        </p:txBody>
      </p:sp>
      <p:sp>
        <p:nvSpPr>
          <p:cNvPr id="14" name="TextBox 13"/>
          <p:cNvSpPr txBox="1"/>
          <p:nvPr/>
        </p:nvSpPr>
        <p:spPr>
          <a:xfrm>
            <a:off x="7040879"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idea</a:t>
            </a:r>
          </a:p>
          <a:p>
            <a:pPr rtl="1" algn="r"/>
            <a:r>
              <a:rPr sz="850" b="0" i="0">
                <a:solidFill>
                  <a:srgbClr val="5B6B63"/>
                </a:solidFill>
                <a:latin typeface="Segoe UI"/>
                <a:cs typeface="Tahoma"/>
              </a:rPr>
              <a:t>ولكل من زارنا</a:t>
            </a:r>
          </a:p>
          <a:p>
            <a:pPr algn="l"/>
            <a:r>
              <a:rPr sz="850" b="0" i="0">
                <a:solidFill>
                  <a:srgbClr val="5B6B63"/>
                </a:solidFill>
                <a:latin typeface="Segoe UI"/>
                <a:cs typeface="Tahoma"/>
              </a:rPr>
              <a:t>To everyone who visited, followed and wrote</a:t>
            </a:r>
          </a:p>
        </p:txBody>
      </p:sp>
      <p:sp>
        <p:nvSpPr>
          <p:cNvPr id="15" name="Rounded Rectangle 14"/>
          <p:cNvSpPr/>
          <p:nvPr/>
        </p:nvSpPr>
        <p:spPr>
          <a:xfrm>
            <a:off x="923544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DEC-L07 · S5</a:t>
            </a:r>
          </a:p>
          <a:p>
            <a:pPr algn="ctr"/>
            <a:r>
              <a:rPr sz="900" b="1" i="0">
                <a:solidFill>
                  <a:srgbClr val="5B6B63"/>
                </a:solidFill>
                <a:latin typeface="Segoe UI"/>
                <a:cs typeface="Tahoma"/>
              </a:rPr>
              <a:t>1080 × 1350</a:t>
            </a:r>
          </a:p>
        </p:txBody>
      </p:sp>
      <p:sp>
        <p:nvSpPr>
          <p:cNvPr id="17" name="TextBox 16"/>
          <p:cNvSpPr txBox="1"/>
          <p:nvPr/>
        </p:nvSpPr>
        <p:spPr>
          <a:xfrm>
            <a:off x="923544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cta</a:t>
            </a:r>
          </a:p>
          <a:p>
            <a:pPr rtl="1" algn="r"/>
            <a:r>
              <a:rPr sz="850" b="0" i="0">
                <a:solidFill>
                  <a:srgbClr val="5B6B63"/>
                </a:solidFill>
                <a:latin typeface="Segoe UI"/>
                <a:cs typeface="Tahoma"/>
              </a:rPr>
              <a:t>كل عامٍ</a:t>
            </a:r>
          </a:p>
          <a:p>
            <a:pPr algn="l"/>
            <a:r>
              <a:rPr sz="850" b="0" i="0">
                <a:solidFill>
                  <a:srgbClr val="5B6B63"/>
                </a:solidFill>
                <a:latin typeface="Segoe UI"/>
                <a:cs typeface="Tahoma"/>
              </a:rPr>
              <a:t>Happy New Year</a:t>
            </a:r>
          </a:p>
        </p:txBody>
      </p:sp>
      <p:sp>
        <p:nvSpPr>
          <p:cNvPr id="18" name="Rounded Rectangle 17"/>
          <p:cNvSpPr/>
          <p:nvPr/>
        </p:nvSpPr>
        <p:spPr>
          <a:xfrm>
            <a:off x="457200" y="390906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0906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DEC-L07 · Mon 2026-12-28 · LinkedIn + X · Carousel</a:t>
            </a:r>
          </a:p>
        </p:txBody>
      </p:sp>
      <p:sp>
        <p:nvSpPr>
          <p:cNvPr id="20" name="TextBox 19"/>
          <p:cNvSpPr txBox="1"/>
          <p:nvPr/>
        </p:nvSpPr>
        <p:spPr>
          <a:xfrm>
            <a:off x="457200" y="436626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Looking back with gratitude  ·  Year and community  ·  T8 Type card</a:t>
            </a:r>
          </a:p>
        </p:txBody>
      </p:sp>
      <p:sp>
        <p:nvSpPr>
          <p:cNvPr id="21" name="TextBox 20"/>
          <p:cNvSpPr txBox="1"/>
          <p:nvPr/>
        </p:nvSpPr>
        <p:spPr>
          <a:xfrm>
            <a:off x="457200" y="471373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The message is: thank you. The cover is a quiet type card on deep emerald: the single word 'Thank you' large and centred in white, a thin mint rule beneath, one small line icon of a palm, a hairline frame 24 px inside the edge. No photograph.</a:t>
            </a:r>
          </a:p>
        </p:txBody>
      </p:sp>
      <p:sp>
        <p:nvSpPr>
          <p:cNvPr id="22" name="TextBox 21"/>
          <p:cNvSpPr txBox="1"/>
          <p:nvPr/>
        </p:nvSpPr>
        <p:spPr>
          <a:xfrm>
            <a:off x="457200" y="5353812"/>
            <a:ext cx="11247120" cy="548640"/>
          </a:xfrm>
          <a:prstGeom prst="rect">
            <a:avLst/>
          </a:prstGeom>
          <a:noFill/>
        </p:spPr>
        <p:txBody>
          <a:bodyPr wrap="square" lIns="36576" rIns="36576" tIns="18288" bIns="18288" anchor="t">
            <a:spAutoFit/>
          </a:bodyPr>
          <a:lstStyle/>
          <a:p>
            <a:pPr rtl="1" algn="r"/>
            <a:r>
              <a:rPr sz="850" b="0" i="0">
                <a:solidFill>
                  <a:srgbClr val="5B6B63"/>
                </a:solidFill>
                <a:latin typeface="Segoe UI"/>
                <a:cs typeface="Tahoma"/>
              </a:rPr>
              <a:t>Assets (relative to Sudair Assets): A048  OneDrive_2026-10-01/Gallery Photos/GHE25/sudair-pharma-global-health-2025-team.JPG | A016  News Photos-20261001T081151Z-1-001/News Photos/Copy of Agreements at GHE.JPG | A109  OneDrive_2026-10-01/Gallery Photos/معرض صنع في السعودية/sudair-pharma-saudi-made-2025-booth.JPG</a:t>
            </a:r>
          </a:p>
        </p:txBody>
      </p:sp>
      <p:sp>
        <p:nvSpPr>
          <p:cNvPr id="23" name="TextBox 22"/>
          <p:cNvSpPr txBox="1"/>
          <p:nvPr/>
        </p:nvSpPr>
        <p:spPr>
          <a:xfrm>
            <a:off x="457200" y="590245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مع اقتراب نهاية العام، نتوقف لنقول شكرًا. لفِرقنا في كل ورديّة، ولشركائنا على المنصّات، ولكل من تابعنا وكتب لنا. كل عام وأنتم بخير.</a:t>
            </a:r>
          </a:p>
          <a:p>
            <a:pPr algn="l"/>
            <a:r>
              <a:rPr sz="900" b="0" i="0">
                <a:solidFill>
                  <a:srgbClr val="142B22"/>
                </a:solidFill>
                <a:latin typeface="Segoe UI"/>
                <a:cs typeface="Tahoma"/>
              </a:rPr>
              <a:t>EN: As the year closes, we stop to say thank you. To our teams on every shift, to our partners on the stages, and to everyone who followed and wrote to us. Happy New Year from all of us at Sudair Pharma.</a:t>
            </a:r>
          </a:p>
        </p:txBody>
      </p:sp>
      <p:sp>
        <p:nvSpPr>
          <p:cNvPr id="24" name="TextBox 23"/>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Gratitude only: no results, no numbers, no claims, no forward-looking line beyond the seasonal greeting. Staff in A048 need written consent; soften ID badges. Host signage in A016 is event recap only.</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DEC-S11</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DEC-S11 · Mon 2026-12-28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The night shift  ·  Meet the makers  ·  T2 Team landscape</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فريق الليل</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في مكانه</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The night shift. · Still at work while the site is quiet.</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Full-bleed real frame of a colleague in full work suit (A012), graded to blue-hour teal-green with warm interior light, calm and still; a small chip reading NIGHT SHIFT. Keep 250 px free at the top and 340 px at the bottom.</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A012  Collective footage-20261001T081156Z-1-008/Collective footage/Camera/1/ALABBASY.8892.MP4</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فريق الليل في مكانه. شكرًا لمن يسهر.</a:t>
            </a:r>
          </a:p>
          <a:p>
            <a:pPr algn="l"/>
            <a:r>
              <a:rPr sz="900" b="0" i="0">
                <a:solidFill>
                  <a:srgbClr val="142B22"/>
                </a:solidFill>
                <a:latin typeface="Segoe UI"/>
                <a:cs typeface="Tahoma"/>
              </a:rPr>
              <a:t>EN: The night shift, at their post. Thank you to those who stay awake.</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Client to confirm a night shift runs; staff in A012 need written consent; no hour, count or explanation of the work.</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493776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493776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DEC-F12</a:t>
            </a:r>
          </a:p>
          <a:p>
            <a:pPr algn="ctr"/>
            <a:r>
              <a:rPr sz="900" b="1" i="0">
                <a:solidFill>
                  <a:srgbClr val="5B6B63"/>
                </a:solidFill>
                <a:latin typeface="Segoe UI"/>
                <a:cs typeface="Tahoma"/>
              </a:rPr>
              <a:t>1080 × 1350 px (4:5)</a:t>
            </a:r>
          </a:p>
        </p:txBody>
      </p:sp>
      <p:sp>
        <p:nvSpPr>
          <p:cNvPr id="5" name="Rounded Rectangle 4"/>
          <p:cNvSpPr/>
          <p:nvPr/>
        </p:nvSpPr>
        <p:spPr>
          <a:xfrm>
            <a:off x="5669280" y="457200"/>
            <a:ext cx="603504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0" y="457200"/>
            <a:ext cx="585215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DEC-F12 · Tue 2026-12-29 · Instagram + Facebook · Still</a:t>
            </a:r>
          </a:p>
        </p:txBody>
      </p:sp>
      <p:sp>
        <p:nvSpPr>
          <p:cNvPr id="7" name="TextBox 6"/>
          <p:cNvSpPr txBox="1"/>
          <p:nvPr/>
        </p:nvSpPr>
        <p:spPr>
          <a:xfrm>
            <a:off x="5669280" y="914400"/>
            <a:ext cx="603504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A quiet thank you  ·  Year and community  ·  T8 Type card</a:t>
            </a:r>
          </a:p>
        </p:txBody>
      </p:sp>
      <p:sp>
        <p:nvSpPr>
          <p:cNvPr id="8" name="TextBox 7"/>
          <p:cNvSpPr txBox="1"/>
          <p:nvPr/>
        </p:nvSpPr>
        <p:spPr>
          <a:xfrm>
            <a:off x="5669280" y="1261872"/>
            <a:ext cx="6035040"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شكرٌ هادئ</a:t>
            </a:r>
          </a:p>
        </p:txBody>
      </p:sp>
      <p:sp>
        <p:nvSpPr>
          <p:cNvPr id="9" name="TextBox 8"/>
          <p:cNvSpPr txBox="1"/>
          <p:nvPr/>
        </p:nvSpPr>
        <p:spPr>
          <a:xfrm>
            <a:off x="5669280" y="1673351"/>
            <a:ext cx="6035040"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لكل من كان معنا</a:t>
            </a:r>
          </a:p>
        </p:txBody>
      </p:sp>
      <p:sp>
        <p:nvSpPr>
          <p:cNvPr id="10" name="TextBox 9"/>
          <p:cNvSpPr txBox="1"/>
          <p:nvPr/>
        </p:nvSpPr>
        <p:spPr>
          <a:xfrm>
            <a:off x="5669280" y="2020824"/>
            <a:ext cx="6035040"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A quiet thank you. · To everyone who was with us in 2026.</a:t>
            </a:r>
          </a:p>
        </p:txBody>
      </p:sp>
      <p:sp>
        <p:nvSpPr>
          <p:cNvPr id="11" name="TextBox 10"/>
          <p:cNvSpPr txBox="1"/>
          <p:nvPr/>
        </p:nvSpPr>
        <p:spPr>
          <a:xfrm>
            <a:off x="5669280" y="2478024"/>
            <a:ext cx="603504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a quiet thank you to everyone who was with us. Deep emerald gradient, centred two-level Arabic headline, thin mint rule, one small white palm-burst line icon at 60 px, hairline inset frame 24 px from the edge. No photograph. Logo area top-left clear.</a:t>
            </a:r>
          </a:p>
        </p:txBody>
      </p:sp>
      <p:sp>
        <p:nvSpPr>
          <p:cNvPr id="12" name="TextBox 11"/>
          <p:cNvSpPr txBox="1"/>
          <p:nvPr/>
        </p:nvSpPr>
        <p:spPr>
          <a:xfrm>
            <a:off x="5669280" y="3255264"/>
            <a:ext cx="603504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Generated only</a:t>
            </a:r>
          </a:p>
        </p:txBody>
      </p:sp>
      <p:sp>
        <p:nvSpPr>
          <p:cNvPr id="13" name="TextBox 12"/>
          <p:cNvSpPr txBox="1"/>
          <p:nvPr/>
        </p:nvSpPr>
        <p:spPr>
          <a:xfrm>
            <a:off x="5669280" y="3803904"/>
            <a:ext cx="603504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شكرًا لكل من عمل معنا هذا العام، ولكل من تابعنا ورافقنا. نودّع 2026 بهدوء وامتنان. نلتقي في يناير.</a:t>
            </a:r>
          </a:p>
          <a:p>
            <a:pPr algn="l"/>
            <a:r>
              <a:rPr sz="900" b="0" i="0">
                <a:solidFill>
                  <a:srgbClr val="142B22"/>
                </a:solidFill>
                <a:latin typeface="Segoe UI"/>
                <a:cs typeface="Tahoma"/>
              </a:rPr>
              <a:t>EN: Thank you to everyone who worked with us this year, and to everyone who followed and stayed with us. We say goodbye to 2026 quietly and gratefully. See you in January.</a:t>
            </a:r>
          </a:p>
        </p:txBody>
      </p:sp>
      <p:sp>
        <p:nvSpPr>
          <p:cNvPr id="14" name="TextBox 13"/>
          <p:cNvSpPr txBox="1"/>
          <p:nvPr/>
        </p:nvSpPr>
        <p:spPr>
          <a:xfrm>
            <a:off x="5669280" y="6400800"/>
            <a:ext cx="603504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Gratitude only: no number, no result, no claim. 'See you in January' is a greeting, not a promise of content.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DEC-L08 · S1</a:t>
            </a:r>
          </a:p>
          <a:p>
            <a:pPr algn="ctr"/>
            <a:r>
              <a:rPr sz="900" b="1" i="0">
                <a:solidFill>
                  <a:srgbClr val="5B6B63"/>
                </a:solidFill>
                <a:latin typeface="Segoe UI"/>
                <a:cs typeface="Tahoma"/>
              </a:rPr>
              <a:t>1080 × 1350</a:t>
            </a:r>
          </a:p>
        </p:txBody>
      </p:sp>
      <p:sp>
        <p:nvSpPr>
          <p:cNvPr id="5" name="TextBox 4"/>
          <p:cNvSpPr txBox="1"/>
          <p:nvPr/>
        </p:nvSpPr>
        <p:spPr>
          <a:xfrm>
            <a:off x="45720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ما نحمله</a:t>
            </a:r>
          </a:p>
          <a:p>
            <a:pPr algn="l"/>
            <a:r>
              <a:rPr sz="850" b="0" i="0">
                <a:solidFill>
                  <a:srgbClr val="5B6B63"/>
                </a:solidFill>
                <a:latin typeface="Segoe UI"/>
                <a:cs typeface="Tahoma"/>
              </a:rPr>
              <a:t>What we carry into the new year</a:t>
            </a:r>
          </a:p>
        </p:txBody>
      </p:sp>
      <p:sp>
        <p:nvSpPr>
          <p:cNvPr id="6" name="Rounded Rectangle 5"/>
          <p:cNvSpPr/>
          <p:nvPr/>
        </p:nvSpPr>
        <p:spPr>
          <a:xfrm>
            <a:off x="265176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DEC-L08 · S2</a:t>
            </a:r>
          </a:p>
          <a:p>
            <a:pPr algn="ctr"/>
            <a:r>
              <a:rPr sz="900" b="1" i="0">
                <a:solidFill>
                  <a:srgbClr val="5B6B63"/>
                </a:solidFill>
                <a:latin typeface="Segoe UI"/>
                <a:cs typeface="Tahoma"/>
              </a:rPr>
              <a:t>1080 × 1350</a:t>
            </a:r>
          </a:p>
        </p:txBody>
      </p:sp>
      <p:sp>
        <p:nvSpPr>
          <p:cNvPr id="8" name="TextBox 7"/>
          <p:cNvSpPr txBox="1"/>
          <p:nvPr/>
        </p:nvSpPr>
        <p:spPr>
          <a:xfrm>
            <a:off x="265176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الناس</a:t>
            </a:r>
          </a:p>
          <a:p>
            <a:pPr algn="l"/>
            <a:r>
              <a:rPr sz="850" b="0" i="0">
                <a:solidFill>
                  <a:srgbClr val="5B6B63"/>
                </a:solidFill>
                <a:latin typeface="Segoe UI"/>
                <a:cs typeface="Tahoma"/>
              </a:rPr>
              <a:t>People at the centre</a:t>
            </a:r>
          </a:p>
        </p:txBody>
      </p:sp>
      <p:sp>
        <p:nvSpPr>
          <p:cNvPr id="9" name="Rounded Rectangle 8"/>
          <p:cNvSpPr/>
          <p:nvPr/>
        </p:nvSpPr>
        <p:spPr>
          <a:xfrm>
            <a:off x="484632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DEC-L08 · S3</a:t>
            </a:r>
          </a:p>
          <a:p>
            <a:pPr algn="ctr"/>
            <a:r>
              <a:rPr sz="900" b="1" i="0">
                <a:solidFill>
                  <a:srgbClr val="5B6B63"/>
                </a:solidFill>
                <a:latin typeface="Segoe UI"/>
                <a:cs typeface="Tahoma"/>
              </a:rPr>
              <a:t>1080 × 1350</a:t>
            </a:r>
          </a:p>
        </p:txBody>
      </p:sp>
      <p:sp>
        <p:nvSpPr>
          <p:cNvPr id="11" name="TextBox 10"/>
          <p:cNvSpPr txBox="1"/>
          <p:nvPr/>
        </p:nvSpPr>
        <p:spPr>
          <a:xfrm>
            <a:off x="484632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idea</a:t>
            </a:r>
          </a:p>
          <a:p>
            <a:pPr rtl="1" algn="r"/>
            <a:r>
              <a:rPr sz="850" b="0" i="0">
                <a:solidFill>
                  <a:srgbClr val="5B6B63"/>
                </a:solidFill>
                <a:latin typeface="Segoe UI"/>
                <a:cs typeface="Tahoma"/>
              </a:rPr>
              <a:t>احترام العمل</a:t>
            </a:r>
          </a:p>
          <a:p>
            <a:pPr algn="l"/>
            <a:r>
              <a:rPr sz="850" b="0" i="0">
                <a:solidFill>
                  <a:srgbClr val="5B6B63"/>
                </a:solidFill>
                <a:latin typeface="Segoe UI"/>
                <a:cs typeface="Tahoma"/>
              </a:rPr>
              <a:t>Respect for the work</a:t>
            </a:r>
          </a:p>
        </p:txBody>
      </p:sp>
      <p:sp>
        <p:nvSpPr>
          <p:cNvPr id="12" name="Rounded Rectangle 11"/>
          <p:cNvSpPr/>
          <p:nvPr/>
        </p:nvSpPr>
        <p:spPr>
          <a:xfrm>
            <a:off x="7040879"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79"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DEC-L08 · S4</a:t>
            </a:r>
          </a:p>
          <a:p>
            <a:pPr algn="ctr"/>
            <a:r>
              <a:rPr sz="900" b="1" i="0">
                <a:solidFill>
                  <a:srgbClr val="5B6B63"/>
                </a:solidFill>
                <a:latin typeface="Segoe UI"/>
                <a:cs typeface="Tahoma"/>
              </a:rPr>
              <a:t>1080 × 1350</a:t>
            </a:r>
          </a:p>
        </p:txBody>
      </p:sp>
      <p:sp>
        <p:nvSpPr>
          <p:cNvPr id="14" name="TextBox 13"/>
          <p:cNvSpPr txBox="1"/>
          <p:nvPr/>
        </p:nvSpPr>
        <p:spPr>
          <a:xfrm>
            <a:off x="7040879"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idea</a:t>
            </a:r>
          </a:p>
          <a:p>
            <a:pPr rtl="1" algn="r"/>
            <a:r>
              <a:rPr sz="850" b="0" i="0">
                <a:solidFill>
                  <a:srgbClr val="5B6B63"/>
                </a:solidFill>
                <a:latin typeface="Segoe UI"/>
                <a:cs typeface="Tahoma"/>
              </a:rPr>
              <a:t>الانتماء</a:t>
            </a:r>
          </a:p>
          <a:p>
            <a:pPr algn="l"/>
            <a:r>
              <a:rPr sz="850" b="0" i="0">
                <a:solidFill>
                  <a:srgbClr val="5B6B63"/>
                </a:solidFill>
                <a:latin typeface="Segoe UI"/>
                <a:cs typeface="Tahoma"/>
              </a:rPr>
              <a:t>Belonging to this place</a:t>
            </a:r>
          </a:p>
        </p:txBody>
      </p:sp>
      <p:sp>
        <p:nvSpPr>
          <p:cNvPr id="15" name="Rounded Rectangle 14"/>
          <p:cNvSpPr/>
          <p:nvPr/>
        </p:nvSpPr>
        <p:spPr>
          <a:xfrm>
            <a:off x="923544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DEC-L08 · S5</a:t>
            </a:r>
          </a:p>
          <a:p>
            <a:pPr algn="ctr"/>
            <a:r>
              <a:rPr sz="900" b="1" i="0">
                <a:solidFill>
                  <a:srgbClr val="5B6B63"/>
                </a:solidFill>
                <a:latin typeface="Segoe UI"/>
                <a:cs typeface="Tahoma"/>
              </a:rPr>
              <a:t>1080 × 1350</a:t>
            </a:r>
          </a:p>
        </p:txBody>
      </p:sp>
      <p:sp>
        <p:nvSpPr>
          <p:cNvPr id="17" name="TextBox 16"/>
          <p:cNvSpPr txBox="1"/>
          <p:nvPr/>
        </p:nvSpPr>
        <p:spPr>
          <a:xfrm>
            <a:off x="923544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cta</a:t>
            </a:r>
          </a:p>
          <a:p>
            <a:pPr rtl="1" algn="r"/>
            <a:r>
              <a:rPr sz="850" b="0" i="0">
                <a:solidFill>
                  <a:srgbClr val="5B6B63"/>
                </a:solidFill>
                <a:latin typeface="Segoe UI"/>
                <a:cs typeface="Tahoma"/>
              </a:rPr>
              <a:t>قيمٌ نحملها</a:t>
            </a:r>
          </a:p>
          <a:p>
            <a:pPr algn="l"/>
            <a:r>
              <a:rPr sz="850" b="0" i="0">
                <a:solidFill>
                  <a:srgbClr val="5B6B63"/>
                </a:solidFill>
                <a:latin typeface="Segoe UI"/>
                <a:cs typeface="Tahoma"/>
              </a:rPr>
              <a:t>Values we hold, people we value</a:t>
            </a:r>
          </a:p>
        </p:txBody>
      </p:sp>
      <p:sp>
        <p:nvSpPr>
          <p:cNvPr id="18" name="Rounded Rectangle 17"/>
          <p:cNvSpPr/>
          <p:nvPr/>
        </p:nvSpPr>
        <p:spPr>
          <a:xfrm>
            <a:off x="457200" y="390906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0906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DEC-L08 · Wed 2026-12-30 · LinkedIn + X · Carousel</a:t>
            </a:r>
          </a:p>
        </p:txBody>
      </p:sp>
      <p:sp>
        <p:nvSpPr>
          <p:cNvPr id="20" name="TextBox 19"/>
          <p:cNvSpPr txBox="1"/>
          <p:nvPr/>
        </p:nvSpPr>
        <p:spPr>
          <a:xfrm>
            <a:off x="457200" y="436626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What we carry into the new year: values and people  ·  People and careers  ·  T1 Glass object</a:t>
            </a:r>
          </a:p>
        </p:txBody>
      </p:sp>
      <p:sp>
        <p:nvSpPr>
          <p:cNvPr id="21" name="TextBox 20"/>
          <p:cNvSpPr txBox="1"/>
          <p:nvPr/>
        </p:nvSpPr>
        <p:spPr>
          <a:xfrm>
            <a:off x="457200" y="471373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The message is: values and people, held steadily. A semi-transparent glass palm-tree sculpture (a generic palm, not the logo) with brushed-metal base, soft studio light from the upper left, mint rim light, on a glossy emerald floor and the emerald gradient background with faint lattice; centred, 55 percent of tile height; three small icon chips under it: people, work, place.</a:t>
            </a:r>
          </a:p>
        </p:txBody>
      </p:sp>
      <p:sp>
        <p:nvSpPr>
          <p:cNvPr id="22" name="TextBox 21"/>
          <p:cNvSpPr txBox="1"/>
          <p:nvPr/>
        </p:nvSpPr>
        <p:spPr>
          <a:xfrm>
            <a:off x="457200" y="535381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A048  OneDrive_2026-10-01/Gallery Photos/GHE25/sudair-pharma-global-health-2025-team.JPG | A009  Collective footage-20261001T081156Z-1-008/Collective footage/Camera/1/ALABBASY.8842.MP4 | A001  Collective footage-20261001T081156Z-1-008/Collective footage/DJI_20260121084222_0001_D.MOV</a:t>
            </a:r>
          </a:p>
        </p:txBody>
      </p:sp>
      <p:sp>
        <p:nvSpPr>
          <p:cNvPr id="23" name="TextBox 22"/>
          <p:cNvSpPr txBox="1"/>
          <p:nvPr/>
        </p:nvSpPr>
        <p:spPr>
          <a:xfrm>
            <a:off x="457200" y="590245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ما الذي نحمله معنا إلى العام الجديد؟ قيمٌ وناس. الناس في المقدّمة، واحترام للعمل، وانتماء إلى هذا المكان. ما القيمة التي تحملونها أنتم؟</a:t>
            </a:r>
          </a:p>
          <a:p>
            <a:pPr algn="l"/>
            <a:r>
              <a:rPr sz="900" b="0" i="0">
                <a:solidFill>
                  <a:srgbClr val="142B22"/>
                </a:solidFill>
                <a:latin typeface="Segoe UI"/>
                <a:cs typeface="Tahoma"/>
              </a:rPr>
              <a:t>EN: What do we carry into the new year? Values and people. People at the centre, respect for the work, and belonging to this place. Which value do you carry?</a:t>
            </a:r>
          </a:p>
        </p:txBody>
      </p:sp>
      <p:sp>
        <p:nvSpPr>
          <p:cNvPr id="24" name="TextBox 23"/>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Values and people only: no promise, no target, no result, no statistic, no share or capital-market wording. Staff in A048 need written consent; soften ID badges.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DEC-S12</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DEC-S12 · Thu 2026-12-31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See you in January  ·  Year and community  ·  T8 Type card</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نلتقي</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في يناير</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See you in January. · Thank you for 2026.</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Deep emerald type card with a hairline inset frame, a thin mint rule and one small white palm-burst line icon at 60 px; centred two-level headline, space below for the countdown sticker. No photograph. Keep 250 px free at the top and 340 px at the bottom.</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Generated only</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نلتقي في يناير. شكرًا لعام 2026.</a:t>
            </a:r>
          </a:p>
          <a:p>
            <a:pPr algn="l"/>
            <a:r>
              <a:rPr sz="900" b="0" i="0">
                <a:solidFill>
                  <a:srgbClr val="142B22"/>
                </a:solidFill>
                <a:latin typeface="Segoe UI"/>
                <a:cs typeface="Tahoma"/>
              </a:rPr>
              <a:t>EN: See you in January. Thank you for 2026.</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Greeting only: the countdown names a month, promises no content, carries no claim.</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04301F"/>
        </a:solidFill>
        <a:effectLst/>
      </p:bgPr>
    </p:bg>
    <p:spTree>
      <p:nvGrpSpPr>
        <p:cNvPr id="1" name=""/>
        <p:cNvGrpSpPr/>
        <p:nvPr/>
      </p:nvGrpSpPr>
      <p:grpSpPr/>
      <p:sp>
        <p:nvSpPr>
          <p:cNvPr id="2" name="TextBox 1"/>
          <p:cNvSpPr txBox="1"/>
          <p:nvPr/>
        </p:nvSpPr>
        <p:spPr>
          <a:xfrm>
            <a:off x="640080" y="2194560"/>
            <a:ext cx="10058400" cy="914400"/>
          </a:xfrm>
          <a:prstGeom prst="rect">
            <a:avLst/>
          </a:prstGeom>
          <a:noFill/>
        </p:spPr>
        <p:txBody>
          <a:bodyPr wrap="square" lIns="36576" rIns="36576" tIns="18288" bIns="18288" anchor="t">
            <a:spAutoFit/>
          </a:bodyPr>
          <a:lstStyle/>
          <a:p>
            <a:pPr algn="l"/>
            <a:r>
              <a:rPr sz="4000" b="1" i="0">
                <a:solidFill>
                  <a:srgbClr val="FFFFFF"/>
                </a:solidFill>
                <a:latin typeface="Segoe UI"/>
                <a:cs typeface="Tahoma"/>
              </a:rPr>
              <a:t>January 2027</a:t>
            </a:r>
          </a:p>
        </p:txBody>
      </p:sp>
      <p:sp>
        <p:nvSpPr>
          <p:cNvPr id="3" name="TextBox 2"/>
          <p:cNvSpPr txBox="1"/>
          <p:nvPr/>
        </p:nvSpPr>
        <p:spPr>
          <a:xfrm>
            <a:off x="640080" y="3200400"/>
            <a:ext cx="10058400" cy="548640"/>
          </a:xfrm>
          <a:prstGeom prst="rect">
            <a:avLst/>
          </a:prstGeom>
          <a:noFill/>
        </p:spPr>
        <p:txBody>
          <a:bodyPr wrap="square" lIns="36576" rIns="36576" tIns="18288" bIns="18288" anchor="t">
            <a:spAutoFit/>
          </a:bodyPr>
          <a:lstStyle/>
          <a:p>
            <a:pPr algn="l"/>
            <a:r>
              <a:rPr sz="1600" b="0" i="0">
                <a:solidFill>
                  <a:srgbClr val="8EF0B0"/>
                </a:solidFill>
                <a:latin typeface="Segoe UI"/>
                <a:cs typeface="Tahoma"/>
              </a:rPr>
              <a:t>32 pieces: 12 feed, 12 stories, 8 LinkedIn + X carousels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48640"/>
          </a:xfrm>
          <a:prstGeom prst="rect">
            <a:avLst/>
          </a:prstGeom>
          <a:noFill/>
        </p:spPr>
        <p:txBody>
          <a:bodyPr wrap="square" lIns="36576" rIns="36576" tIns="18288" bIns="18288" anchor="t">
            <a:spAutoFit/>
          </a:bodyPr>
          <a:lstStyle/>
          <a:p>
            <a:pPr algn="l"/>
            <a:r>
              <a:rPr sz="2400" b="1" i="0">
                <a:solidFill>
                  <a:srgbClr val="0B4F35"/>
                </a:solidFill>
                <a:latin typeface="Segoe UI"/>
                <a:cs typeface="Tahoma"/>
              </a:rPr>
              <a:t>January 2027: Instagram + Facebook feed</a:t>
            </a:r>
          </a:p>
        </p:txBody>
      </p:sp>
      <p:sp>
        <p:nvSpPr>
          <p:cNvPr id="4" name="TextBox 3"/>
          <p:cNvSpPr txBox="1"/>
          <p:nvPr/>
        </p:nvSpPr>
        <p:spPr>
          <a:xfrm>
            <a:off x="457200" y="749808"/>
            <a:ext cx="11247120" cy="365760"/>
          </a:xfrm>
          <a:prstGeom prst="rect">
            <a:avLst/>
          </a:prstGeom>
          <a:noFill/>
        </p:spPr>
        <p:txBody>
          <a:bodyPr wrap="square" lIns="36576" rIns="36576" tIns="18288" bIns="18288" anchor="t">
            <a:spAutoFit/>
          </a:bodyPr>
          <a:lstStyle/>
          <a:p>
            <a:pPr algn="l"/>
            <a:r>
              <a:rPr sz="1200" b="0" i="0">
                <a:solidFill>
                  <a:srgbClr val="5B6B63"/>
                </a:solidFill>
                <a:latin typeface="Segoe UI"/>
                <a:cs typeface="Tahoma"/>
              </a:rPr>
              <a:t>12 pieces</a:t>
            </a:r>
          </a:p>
        </p:txBody>
      </p:sp>
      <p:sp>
        <p:nvSpPr>
          <p:cNvPr id="5" name="TextBox 4"/>
          <p:cNvSpPr txBox="1"/>
          <p:nvPr/>
        </p:nvSpPr>
        <p:spPr>
          <a:xfrm>
            <a:off x="11155680" y="6492240"/>
            <a:ext cx="731520" cy="274320"/>
          </a:xfrm>
          <a:prstGeom prst="rect">
            <a:avLst/>
          </a:prstGeom>
          <a:noFill/>
        </p:spPr>
        <p:txBody>
          <a:bodyPr wrap="square" lIns="36576" rIns="36576" tIns="18288" bIns="18288" anchor="t">
            <a:spAutoFit/>
          </a:bodyPr>
          <a:lstStyle/>
          <a:p>
            <a:pPr algn="r"/>
            <a:r>
              <a:rPr sz="900" b="0" i="0">
                <a:solidFill>
                  <a:srgbClr val="5B6B63"/>
                </a:solidFill>
                <a:latin typeface="Segoe UI"/>
                <a:cs typeface="Tahoma"/>
              </a:rPr>
              <a:t>86</a:t>
            </a:r>
          </a:p>
        </p:txBody>
      </p:sp>
      <p:sp>
        <p:nvSpPr>
          <p:cNvPr id="6" name="Rectangle 5"/>
          <p:cNvSpPr/>
          <p:nvPr/>
        </p:nvSpPr>
        <p:spPr>
          <a:xfrm>
            <a:off x="457200" y="1234440"/>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52728"/>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JAN-F01  01-03</a:t>
            </a:r>
          </a:p>
        </p:txBody>
      </p:sp>
      <p:sp>
        <p:nvSpPr>
          <p:cNvPr id="8" name="TextBox 7"/>
          <p:cNvSpPr txBox="1"/>
          <p:nvPr/>
        </p:nvSpPr>
        <p:spPr>
          <a:xfrm>
            <a:off x="1737360" y="1252728"/>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Sun · Still</a:t>
            </a:r>
          </a:p>
        </p:txBody>
      </p:sp>
      <p:sp>
        <p:nvSpPr>
          <p:cNvPr id="9" name="TextBox 8"/>
          <p:cNvSpPr txBox="1"/>
          <p:nvPr/>
        </p:nvSpPr>
        <p:spPr>
          <a:xfrm>
            <a:off x="2743200" y="1252728"/>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Same site, new year</a:t>
            </a:r>
          </a:p>
        </p:txBody>
      </p:sp>
      <p:sp>
        <p:nvSpPr>
          <p:cNvPr id="10" name="TextBox 9"/>
          <p:cNvSpPr txBox="1"/>
          <p:nvPr/>
        </p:nvSpPr>
        <p:spPr>
          <a:xfrm>
            <a:off x="7772400" y="1252728"/>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Local manufacturing</a:t>
            </a:r>
          </a:p>
        </p:txBody>
      </p:sp>
      <p:sp>
        <p:nvSpPr>
          <p:cNvPr id="11" name="TextBox 10"/>
          <p:cNvSpPr txBox="1"/>
          <p:nvPr/>
        </p:nvSpPr>
        <p:spPr>
          <a:xfrm>
            <a:off x="9875520" y="1252728"/>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T6 · REAL+GENERATED</a:t>
            </a:r>
          </a:p>
        </p:txBody>
      </p:sp>
      <p:sp>
        <p:nvSpPr>
          <p:cNvPr id="12" name="Rectangle 11"/>
          <p:cNvSpPr/>
          <p:nvPr/>
        </p:nvSpPr>
        <p:spPr>
          <a:xfrm>
            <a:off x="457200" y="1618488"/>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636776"/>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JAN-F02  01-05</a:t>
            </a:r>
          </a:p>
        </p:txBody>
      </p:sp>
      <p:sp>
        <p:nvSpPr>
          <p:cNvPr id="14" name="TextBox 13"/>
          <p:cNvSpPr txBox="1"/>
          <p:nvPr/>
        </p:nvSpPr>
        <p:spPr>
          <a:xfrm>
            <a:off x="1737360" y="1636776"/>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Tue · Reel</a:t>
            </a:r>
          </a:p>
        </p:txBody>
      </p:sp>
      <p:sp>
        <p:nvSpPr>
          <p:cNvPr id="15" name="TextBox 14"/>
          <p:cNvSpPr txBox="1"/>
          <p:nvPr/>
        </p:nvSpPr>
        <p:spPr>
          <a:xfrm>
            <a:off x="2743200" y="1636776"/>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Back on the line</a:t>
            </a:r>
          </a:p>
        </p:txBody>
      </p:sp>
      <p:sp>
        <p:nvSpPr>
          <p:cNvPr id="16" name="TextBox 15"/>
          <p:cNvSpPr txBox="1"/>
          <p:nvPr/>
        </p:nvSpPr>
        <p:spPr>
          <a:xfrm>
            <a:off x="7772400" y="1636776"/>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Meet the makers</a:t>
            </a:r>
          </a:p>
        </p:txBody>
      </p:sp>
      <p:sp>
        <p:nvSpPr>
          <p:cNvPr id="17" name="TextBox 16"/>
          <p:cNvSpPr txBox="1"/>
          <p:nvPr/>
        </p:nvSpPr>
        <p:spPr>
          <a:xfrm>
            <a:off x="9875520" y="1636776"/>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T2 · REAL</a:t>
            </a:r>
          </a:p>
        </p:txBody>
      </p:sp>
      <p:sp>
        <p:nvSpPr>
          <p:cNvPr id="18" name="Rectangle 17"/>
          <p:cNvSpPr/>
          <p:nvPr/>
        </p:nvSpPr>
        <p:spPr>
          <a:xfrm>
            <a:off x="457200" y="2002536"/>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020824"/>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JAN-F03  01-07</a:t>
            </a:r>
          </a:p>
        </p:txBody>
      </p:sp>
      <p:sp>
        <p:nvSpPr>
          <p:cNvPr id="20" name="TextBox 19"/>
          <p:cNvSpPr txBox="1"/>
          <p:nvPr/>
        </p:nvSpPr>
        <p:spPr>
          <a:xfrm>
            <a:off x="1737360" y="2020824"/>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Thu · Still</a:t>
            </a:r>
          </a:p>
        </p:txBody>
      </p:sp>
      <p:sp>
        <p:nvSpPr>
          <p:cNvPr id="21" name="TextBox 20"/>
          <p:cNvSpPr txBox="1"/>
          <p:nvPr/>
        </p:nvSpPr>
        <p:spPr>
          <a:xfrm>
            <a:off x="2743200" y="2020824"/>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New year, one site</a:t>
            </a:r>
          </a:p>
        </p:txBody>
      </p:sp>
      <p:sp>
        <p:nvSpPr>
          <p:cNvPr id="22" name="TextBox 21"/>
          <p:cNvSpPr txBox="1"/>
          <p:nvPr/>
        </p:nvSpPr>
        <p:spPr>
          <a:xfrm>
            <a:off x="7772400" y="2020824"/>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Year and community</a:t>
            </a:r>
          </a:p>
        </p:txBody>
      </p:sp>
      <p:sp>
        <p:nvSpPr>
          <p:cNvPr id="23" name="TextBox 22"/>
          <p:cNvSpPr txBox="1"/>
          <p:nvPr/>
        </p:nvSpPr>
        <p:spPr>
          <a:xfrm>
            <a:off x="9875520" y="2020824"/>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T8 · GENERATED</a:t>
            </a:r>
          </a:p>
        </p:txBody>
      </p:sp>
      <p:sp>
        <p:nvSpPr>
          <p:cNvPr id="24" name="Rectangle 23"/>
          <p:cNvSpPr/>
          <p:nvPr/>
        </p:nvSpPr>
        <p:spPr>
          <a:xfrm>
            <a:off x="457200" y="2386584"/>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2404872"/>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JAN-F04  01-10</a:t>
            </a:r>
          </a:p>
        </p:txBody>
      </p:sp>
      <p:sp>
        <p:nvSpPr>
          <p:cNvPr id="26" name="TextBox 25"/>
          <p:cNvSpPr txBox="1"/>
          <p:nvPr/>
        </p:nvSpPr>
        <p:spPr>
          <a:xfrm>
            <a:off x="1737360" y="2404872"/>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Sun · Still</a:t>
            </a:r>
          </a:p>
        </p:txBody>
      </p:sp>
      <p:sp>
        <p:nvSpPr>
          <p:cNvPr id="27" name="TextBox 26"/>
          <p:cNvSpPr txBox="1"/>
          <p:nvPr/>
        </p:nvSpPr>
        <p:spPr>
          <a:xfrm>
            <a:off x="2743200" y="2404872"/>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Step 6: release</a:t>
            </a:r>
          </a:p>
        </p:txBody>
      </p:sp>
      <p:sp>
        <p:nvSpPr>
          <p:cNvPr id="28" name="TextBox 27"/>
          <p:cNvSpPr txBox="1"/>
          <p:nvPr/>
        </p:nvSpPr>
        <p:spPr>
          <a:xfrm>
            <a:off x="7772400" y="2404872"/>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How it is made</a:t>
            </a:r>
          </a:p>
        </p:txBody>
      </p:sp>
      <p:sp>
        <p:nvSpPr>
          <p:cNvPr id="29" name="TextBox 28"/>
          <p:cNvSpPr txBox="1"/>
          <p:nvPr/>
        </p:nvSpPr>
        <p:spPr>
          <a:xfrm>
            <a:off x="9875520" y="2404872"/>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T1 · GENERATED</a:t>
            </a:r>
          </a:p>
        </p:txBody>
      </p:sp>
      <p:sp>
        <p:nvSpPr>
          <p:cNvPr id="30" name="Rectangle 29"/>
          <p:cNvSpPr/>
          <p:nvPr/>
        </p:nvSpPr>
        <p:spPr>
          <a:xfrm>
            <a:off x="457200" y="2770632"/>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2788920"/>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JAN-F05  01-12</a:t>
            </a:r>
          </a:p>
        </p:txBody>
      </p:sp>
      <p:sp>
        <p:nvSpPr>
          <p:cNvPr id="32" name="TextBox 31"/>
          <p:cNvSpPr txBox="1"/>
          <p:nvPr/>
        </p:nvSpPr>
        <p:spPr>
          <a:xfrm>
            <a:off x="1737360" y="2788920"/>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Tue · Carousel</a:t>
            </a:r>
          </a:p>
        </p:txBody>
      </p:sp>
      <p:sp>
        <p:nvSpPr>
          <p:cNvPr id="33" name="TextBox 32"/>
          <p:cNvSpPr txBox="1"/>
          <p:nvPr/>
        </p:nvSpPr>
        <p:spPr>
          <a:xfrm>
            <a:off x="2743200" y="2788920"/>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Seven steps, no secrets</a:t>
            </a:r>
          </a:p>
        </p:txBody>
      </p:sp>
      <p:sp>
        <p:nvSpPr>
          <p:cNvPr id="34" name="TextBox 33"/>
          <p:cNvSpPr txBox="1"/>
          <p:nvPr/>
        </p:nvSpPr>
        <p:spPr>
          <a:xfrm>
            <a:off x="7772400" y="2788920"/>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How it is made</a:t>
            </a:r>
          </a:p>
        </p:txBody>
      </p:sp>
      <p:sp>
        <p:nvSpPr>
          <p:cNvPr id="35" name="TextBox 34"/>
          <p:cNvSpPr txBox="1"/>
          <p:nvPr/>
        </p:nvSpPr>
        <p:spPr>
          <a:xfrm>
            <a:off x="9875520" y="2788920"/>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T9 · REAL+GENERATED</a:t>
            </a:r>
          </a:p>
        </p:txBody>
      </p:sp>
      <p:sp>
        <p:nvSpPr>
          <p:cNvPr id="36" name="Rectangle 35"/>
          <p:cNvSpPr/>
          <p:nvPr/>
        </p:nvSpPr>
        <p:spPr>
          <a:xfrm>
            <a:off x="457200" y="3154679"/>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3172968"/>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JAN-F06  01-14</a:t>
            </a:r>
          </a:p>
        </p:txBody>
      </p:sp>
      <p:sp>
        <p:nvSpPr>
          <p:cNvPr id="38" name="TextBox 37"/>
          <p:cNvSpPr txBox="1"/>
          <p:nvPr/>
        </p:nvSpPr>
        <p:spPr>
          <a:xfrm>
            <a:off x="1737360" y="3172968"/>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Thu · Reel</a:t>
            </a:r>
          </a:p>
        </p:txBody>
      </p:sp>
      <p:sp>
        <p:nvSpPr>
          <p:cNvPr id="39" name="TextBox 38"/>
          <p:cNvSpPr txBox="1"/>
          <p:nvPr/>
        </p:nvSpPr>
        <p:spPr>
          <a:xfrm>
            <a:off x="2743200" y="3172968"/>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The whole line, in order</a:t>
            </a:r>
          </a:p>
        </p:txBody>
      </p:sp>
      <p:sp>
        <p:nvSpPr>
          <p:cNvPr id="40" name="TextBox 39"/>
          <p:cNvSpPr txBox="1"/>
          <p:nvPr/>
        </p:nvSpPr>
        <p:spPr>
          <a:xfrm>
            <a:off x="7772400" y="3172968"/>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How it is made</a:t>
            </a:r>
          </a:p>
        </p:txBody>
      </p:sp>
      <p:sp>
        <p:nvSpPr>
          <p:cNvPr id="41" name="TextBox 40"/>
          <p:cNvSpPr txBox="1"/>
          <p:nvPr/>
        </p:nvSpPr>
        <p:spPr>
          <a:xfrm>
            <a:off x="9875520" y="3172968"/>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T6 · REAL+GENERATED</a:t>
            </a:r>
          </a:p>
        </p:txBody>
      </p:sp>
      <p:sp>
        <p:nvSpPr>
          <p:cNvPr id="42" name="Rectangle 41"/>
          <p:cNvSpPr/>
          <p:nvPr/>
        </p:nvSpPr>
        <p:spPr>
          <a:xfrm>
            <a:off x="457200" y="3538727"/>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3557015"/>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JAN-F07  01-17</a:t>
            </a:r>
          </a:p>
        </p:txBody>
      </p:sp>
      <p:sp>
        <p:nvSpPr>
          <p:cNvPr id="44" name="TextBox 43"/>
          <p:cNvSpPr txBox="1"/>
          <p:nvPr/>
        </p:nvSpPr>
        <p:spPr>
          <a:xfrm>
            <a:off x="1737360" y="3557015"/>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Sun · Still</a:t>
            </a:r>
          </a:p>
        </p:txBody>
      </p:sp>
      <p:sp>
        <p:nvSpPr>
          <p:cNvPr id="45" name="TextBox 44"/>
          <p:cNvSpPr txBox="1"/>
          <p:nvPr/>
        </p:nvSpPr>
        <p:spPr>
          <a:xfrm>
            <a:off x="2743200" y="3557015"/>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Automated, not absent</a:t>
            </a:r>
          </a:p>
        </p:txBody>
      </p:sp>
      <p:sp>
        <p:nvSpPr>
          <p:cNvPr id="46" name="TextBox 45"/>
          <p:cNvSpPr txBox="1"/>
          <p:nvPr/>
        </p:nvSpPr>
        <p:spPr>
          <a:xfrm>
            <a:off x="7772400" y="3557015"/>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Local manufacturing</a:t>
            </a:r>
          </a:p>
        </p:txBody>
      </p:sp>
      <p:sp>
        <p:nvSpPr>
          <p:cNvPr id="47" name="TextBox 46"/>
          <p:cNvSpPr txBox="1"/>
          <p:nvPr/>
        </p:nvSpPr>
        <p:spPr>
          <a:xfrm>
            <a:off x="9875520" y="3557015"/>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T3 · REAL</a:t>
            </a:r>
          </a:p>
        </p:txBody>
      </p:sp>
      <p:sp>
        <p:nvSpPr>
          <p:cNvPr id="48" name="Rectangle 47"/>
          <p:cNvSpPr/>
          <p:nvPr/>
        </p:nvSpPr>
        <p:spPr>
          <a:xfrm>
            <a:off x="457200" y="3922776"/>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2920" y="3941063"/>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JAN-F08  01-19</a:t>
            </a:r>
          </a:p>
        </p:txBody>
      </p:sp>
      <p:sp>
        <p:nvSpPr>
          <p:cNvPr id="50" name="TextBox 49"/>
          <p:cNvSpPr txBox="1"/>
          <p:nvPr/>
        </p:nvSpPr>
        <p:spPr>
          <a:xfrm>
            <a:off x="1737360" y="3941063"/>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Tue · Reel</a:t>
            </a:r>
          </a:p>
        </p:txBody>
      </p:sp>
      <p:sp>
        <p:nvSpPr>
          <p:cNvPr id="51" name="TextBox 50"/>
          <p:cNvSpPr txBox="1"/>
          <p:nvPr/>
        </p:nvSpPr>
        <p:spPr>
          <a:xfrm>
            <a:off x="2743200" y="3941063"/>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Technology on the line</a:t>
            </a:r>
          </a:p>
        </p:txBody>
      </p:sp>
      <p:sp>
        <p:nvSpPr>
          <p:cNvPr id="52" name="TextBox 51"/>
          <p:cNvSpPr txBox="1"/>
          <p:nvPr/>
        </p:nvSpPr>
        <p:spPr>
          <a:xfrm>
            <a:off x="7772400" y="3941063"/>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How it is made</a:t>
            </a:r>
          </a:p>
        </p:txBody>
      </p:sp>
      <p:sp>
        <p:nvSpPr>
          <p:cNvPr id="53" name="TextBox 52"/>
          <p:cNvSpPr txBox="1"/>
          <p:nvPr/>
        </p:nvSpPr>
        <p:spPr>
          <a:xfrm>
            <a:off x="9875520" y="3941063"/>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T7 · REAL+GENERATED</a:t>
            </a:r>
          </a:p>
        </p:txBody>
      </p:sp>
      <p:sp>
        <p:nvSpPr>
          <p:cNvPr id="54" name="Rectangle 53"/>
          <p:cNvSpPr/>
          <p:nvPr/>
        </p:nvSpPr>
        <p:spPr>
          <a:xfrm>
            <a:off x="457200" y="4306824"/>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02920" y="4325112"/>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JAN-F09  01-21</a:t>
            </a:r>
          </a:p>
        </p:txBody>
      </p:sp>
      <p:sp>
        <p:nvSpPr>
          <p:cNvPr id="56" name="TextBox 55"/>
          <p:cNvSpPr txBox="1"/>
          <p:nvPr/>
        </p:nvSpPr>
        <p:spPr>
          <a:xfrm>
            <a:off x="1737360" y="4325112"/>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Thu · Carousel</a:t>
            </a:r>
          </a:p>
        </p:txBody>
      </p:sp>
      <p:sp>
        <p:nvSpPr>
          <p:cNvPr id="57" name="TextBox 56"/>
          <p:cNvSpPr txBox="1"/>
          <p:nvPr/>
        </p:nvSpPr>
        <p:spPr>
          <a:xfrm>
            <a:off x="2743200" y="4325112"/>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The unglamorous half of innovation</a:t>
            </a:r>
          </a:p>
        </p:txBody>
      </p:sp>
      <p:sp>
        <p:nvSpPr>
          <p:cNvPr id="58" name="TextBox 57"/>
          <p:cNvSpPr txBox="1"/>
          <p:nvPr/>
        </p:nvSpPr>
        <p:spPr>
          <a:xfrm>
            <a:off x="7772400" y="4325112"/>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Quality and trust</a:t>
            </a:r>
          </a:p>
        </p:txBody>
      </p:sp>
      <p:sp>
        <p:nvSpPr>
          <p:cNvPr id="59" name="TextBox 58"/>
          <p:cNvSpPr txBox="1"/>
          <p:nvPr/>
        </p:nvSpPr>
        <p:spPr>
          <a:xfrm>
            <a:off x="9875520" y="4325112"/>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T4 · REAL+GENERATED</a:t>
            </a:r>
          </a:p>
        </p:txBody>
      </p:sp>
      <p:sp>
        <p:nvSpPr>
          <p:cNvPr id="60" name="Rectangle 59"/>
          <p:cNvSpPr/>
          <p:nvPr/>
        </p:nvSpPr>
        <p:spPr>
          <a:xfrm>
            <a:off x="457200" y="4690872"/>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02920" y="4709159"/>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JAN-F10  01-24</a:t>
            </a:r>
          </a:p>
        </p:txBody>
      </p:sp>
      <p:sp>
        <p:nvSpPr>
          <p:cNvPr id="62" name="TextBox 61"/>
          <p:cNvSpPr txBox="1"/>
          <p:nvPr/>
        </p:nvSpPr>
        <p:spPr>
          <a:xfrm>
            <a:off x="1737360" y="4709159"/>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Sun · Still</a:t>
            </a:r>
          </a:p>
        </p:txBody>
      </p:sp>
      <p:sp>
        <p:nvSpPr>
          <p:cNvPr id="63" name="TextBox 62"/>
          <p:cNvSpPr txBox="1"/>
          <p:nvPr/>
        </p:nvSpPr>
        <p:spPr>
          <a:xfrm>
            <a:off x="2743200" y="4709159"/>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Quality control: how a batch is checked and released</a:t>
            </a:r>
          </a:p>
        </p:txBody>
      </p:sp>
      <p:sp>
        <p:nvSpPr>
          <p:cNvPr id="64" name="TextBox 63"/>
          <p:cNvSpPr txBox="1"/>
          <p:nvPr/>
        </p:nvSpPr>
        <p:spPr>
          <a:xfrm>
            <a:off x="7772400" y="4709159"/>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Quality and trust</a:t>
            </a:r>
          </a:p>
        </p:txBody>
      </p:sp>
      <p:sp>
        <p:nvSpPr>
          <p:cNvPr id="65" name="TextBox 64"/>
          <p:cNvSpPr txBox="1"/>
          <p:nvPr/>
        </p:nvSpPr>
        <p:spPr>
          <a:xfrm>
            <a:off x="9875520" y="4709159"/>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T8 · GENERATED</a:t>
            </a:r>
          </a:p>
        </p:txBody>
      </p:sp>
      <p:sp>
        <p:nvSpPr>
          <p:cNvPr id="66" name="Rectangle 65"/>
          <p:cNvSpPr/>
          <p:nvPr/>
        </p:nvSpPr>
        <p:spPr>
          <a:xfrm>
            <a:off x="457200" y="5074920"/>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02920" y="5093207"/>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JAN-F11  01-26</a:t>
            </a:r>
          </a:p>
        </p:txBody>
      </p:sp>
      <p:sp>
        <p:nvSpPr>
          <p:cNvPr id="68" name="TextBox 67"/>
          <p:cNvSpPr txBox="1"/>
          <p:nvPr/>
        </p:nvSpPr>
        <p:spPr>
          <a:xfrm>
            <a:off x="1737360" y="5093207"/>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Tue · Still</a:t>
            </a:r>
          </a:p>
        </p:txBody>
      </p:sp>
      <p:sp>
        <p:nvSpPr>
          <p:cNvPr id="69" name="TextBox 68"/>
          <p:cNvSpPr txBox="1"/>
          <p:nvPr/>
        </p:nvSpPr>
        <p:spPr>
          <a:xfrm>
            <a:off x="2743200" y="5093207"/>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Meet the quality team</a:t>
            </a:r>
          </a:p>
        </p:txBody>
      </p:sp>
      <p:sp>
        <p:nvSpPr>
          <p:cNvPr id="70" name="TextBox 69"/>
          <p:cNvSpPr txBox="1"/>
          <p:nvPr/>
        </p:nvSpPr>
        <p:spPr>
          <a:xfrm>
            <a:off x="7772400" y="5093207"/>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People and careers</a:t>
            </a:r>
          </a:p>
        </p:txBody>
      </p:sp>
      <p:sp>
        <p:nvSpPr>
          <p:cNvPr id="71" name="TextBox 70"/>
          <p:cNvSpPr txBox="1"/>
          <p:nvPr/>
        </p:nvSpPr>
        <p:spPr>
          <a:xfrm>
            <a:off x="9875520" y="5093207"/>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T2 · REAL</a:t>
            </a:r>
          </a:p>
        </p:txBody>
      </p:sp>
      <p:sp>
        <p:nvSpPr>
          <p:cNvPr id="72" name="Rectangle 71"/>
          <p:cNvSpPr/>
          <p:nvPr/>
        </p:nvSpPr>
        <p:spPr>
          <a:xfrm>
            <a:off x="457200" y="5458968"/>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02920" y="5477255"/>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JAN-F12  01-28</a:t>
            </a:r>
          </a:p>
        </p:txBody>
      </p:sp>
      <p:sp>
        <p:nvSpPr>
          <p:cNvPr id="74" name="TextBox 73"/>
          <p:cNvSpPr txBox="1"/>
          <p:nvPr/>
        </p:nvSpPr>
        <p:spPr>
          <a:xfrm>
            <a:off x="1737360" y="5477255"/>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Thu · Carousel</a:t>
            </a:r>
          </a:p>
        </p:txBody>
      </p:sp>
      <p:sp>
        <p:nvSpPr>
          <p:cNvPr id="75" name="TextBox 74"/>
          <p:cNvSpPr txBox="1"/>
          <p:nvPr/>
        </p:nvSpPr>
        <p:spPr>
          <a:xfrm>
            <a:off x="2743200" y="5477255"/>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A week in the plant</a:t>
            </a:r>
          </a:p>
        </p:txBody>
      </p:sp>
      <p:sp>
        <p:nvSpPr>
          <p:cNvPr id="76" name="TextBox 75"/>
          <p:cNvSpPr txBox="1"/>
          <p:nvPr/>
        </p:nvSpPr>
        <p:spPr>
          <a:xfrm>
            <a:off x="7772400" y="5477255"/>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Meet the makers</a:t>
            </a:r>
          </a:p>
        </p:txBody>
      </p:sp>
      <p:sp>
        <p:nvSpPr>
          <p:cNvPr id="77" name="TextBox 76"/>
          <p:cNvSpPr txBox="1"/>
          <p:nvPr/>
        </p:nvSpPr>
        <p:spPr>
          <a:xfrm>
            <a:off x="9875520" y="5477255"/>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T9 · REAL+GENERATED</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48640"/>
          </a:xfrm>
          <a:prstGeom prst="rect">
            <a:avLst/>
          </a:prstGeom>
          <a:noFill/>
        </p:spPr>
        <p:txBody>
          <a:bodyPr wrap="square" lIns="36576" rIns="36576" tIns="18288" bIns="18288" anchor="t">
            <a:spAutoFit/>
          </a:bodyPr>
          <a:lstStyle/>
          <a:p>
            <a:pPr algn="l"/>
            <a:r>
              <a:rPr sz="2400" b="1" i="0">
                <a:solidFill>
                  <a:srgbClr val="0B4F35"/>
                </a:solidFill>
                <a:latin typeface="Segoe UI"/>
                <a:cs typeface="Tahoma"/>
              </a:rPr>
              <a:t>January 2027: Instagram + Facebook stories</a:t>
            </a:r>
          </a:p>
        </p:txBody>
      </p:sp>
      <p:sp>
        <p:nvSpPr>
          <p:cNvPr id="4" name="TextBox 3"/>
          <p:cNvSpPr txBox="1"/>
          <p:nvPr/>
        </p:nvSpPr>
        <p:spPr>
          <a:xfrm>
            <a:off x="457200" y="749808"/>
            <a:ext cx="11247120" cy="365760"/>
          </a:xfrm>
          <a:prstGeom prst="rect">
            <a:avLst/>
          </a:prstGeom>
          <a:noFill/>
        </p:spPr>
        <p:txBody>
          <a:bodyPr wrap="square" lIns="36576" rIns="36576" tIns="18288" bIns="18288" anchor="t">
            <a:spAutoFit/>
          </a:bodyPr>
          <a:lstStyle/>
          <a:p>
            <a:pPr algn="l"/>
            <a:r>
              <a:rPr sz="1200" b="0" i="0">
                <a:solidFill>
                  <a:srgbClr val="5B6B63"/>
                </a:solidFill>
                <a:latin typeface="Segoe UI"/>
                <a:cs typeface="Tahoma"/>
              </a:rPr>
              <a:t>12 pieces</a:t>
            </a:r>
          </a:p>
        </p:txBody>
      </p:sp>
      <p:sp>
        <p:nvSpPr>
          <p:cNvPr id="5" name="TextBox 4"/>
          <p:cNvSpPr txBox="1"/>
          <p:nvPr/>
        </p:nvSpPr>
        <p:spPr>
          <a:xfrm>
            <a:off x="11155680" y="6492240"/>
            <a:ext cx="731520" cy="274320"/>
          </a:xfrm>
          <a:prstGeom prst="rect">
            <a:avLst/>
          </a:prstGeom>
          <a:noFill/>
        </p:spPr>
        <p:txBody>
          <a:bodyPr wrap="square" lIns="36576" rIns="36576" tIns="18288" bIns="18288" anchor="t">
            <a:spAutoFit/>
          </a:bodyPr>
          <a:lstStyle/>
          <a:p>
            <a:pPr algn="r"/>
            <a:r>
              <a:rPr sz="900" b="0" i="0">
                <a:solidFill>
                  <a:srgbClr val="5B6B63"/>
                </a:solidFill>
                <a:latin typeface="Segoe UI"/>
                <a:cs typeface="Tahoma"/>
              </a:rPr>
              <a:t>87</a:t>
            </a:r>
          </a:p>
        </p:txBody>
      </p:sp>
      <p:sp>
        <p:nvSpPr>
          <p:cNvPr id="6" name="Rectangle 5"/>
          <p:cNvSpPr/>
          <p:nvPr/>
        </p:nvSpPr>
        <p:spPr>
          <a:xfrm>
            <a:off x="457200" y="1234440"/>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52728"/>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JAN-S01  01-04</a:t>
            </a:r>
          </a:p>
        </p:txBody>
      </p:sp>
      <p:sp>
        <p:nvSpPr>
          <p:cNvPr id="8" name="TextBox 7"/>
          <p:cNvSpPr txBox="1"/>
          <p:nvPr/>
        </p:nvSpPr>
        <p:spPr>
          <a:xfrm>
            <a:off x="1737360" y="1252728"/>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Mon · Story</a:t>
            </a:r>
          </a:p>
        </p:txBody>
      </p:sp>
      <p:sp>
        <p:nvSpPr>
          <p:cNvPr id="9" name="TextBox 8"/>
          <p:cNvSpPr txBox="1"/>
          <p:nvPr/>
        </p:nvSpPr>
        <p:spPr>
          <a:xfrm>
            <a:off x="2743200" y="1252728"/>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Happy new year</a:t>
            </a:r>
          </a:p>
        </p:txBody>
      </p:sp>
      <p:sp>
        <p:nvSpPr>
          <p:cNvPr id="10" name="TextBox 9"/>
          <p:cNvSpPr txBox="1"/>
          <p:nvPr/>
        </p:nvSpPr>
        <p:spPr>
          <a:xfrm>
            <a:off x="7772400" y="1252728"/>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Year and community</a:t>
            </a:r>
          </a:p>
        </p:txBody>
      </p:sp>
      <p:sp>
        <p:nvSpPr>
          <p:cNvPr id="11" name="TextBox 10"/>
          <p:cNvSpPr txBox="1"/>
          <p:nvPr/>
        </p:nvSpPr>
        <p:spPr>
          <a:xfrm>
            <a:off x="9875520" y="1252728"/>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T1 · GENERATED</a:t>
            </a:r>
          </a:p>
        </p:txBody>
      </p:sp>
      <p:sp>
        <p:nvSpPr>
          <p:cNvPr id="12" name="Rectangle 11"/>
          <p:cNvSpPr/>
          <p:nvPr/>
        </p:nvSpPr>
        <p:spPr>
          <a:xfrm>
            <a:off x="457200" y="1618488"/>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636776"/>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JAN-S02  01-06</a:t>
            </a:r>
          </a:p>
        </p:txBody>
      </p:sp>
      <p:sp>
        <p:nvSpPr>
          <p:cNvPr id="14" name="TextBox 13"/>
          <p:cNvSpPr txBox="1"/>
          <p:nvPr/>
        </p:nvSpPr>
        <p:spPr>
          <a:xfrm>
            <a:off x="1737360" y="1636776"/>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Wed · Story</a:t>
            </a:r>
          </a:p>
        </p:txBody>
      </p:sp>
      <p:sp>
        <p:nvSpPr>
          <p:cNvPr id="15" name="TextBox 14"/>
          <p:cNvSpPr txBox="1"/>
          <p:nvPr/>
        </p:nvSpPr>
        <p:spPr>
          <a:xfrm>
            <a:off x="2743200" y="1636776"/>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Week one, same rhythm</a:t>
            </a:r>
          </a:p>
        </p:txBody>
      </p:sp>
      <p:sp>
        <p:nvSpPr>
          <p:cNvPr id="16" name="TextBox 15"/>
          <p:cNvSpPr txBox="1"/>
          <p:nvPr/>
        </p:nvSpPr>
        <p:spPr>
          <a:xfrm>
            <a:off x="7772400" y="1636776"/>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Meet the makers</a:t>
            </a:r>
          </a:p>
        </p:txBody>
      </p:sp>
      <p:sp>
        <p:nvSpPr>
          <p:cNvPr id="17" name="TextBox 16"/>
          <p:cNvSpPr txBox="1"/>
          <p:nvPr/>
        </p:nvSpPr>
        <p:spPr>
          <a:xfrm>
            <a:off x="9875520" y="1636776"/>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T2 · REAL</a:t>
            </a:r>
          </a:p>
        </p:txBody>
      </p:sp>
      <p:sp>
        <p:nvSpPr>
          <p:cNvPr id="18" name="Rectangle 17"/>
          <p:cNvSpPr/>
          <p:nvPr/>
        </p:nvSpPr>
        <p:spPr>
          <a:xfrm>
            <a:off x="457200" y="2002536"/>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020824"/>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JAN-S03  01-07</a:t>
            </a:r>
          </a:p>
        </p:txBody>
      </p:sp>
      <p:sp>
        <p:nvSpPr>
          <p:cNvPr id="20" name="TextBox 19"/>
          <p:cNvSpPr txBox="1"/>
          <p:nvPr/>
        </p:nvSpPr>
        <p:spPr>
          <a:xfrm>
            <a:off x="1737360" y="2020824"/>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Thu · Story</a:t>
            </a:r>
          </a:p>
        </p:txBody>
      </p:sp>
      <p:sp>
        <p:nvSpPr>
          <p:cNvPr id="21" name="TextBox 20"/>
          <p:cNvSpPr txBox="1"/>
          <p:nvPr/>
        </p:nvSpPr>
        <p:spPr>
          <a:xfrm>
            <a:off x="2743200" y="2020824"/>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Question box</a:t>
            </a:r>
          </a:p>
        </p:txBody>
      </p:sp>
      <p:sp>
        <p:nvSpPr>
          <p:cNvPr id="22" name="TextBox 21"/>
          <p:cNvSpPr txBox="1"/>
          <p:nvPr/>
        </p:nvSpPr>
        <p:spPr>
          <a:xfrm>
            <a:off x="7772400" y="2020824"/>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Year and community</a:t>
            </a:r>
          </a:p>
        </p:txBody>
      </p:sp>
      <p:sp>
        <p:nvSpPr>
          <p:cNvPr id="23" name="TextBox 22"/>
          <p:cNvSpPr txBox="1"/>
          <p:nvPr/>
        </p:nvSpPr>
        <p:spPr>
          <a:xfrm>
            <a:off x="9875520" y="2020824"/>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T8 · GENERATED</a:t>
            </a:r>
          </a:p>
        </p:txBody>
      </p:sp>
      <p:sp>
        <p:nvSpPr>
          <p:cNvPr id="24" name="Rectangle 23"/>
          <p:cNvSpPr/>
          <p:nvPr/>
        </p:nvSpPr>
        <p:spPr>
          <a:xfrm>
            <a:off x="457200" y="2386584"/>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2404872"/>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JAN-S04  01-11</a:t>
            </a:r>
          </a:p>
        </p:txBody>
      </p:sp>
      <p:sp>
        <p:nvSpPr>
          <p:cNvPr id="26" name="TextBox 25"/>
          <p:cNvSpPr txBox="1"/>
          <p:nvPr/>
        </p:nvSpPr>
        <p:spPr>
          <a:xfrm>
            <a:off x="1737360" y="2404872"/>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Mon · Story</a:t>
            </a:r>
          </a:p>
        </p:txBody>
      </p:sp>
      <p:sp>
        <p:nvSpPr>
          <p:cNvPr id="27" name="TextBox 26"/>
          <p:cNvSpPr txBox="1"/>
          <p:nvPr/>
        </p:nvSpPr>
        <p:spPr>
          <a:xfrm>
            <a:off x="2743200" y="2404872"/>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Step of the day</a:t>
            </a:r>
          </a:p>
        </p:txBody>
      </p:sp>
      <p:sp>
        <p:nvSpPr>
          <p:cNvPr id="28" name="TextBox 27"/>
          <p:cNvSpPr txBox="1"/>
          <p:nvPr/>
        </p:nvSpPr>
        <p:spPr>
          <a:xfrm>
            <a:off x="7772400" y="2404872"/>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How it is made</a:t>
            </a:r>
          </a:p>
        </p:txBody>
      </p:sp>
      <p:sp>
        <p:nvSpPr>
          <p:cNvPr id="29" name="TextBox 28"/>
          <p:cNvSpPr txBox="1"/>
          <p:nvPr/>
        </p:nvSpPr>
        <p:spPr>
          <a:xfrm>
            <a:off x="9875520" y="2404872"/>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T9 · REAL+GENERATED</a:t>
            </a:r>
          </a:p>
        </p:txBody>
      </p:sp>
      <p:sp>
        <p:nvSpPr>
          <p:cNvPr id="30" name="Rectangle 29"/>
          <p:cNvSpPr/>
          <p:nvPr/>
        </p:nvSpPr>
        <p:spPr>
          <a:xfrm>
            <a:off x="457200" y="2770632"/>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2788920"/>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JAN-S05  01-13</a:t>
            </a:r>
          </a:p>
        </p:txBody>
      </p:sp>
      <p:sp>
        <p:nvSpPr>
          <p:cNvPr id="32" name="TextBox 31"/>
          <p:cNvSpPr txBox="1"/>
          <p:nvPr/>
        </p:nvSpPr>
        <p:spPr>
          <a:xfrm>
            <a:off x="1737360" y="2788920"/>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Wed · Story</a:t>
            </a:r>
          </a:p>
        </p:txBody>
      </p:sp>
      <p:sp>
        <p:nvSpPr>
          <p:cNvPr id="33" name="TextBox 32"/>
          <p:cNvSpPr txBox="1"/>
          <p:nvPr/>
        </p:nvSpPr>
        <p:spPr>
          <a:xfrm>
            <a:off x="2743200" y="2788920"/>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Poll: which step surprised you?</a:t>
            </a:r>
          </a:p>
        </p:txBody>
      </p:sp>
      <p:sp>
        <p:nvSpPr>
          <p:cNvPr id="34" name="TextBox 33"/>
          <p:cNvSpPr txBox="1"/>
          <p:nvPr/>
        </p:nvSpPr>
        <p:spPr>
          <a:xfrm>
            <a:off x="7772400" y="2788920"/>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How it is made</a:t>
            </a:r>
          </a:p>
        </p:txBody>
      </p:sp>
      <p:sp>
        <p:nvSpPr>
          <p:cNvPr id="35" name="TextBox 34"/>
          <p:cNvSpPr txBox="1"/>
          <p:nvPr/>
        </p:nvSpPr>
        <p:spPr>
          <a:xfrm>
            <a:off x="9875520" y="2788920"/>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T4 · GENERATED</a:t>
            </a:r>
          </a:p>
        </p:txBody>
      </p:sp>
      <p:sp>
        <p:nvSpPr>
          <p:cNvPr id="36" name="Rectangle 35"/>
          <p:cNvSpPr/>
          <p:nvPr/>
        </p:nvSpPr>
        <p:spPr>
          <a:xfrm>
            <a:off x="457200" y="3154679"/>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3172968"/>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JAN-S06  01-14</a:t>
            </a:r>
          </a:p>
        </p:txBody>
      </p:sp>
      <p:sp>
        <p:nvSpPr>
          <p:cNvPr id="38" name="TextBox 37"/>
          <p:cNvSpPr txBox="1"/>
          <p:nvPr/>
        </p:nvSpPr>
        <p:spPr>
          <a:xfrm>
            <a:off x="1737360" y="3172968"/>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Thu · Story</a:t>
            </a:r>
          </a:p>
        </p:txBody>
      </p:sp>
      <p:sp>
        <p:nvSpPr>
          <p:cNvPr id="39" name="TextBox 38"/>
          <p:cNvSpPr txBox="1"/>
          <p:nvPr/>
        </p:nvSpPr>
        <p:spPr>
          <a:xfrm>
            <a:off x="2743200" y="3172968"/>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Place card of the week</a:t>
            </a:r>
          </a:p>
        </p:txBody>
      </p:sp>
      <p:sp>
        <p:nvSpPr>
          <p:cNvPr id="40" name="TextBox 39"/>
          <p:cNvSpPr txBox="1"/>
          <p:nvPr/>
        </p:nvSpPr>
        <p:spPr>
          <a:xfrm>
            <a:off x="7772400" y="3172968"/>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Local manufacturing</a:t>
            </a:r>
          </a:p>
        </p:txBody>
      </p:sp>
      <p:sp>
        <p:nvSpPr>
          <p:cNvPr id="41" name="TextBox 40"/>
          <p:cNvSpPr txBox="1"/>
          <p:nvPr/>
        </p:nvSpPr>
        <p:spPr>
          <a:xfrm>
            <a:off x="9875520" y="3172968"/>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T6 · REAL+GENERATED</a:t>
            </a:r>
          </a:p>
        </p:txBody>
      </p:sp>
      <p:sp>
        <p:nvSpPr>
          <p:cNvPr id="42" name="Rectangle 41"/>
          <p:cNvSpPr/>
          <p:nvPr/>
        </p:nvSpPr>
        <p:spPr>
          <a:xfrm>
            <a:off x="457200" y="3538727"/>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3557015"/>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JAN-S07  01-18</a:t>
            </a:r>
          </a:p>
        </p:txBody>
      </p:sp>
      <p:sp>
        <p:nvSpPr>
          <p:cNvPr id="44" name="TextBox 43"/>
          <p:cNvSpPr txBox="1"/>
          <p:nvPr/>
        </p:nvSpPr>
        <p:spPr>
          <a:xfrm>
            <a:off x="1737360" y="3557015"/>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Mon · Story</a:t>
            </a:r>
          </a:p>
        </p:txBody>
      </p:sp>
      <p:sp>
        <p:nvSpPr>
          <p:cNvPr id="45" name="TextBox 44"/>
          <p:cNvSpPr txBox="1"/>
          <p:nvPr/>
        </p:nvSpPr>
        <p:spPr>
          <a:xfrm>
            <a:off x="2743200" y="3557015"/>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Machines and people</a:t>
            </a:r>
          </a:p>
        </p:txBody>
      </p:sp>
      <p:sp>
        <p:nvSpPr>
          <p:cNvPr id="46" name="TextBox 45"/>
          <p:cNvSpPr txBox="1"/>
          <p:nvPr/>
        </p:nvSpPr>
        <p:spPr>
          <a:xfrm>
            <a:off x="7772400" y="3557015"/>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Meet the makers</a:t>
            </a:r>
          </a:p>
        </p:txBody>
      </p:sp>
      <p:sp>
        <p:nvSpPr>
          <p:cNvPr id="47" name="TextBox 46"/>
          <p:cNvSpPr txBox="1"/>
          <p:nvPr/>
        </p:nvSpPr>
        <p:spPr>
          <a:xfrm>
            <a:off x="9875520" y="3557015"/>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T3 · REAL</a:t>
            </a:r>
          </a:p>
        </p:txBody>
      </p:sp>
      <p:sp>
        <p:nvSpPr>
          <p:cNvPr id="48" name="Rectangle 47"/>
          <p:cNvSpPr/>
          <p:nvPr/>
        </p:nvSpPr>
        <p:spPr>
          <a:xfrm>
            <a:off x="457200" y="3922776"/>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2920" y="3941063"/>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JAN-S08  01-20</a:t>
            </a:r>
          </a:p>
        </p:txBody>
      </p:sp>
      <p:sp>
        <p:nvSpPr>
          <p:cNvPr id="50" name="TextBox 49"/>
          <p:cNvSpPr txBox="1"/>
          <p:nvPr/>
        </p:nvSpPr>
        <p:spPr>
          <a:xfrm>
            <a:off x="1737360" y="3941063"/>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Wed · Story</a:t>
            </a:r>
          </a:p>
        </p:txBody>
      </p:sp>
      <p:sp>
        <p:nvSpPr>
          <p:cNvPr id="51" name="TextBox 50"/>
          <p:cNvSpPr txBox="1"/>
          <p:nvPr/>
        </p:nvSpPr>
        <p:spPr>
          <a:xfrm>
            <a:off x="2743200" y="3941063"/>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A validation run, up close</a:t>
            </a:r>
          </a:p>
        </p:txBody>
      </p:sp>
      <p:sp>
        <p:nvSpPr>
          <p:cNvPr id="52" name="TextBox 51"/>
          <p:cNvSpPr txBox="1"/>
          <p:nvPr/>
        </p:nvSpPr>
        <p:spPr>
          <a:xfrm>
            <a:off x="7772400" y="3941063"/>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Quality and trust</a:t>
            </a:r>
          </a:p>
        </p:txBody>
      </p:sp>
      <p:sp>
        <p:nvSpPr>
          <p:cNvPr id="53" name="TextBox 52"/>
          <p:cNvSpPr txBox="1"/>
          <p:nvPr/>
        </p:nvSpPr>
        <p:spPr>
          <a:xfrm>
            <a:off x="9875520" y="3941063"/>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T2 · REAL+GENERATED</a:t>
            </a:r>
          </a:p>
        </p:txBody>
      </p:sp>
      <p:sp>
        <p:nvSpPr>
          <p:cNvPr id="54" name="Rectangle 53"/>
          <p:cNvSpPr/>
          <p:nvPr/>
        </p:nvSpPr>
        <p:spPr>
          <a:xfrm>
            <a:off x="457200" y="4306824"/>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02920" y="4325112"/>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JAN-S09  01-21</a:t>
            </a:r>
          </a:p>
        </p:txBody>
      </p:sp>
      <p:sp>
        <p:nvSpPr>
          <p:cNvPr id="56" name="TextBox 55"/>
          <p:cNvSpPr txBox="1"/>
          <p:nvPr/>
        </p:nvSpPr>
        <p:spPr>
          <a:xfrm>
            <a:off x="1737360" y="4325112"/>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Thu · Story</a:t>
            </a:r>
          </a:p>
        </p:txBody>
      </p:sp>
      <p:sp>
        <p:nvSpPr>
          <p:cNvPr id="57" name="TextBox 56"/>
          <p:cNvSpPr txBox="1"/>
          <p:nvPr/>
        </p:nvSpPr>
        <p:spPr>
          <a:xfrm>
            <a:off x="2743200" y="4325112"/>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Question box</a:t>
            </a:r>
          </a:p>
        </p:txBody>
      </p:sp>
      <p:sp>
        <p:nvSpPr>
          <p:cNvPr id="58" name="TextBox 57"/>
          <p:cNvSpPr txBox="1"/>
          <p:nvPr/>
        </p:nvSpPr>
        <p:spPr>
          <a:xfrm>
            <a:off x="7772400" y="4325112"/>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Local manufacturing</a:t>
            </a:r>
          </a:p>
        </p:txBody>
      </p:sp>
      <p:sp>
        <p:nvSpPr>
          <p:cNvPr id="59" name="TextBox 58"/>
          <p:cNvSpPr txBox="1"/>
          <p:nvPr/>
        </p:nvSpPr>
        <p:spPr>
          <a:xfrm>
            <a:off x="9875520" y="4325112"/>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T8 · GENERATED</a:t>
            </a:r>
          </a:p>
        </p:txBody>
      </p:sp>
      <p:sp>
        <p:nvSpPr>
          <p:cNvPr id="60" name="Rectangle 59"/>
          <p:cNvSpPr/>
          <p:nvPr/>
        </p:nvSpPr>
        <p:spPr>
          <a:xfrm>
            <a:off x="457200" y="4690872"/>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02920" y="4709159"/>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JAN-S10  01-25</a:t>
            </a:r>
          </a:p>
        </p:txBody>
      </p:sp>
      <p:sp>
        <p:nvSpPr>
          <p:cNvPr id="62" name="TextBox 61"/>
          <p:cNvSpPr txBox="1"/>
          <p:nvPr/>
        </p:nvSpPr>
        <p:spPr>
          <a:xfrm>
            <a:off x="1737360" y="4709159"/>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Mon · Story</a:t>
            </a:r>
          </a:p>
        </p:txBody>
      </p:sp>
      <p:sp>
        <p:nvSpPr>
          <p:cNvPr id="63" name="TextBox 62"/>
          <p:cNvSpPr txBox="1"/>
          <p:nvPr/>
        </p:nvSpPr>
        <p:spPr>
          <a:xfrm>
            <a:off x="2743200" y="4709159"/>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Week in review</a:t>
            </a:r>
          </a:p>
        </p:txBody>
      </p:sp>
      <p:sp>
        <p:nvSpPr>
          <p:cNvPr id="64" name="TextBox 63"/>
          <p:cNvSpPr txBox="1"/>
          <p:nvPr/>
        </p:nvSpPr>
        <p:spPr>
          <a:xfrm>
            <a:off x="7772400" y="4709159"/>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Year and community</a:t>
            </a:r>
          </a:p>
        </p:txBody>
      </p:sp>
      <p:sp>
        <p:nvSpPr>
          <p:cNvPr id="65" name="TextBox 64"/>
          <p:cNvSpPr txBox="1"/>
          <p:nvPr/>
        </p:nvSpPr>
        <p:spPr>
          <a:xfrm>
            <a:off x="9875520" y="4709159"/>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T9 · REAL+GENERATED</a:t>
            </a:r>
          </a:p>
        </p:txBody>
      </p:sp>
      <p:sp>
        <p:nvSpPr>
          <p:cNvPr id="66" name="Rectangle 65"/>
          <p:cNvSpPr/>
          <p:nvPr/>
        </p:nvSpPr>
        <p:spPr>
          <a:xfrm>
            <a:off x="457200" y="5074920"/>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02920" y="5093207"/>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JAN-S11  01-27</a:t>
            </a:r>
          </a:p>
        </p:txBody>
      </p:sp>
      <p:sp>
        <p:nvSpPr>
          <p:cNvPr id="68" name="TextBox 67"/>
          <p:cNvSpPr txBox="1"/>
          <p:nvPr/>
        </p:nvSpPr>
        <p:spPr>
          <a:xfrm>
            <a:off x="1737360" y="5093207"/>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Wed · Story</a:t>
            </a:r>
          </a:p>
        </p:txBody>
      </p:sp>
      <p:sp>
        <p:nvSpPr>
          <p:cNvPr id="69" name="TextBox 68"/>
          <p:cNvSpPr txBox="1"/>
          <p:nvPr/>
        </p:nvSpPr>
        <p:spPr>
          <a:xfrm>
            <a:off x="2743200" y="5093207"/>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Meet the team</a:t>
            </a:r>
          </a:p>
        </p:txBody>
      </p:sp>
      <p:sp>
        <p:nvSpPr>
          <p:cNvPr id="70" name="TextBox 69"/>
          <p:cNvSpPr txBox="1"/>
          <p:nvPr/>
        </p:nvSpPr>
        <p:spPr>
          <a:xfrm>
            <a:off x="7772400" y="5093207"/>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People and careers</a:t>
            </a:r>
          </a:p>
        </p:txBody>
      </p:sp>
      <p:sp>
        <p:nvSpPr>
          <p:cNvPr id="71" name="TextBox 70"/>
          <p:cNvSpPr txBox="1"/>
          <p:nvPr/>
        </p:nvSpPr>
        <p:spPr>
          <a:xfrm>
            <a:off x="9875520" y="5093207"/>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T2 · REAL</a:t>
            </a:r>
          </a:p>
        </p:txBody>
      </p:sp>
      <p:sp>
        <p:nvSpPr>
          <p:cNvPr id="72" name="Rectangle 71"/>
          <p:cNvSpPr/>
          <p:nvPr/>
        </p:nvSpPr>
        <p:spPr>
          <a:xfrm>
            <a:off x="457200" y="5458968"/>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02920" y="5477255"/>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JAN-S12  01-28</a:t>
            </a:r>
          </a:p>
        </p:txBody>
      </p:sp>
      <p:sp>
        <p:nvSpPr>
          <p:cNvPr id="74" name="TextBox 73"/>
          <p:cNvSpPr txBox="1"/>
          <p:nvPr/>
        </p:nvSpPr>
        <p:spPr>
          <a:xfrm>
            <a:off x="1737360" y="5477255"/>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Thu · Story</a:t>
            </a:r>
          </a:p>
        </p:txBody>
      </p:sp>
      <p:sp>
        <p:nvSpPr>
          <p:cNvPr id="75" name="TextBox 74"/>
          <p:cNvSpPr txBox="1"/>
          <p:nvPr/>
        </p:nvSpPr>
        <p:spPr>
          <a:xfrm>
            <a:off x="2743200" y="5477255"/>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Place card of the week</a:t>
            </a:r>
          </a:p>
        </p:txBody>
      </p:sp>
      <p:sp>
        <p:nvSpPr>
          <p:cNvPr id="76" name="TextBox 75"/>
          <p:cNvSpPr txBox="1"/>
          <p:nvPr/>
        </p:nvSpPr>
        <p:spPr>
          <a:xfrm>
            <a:off x="7772400" y="5477255"/>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Local manufacturing</a:t>
            </a:r>
          </a:p>
        </p:txBody>
      </p:sp>
      <p:sp>
        <p:nvSpPr>
          <p:cNvPr id="77" name="TextBox 76"/>
          <p:cNvSpPr txBox="1"/>
          <p:nvPr/>
        </p:nvSpPr>
        <p:spPr>
          <a:xfrm>
            <a:off x="9875520" y="5477255"/>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T6 · REAL+GENERATED</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48640"/>
          </a:xfrm>
          <a:prstGeom prst="rect">
            <a:avLst/>
          </a:prstGeom>
          <a:noFill/>
        </p:spPr>
        <p:txBody>
          <a:bodyPr wrap="square" lIns="36576" rIns="36576" tIns="18288" bIns="18288" anchor="t">
            <a:spAutoFit/>
          </a:bodyPr>
          <a:lstStyle/>
          <a:p>
            <a:pPr algn="l"/>
            <a:r>
              <a:rPr sz="2400" b="1" i="0">
                <a:solidFill>
                  <a:srgbClr val="0B4F35"/>
                </a:solidFill>
                <a:latin typeface="Segoe UI"/>
                <a:cs typeface="Tahoma"/>
              </a:rPr>
              <a:t>January 2027: LinkedIn + X carousels</a:t>
            </a:r>
          </a:p>
        </p:txBody>
      </p:sp>
      <p:sp>
        <p:nvSpPr>
          <p:cNvPr id="4" name="TextBox 3"/>
          <p:cNvSpPr txBox="1"/>
          <p:nvPr/>
        </p:nvSpPr>
        <p:spPr>
          <a:xfrm>
            <a:off x="457200" y="749808"/>
            <a:ext cx="11247120" cy="365760"/>
          </a:xfrm>
          <a:prstGeom prst="rect">
            <a:avLst/>
          </a:prstGeom>
          <a:noFill/>
        </p:spPr>
        <p:txBody>
          <a:bodyPr wrap="square" lIns="36576" rIns="36576" tIns="18288" bIns="18288" anchor="t">
            <a:spAutoFit/>
          </a:bodyPr>
          <a:lstStyle/>
          <a:p>
            <a:pPr algn="l"/>
            <a:r>
              <a:rPr sz="1200" b="0" i="0">
                <a:solidFill>
                  <a:srgbClr val="5B6B63"/>
                </a:solidFill>
                <a:latin typeface="Segoe UI"/>
                <a:cs typeface="Tahoma"/>
              </a:rPr>
              <a:t>8 pieces</a:t>
            </a:r>
          </a:p>
        </p:txBody>
      </p:sp>
      <p:sp>
        <p:nvSpPr>
          <p:cNvPr id="5" name="TextBox 4"/>
          <p:cNvSpPr txBox="1"/>
          <p:nvPr/>
        </p:nvSpPr>
        <p:spPr>
          <a:xfrm>
            <a:off x="11155680" y="6492240"/>
            <a:ext cx="731520" cy="274320"/>
          </a:xfrm>
          <a:prstGeom prst="rect">
            <a:avLst/>
          </a:prstGeom>
          <a:noFill/>
        </p:spPr>
        <p:txBody>
          <a:bodyPr wrap="square" lIns="36576" rIns="36576" tIns="18288" bIns="18288" anchor="t">
            <a:spAutoFit/>
          </a:bodyPr>
          <a:lstStyle/>
          <a:p>
            <a:pPr algn="r"/>
            <a:r>
              <a:rPr sz="900" b="0" i="0">
                <a:solidFill>
                  <a:srgbClr val="5B6B63"/>
                </a:solidFill>
                <a:latin typeface="Segoe UI"/>
                <a:cs typeface="Tahoma"/>
              </a:rPr>
              <a:t>88</a:t>
            </a:r>
          </a:p>
        </p:txBody>
      </p:sp>
      <p:sp>
        <p:nvSpPr>
          <p:cNvPr id="6" name="Rectangle 5"/>
          <p:cNvSpPr/>
          <p:nvPr/>
        </p:nvSpPr>
        <p:spPr>
          <a:xfrm>
            <a:off x="457200" y="1234440"/>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52728"/>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JAN-L01  01-04</a:t>
            </a:r>
          </a:p>
        </p:txBody>
      </p:sp>
      <p:sp>
        <p:nvSpPr>
          <p:cNvPr id="8" name="TextBox 7"/>
          <p:cNvSpPr txBox="1"/>
          <p:nvPr/>
        </p:nvSpPr>
        <p:spPr>
          <a:xfrm>
            <a:off x="1737360" y="1252728"/>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Mon · Carousel</a:t>
            </a:r>
          </a:p>
        </p:txBody>
      </p:sp>
      <p:sp>
        <p:nvSpPr>
          <p:cNvPr id="9" name="TextBox 8"/>
          <p:cNvSpPr txBox="1"/>
          <p:nvPr/>
        </p:nvSpPr>
        <p:spPr>
          <a:xfrm>
            <a:off x="2743200" y="1252728"/>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Seven steps, no secrets: steps 1 to 3</a:t>
            </a:r>
          </a:p>
        </p:txBody>
      </p:sp>
      <p:sp>
        <p:nvSpPr>
          <p:cNvPr id="10" name="TextBox 9"/>
          <p:cNvSpPr txBox="1"/>
          <p:nvPr/>
        </p:nvSpPr>
        <p:spPr>
          <a:xfrm>
            <a:off x="7772400" y="1252728"/>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How it is made</a:t>
            </a:r>
          </a:p>
        </p:txBody>
      </p:sp>
      <p:sp>
        <p:nvSpPr>
          <p:cNvPr id="11" name="TextBox 10"/>
          <p:cNvSpPr txBox="1"/>
          <p:nvPr/>
        </p:nvSpPr>
        <p:spPr>
          <a:xfrm>
            <a:off x="9875520" y="1252728"/>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T6 · REAL+GENERATED</a:t>
            </a:r>
          </a:p>
        </p:txBody>
      </p:sp>
      <p:sp>
        <p:nvSpPr>
          <p:cNvPr id="12" name="Rectangle 11"/>
          <p:cNvSpPr/>
          <p:nvPr/>
        </p:nvSpPr>
        <p:spPr>
          <a:xfrm>
            <a:off x="457200" y="1618488"/>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636776"/>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JAN-L02  01-06</a:t>
            </a:r>
          </a:p>
        </p:txBody>
      </p:sp>
      <p:sp>
        <p:nvSpPr>
          <p:cNvPr id="14" name="TextBox 13"/>
          <p:cNvSpPr txBox="1"/>
          <p:nvPr/>
        </p:nvSpPr>
        <p:spPr>
          <a:xfrm>
            <a:off x="1737360" y="1636776"/>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Wed · Carousel</a:t>
            </a:r>
          </a:p>
        </p:txBody>
      </p:sp>
      <p:sp>
        <p:nvSpPr>
          <p:cNvPr id="15" name="TextBox 14"/>
          <p:cNvSpPr txBox="1"/>
          <p:nvPr/>
        </p:nvSpPr>
        <p:spPr>
          <a:xfrm>
            <a:off x="2743200" y="1636776"/>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What you will see here in 2027</a:t>
            </a:r>
          </a:p>
        </p:txBody>
      </p:sp>
      <p:sp>
        <p:nvSpPr>
          <p:cNvPr id="16" name="TextBox 15"/>
          <p:cNvSpPr txBox="1"/>
          <p:nvPr/>
        </p:nvSpPr>
        <p:spPr>
          <a:xfrm>
            <a:off x="7772400" y="1636776"/>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Year and community</a:t>
            </a:r>
          </a:p>
        </p:txBody>
      </p:sp>
      <p:sp>
        <p:nvSpPr>
          <p:cNvPr id="17" name="TextBox 16"/>
          <p:cNvSpPr txBox="1"/>
          <p:nvPr/>
        </p:nvSpPr>
        <p:spPr>
          <a:xfrm>
            <a:off x="9875520" y="1636776"/>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T8 · REAL+GENERATED</a:t>
            </a:r>
          </a:p>
        </p:txBody>
      </p:sp>
      <p:sp>
        <p:nvSpPr>
          <p:cNvPr id="18" name="Rectangle 17"/>
          <p:cNvSpPr/>
          <p:nvPr/>
        </p:nvSpPr>
        <p:spPr>
          <a:xfrm>
            <a:off x="457200" y="2002536"/>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020824"/>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JAN-L03  01-11</a:t>
            </a:r>
          </a:p>
        </p:txBody>
      </p:sp>
      <p:sp>
        <p:nvSpPr>
          <p:cNvPr id="20" name="TextBox 19"/>
          <p:cNvSpPr txBox="1"/>
          <p:nvPr/>
        </p:nvSpPr>
        <p:spPr>
          <a:xfrm>
            <a:off x="1737360" y="2020824"/>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Mon · Carousel</a:t>
            </a:r>
          </a:p>
        </p:txBody>
      </p:sp>
      <p:sp>
        <p:nvSpPr>
          <p:cNvPr id="21" name="TextBox 20"/>
          <p:cNvSpPr txBox="1"/>
          <p:nvPr/>
        </p:nvSpPr>
        <p:spPr>
          <a:xfrm>
            <a:off x="2743200" y="2020824"/>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How a medicine is made: steps 4 to 6</a:t>
            </a:r>
          </a:p>
        </p:txBody>
      </p:sp>
      <p:sp>
        <p:nvSpPr>
          <p:cNvPr id="22" name="TextBox 21"/>
          <p:cNvSpPr txBox="1"/>
          <p:nvPr/>
        </p:nvSpPr>
        <p:spPr>
          <a:xfrm>
            <a:off x="7772400" y="2020824"/>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How it is made</a:t>
            </a:r>
          </a:p>
        </p:txBody>
      </p:sp>
      <p:sp>
        <p:nvSpPr>
          <p:cNvPr id="23" name="TextBox 22"/>
          <p:cNvSpPr txBox="1"/>
          <p:nvPr/>
        </p:nvSpPr>
        <p:spPr>
          <a:xfrm>
            <a:off x="9875520" y="2020824"/>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T9 · REAL+GENERATED</a:t>
            </a:r>
          </a:p>
        </p:txBody>
      </p:sp>
      <p:sp>
        <p:nvSpPr>
          <p:cNvPr id="24" name="Rectangle 23"/>
          <p:cNvSpPr/>
          <p:nvPr/>
        </p:nvSpPr>
        <p:spPr>
          <a:xfrm>
            <a:off x="457200" y="2386584"/>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2404872"/>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JAN-L04  01-13</a:t>
            </a:r>
          </a:p>
        </p:txBody>
      </p:sp>
      <p:sp>
        <p:nvSpPr>
          <p:cNvPr id="26" name="TextBox 25"/>
          <p:cNvSpPr txBox="1"/>
          <p:nvPr/>
        </p:nvSpPr>
        <p:spPr>
          <a:xfrm>
            <a:off x="1737360" y="2404872"/>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Wed · Carousel</a:t>
            </a:r>
          </a:p>
        </p:txBody>
      </p:sp>
      <p:sp>
        <p:nvSpPr>
          <p:cNvPr id="27" name="TextBox 26"/>
          <p:cNvSpPr txBox="1"/>
          <p:nvPr/>
        </p:nvSpPr>
        <p:spPr>
          <a:xfrm>
            <a:off x="2743200" y="2404872"/>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Release: the paperwork is the product</a:t>
            </a:r>
          </a:p>
        </p:txBody>
      </p:sp>
      <p:sp>
        <p:nvSpPr>
          <p:cNvPr id="28" name="TextBox 27"/>
          <p:cNvSpPr txBox="1"/>
          <p:nvPr/>
        </p:nvSpPr>
        <p:spPr>
          <a:xfrm>
            <a:off x="7772400" y="2404872"/>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Quality and trust</a:t>
            </a:r>
          </a:p>
        </p:txBody>
      </p:sp>
      <p:sp>
        <p:nvSpPr>
          <p:cNvPr id="29" name="TextBox 28"/>
          <p:cNvSpPr txBox="1"/>
          <p:nvPr/>
        </p:nvSpPr>
        <p:spPr>
          <a:xfrm>
            <a:off x="9875520" y="2404872"/>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T1 · REAL+GENERATED</a:t>
            </a:r>
          </a:p>
        </p:txBody>
      </p:sp>
      <p:sp>
        <p:nvSpPr>
          <p:cNvPr id="30" name="Rectangle 29"/>
          <p:cNvSpPr/>
          <p:nvPr/>
        </p:nvSpPr>
        <p:spPr>
          <a:xfrm>
            <a:off x="457200" y="2770632"/>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2788920"/>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JAN-L05  01-18</a:t>
            </a:r>
          </a:p>
        </p:txBody>
      </p:sp>
      <p:sp>
        <p:nvSpPr>
          <p:cNvPr id="32" name="TextBox 31"/>
          <p:cNvSpPr txBox="1"/>
          <p:nvPr/>
        </p:nvSpPr>
        <p:spPr>
          <a:xfrm>
            <a:off x="1737360" y="2788920"/>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Mon · Carousel</a:t>
            </a:r>
          </a:p>
        </p:txBody>
      </p:sp>
      <p:sp>
        <p:nvSpPr>
          <p:cNvPr id="33" name="TextBox 32"/>
          <p:cNvSpPr txBox="1"/>
          <p:nvPr/>
        </p:nvSpPr>
        <p:spPr>
          <a:xfrm>
            <a:off x="2743200" y="2788920"/>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Technology in manufacturing</a:t>
            </a:r>
          </a:p>
        </p:txBody>
      </p:sp>
      <p:sp>
        <p:nvSpPr>
          <p:cNvPr id="34" name="TextBox 33"/>
          <p:cNvSpPr txBox="1"/>
          <p:nvPr/>
        </p:nvSpPr>
        <p:spPr>
          <a:xfrm>
            <a:off x="7772400" y="2788920"/>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Local manufacturing</a:t>
            </a:r>
          </a:p>
        </p:txBody>
      </p:sp>
      <p:sp>
        <p:nvSpPr>
          <p:cNvPr id="35" name="TextBox 34"/>
          <p:cNvSpPr txBox="1"/>
          <p:nvPr/>
        </p:nvSpPr>
        <p:spPr>
          <a:xfrm>
            <a:off x="9875520" y="2788920"/>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T4 · REAL+GENERATED</a:t>
            </a:r>
          </a:p>
        </p:txBody>
      </p:sp>
      <p:sp>
        <p:nvSpPr>
          <p:cNvPr id="36" name="Rectangle 35"/>
          <p:cNvSpPr/>
          <p:nvPr/>
        </p:nvSpPr>
        <p:spPr>
          <a:xfrm>
            <a:off x="457200" y="3154679"/>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3172968"/>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JAN-L06  01-20</a:t>
            </a:r>
          </a:p>
        </p:txBody>
      </p:sp>
      <p:sp>
        <p:nvSpPr>
          <p:cNvPr id="38" name="TextBox 37"/>
          <p:cNvSpPr txBox="1"/>
          <p:nvPr/>
        </p:nvSpPr>
        <p:spPr>
          <a:xfrm>
            <a:off x="1737360" y="3172968"/>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Wed · Carousel</a:t>
            </a:r>
          </a:p>
        </p:txBody>
      </p:sp>
      <p:sp>
        <p:nvSpPr>
          <p:cNvPr id="39" name="TextBox 38"/>
          <p:cNvSpPr txBox="1"/>
          <p:nvPr/>
        </p:nvSpPr>
        <p:spPr>
          <a:xfrm>
            <a:off x="2743200" y="3172968"/>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People and machines, side by side</a:t>
            </a:r>
          </a:p>
        </p:txBody>
      </p:sp>
      <p:sp>
        <p:nvSpPr>
          <p:cNvPr id="40" name="TextBox 39"/>
          <p:cNvSpPr txBox="1"/>
          <p:nvPr/>
        </p:nvSpPr>
        <p:spPr>
          <a:xfrm>
            <a:off x="7772400" y="3172968"/>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Meet the makers</a:t>
            </a:r>
          </a:p>
        </p:txBody>
      </p:sp>
      <p:sp>
        <p:nvSpPr>
          <p:cNvPr id="41" name="TextBox 40"/>
          <p:cNvSpPr txBox="1"/>
          <p:nvPr/>
        </p:nvSpPr>
        <p:spPr>
          <a:xfrm>
            <a:off x="9875520" y="3172968"/>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T2 · REAL</a:t>
            </a:r>
          </a:p>
        </p:txBody>
      </p:sp>
      <p:sp>
        <p:nvSpPr>
          <p:cNvPr id="42" name="Rectangle 41"/>
          <p:cNvSpPr/>
          <p:nvPr/>
        </p:nvSpPr>
        <p:spPr>
          <a:xfrm>
            <a:off x="457200" y="3538727"/>
            <a:ext cx="11247120" cy="365760"/>
          </a:xfrm>
          <a:prstGeom prst="rect">
            <a:avLst/>
          </a:prstGeom>
          <a:solidFill>
            <a:srgbClr val="FFFFFF"/>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3557015"/>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JAN-L07  01-25</a:t>
            </a:r>
          </a:p>
        </p:txBody>
      </p:sp>
      <p:sp>
        <p:nvSpPr>
          <p:cNvPr id="44" name="TextBox 43"/>
          <p:cNvSpPr txBox="1"/>
          <p:nvPr/>
        </p:nvSpPr>
        <p:spPr>
          <a:xfrm>
            <a:off x="1737360" y="3557015"/>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Mon · Carousel</a:t>
            </a:r>
          </a:p>
        </p:txBody>
      </p:sp>
      <p:sp>
        <p:nvSpPr>
          <p:cNvPr id="45" name="TextBox 44"/>
          <p:cNvSpPr txBox="1"/>
          <p:nvPr/>
        </p:nvSpPr>
        <p:spPr>
          <a:xfrm>
            <a:off x="2743200" y="3557015"/>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Seven steps, no secrets: the full line</a:t>
            </a:r>
          </a:p>
        </p:txBody>
      </p:sp>
      <p:sp>
        <p:nvSpPr>
          <p:cNvPr id="46" name="TextBox 45"/>
          <p:cNvSpPr txBox="1"/>
          <p:nvPr/>
        </p:nvSpPr>
        <p:spPr>
          <a:xfrm>
            <a:off x="7772400" y="3557015"/>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How it is made</a:t>
            </a:r>
          </a:p>
        </p:txBody>
      </p:sp>
      <p:sp>
        <p:nvSpPr>
          <p:cNvPr id="47" name="TextBox 46"/>
          <p:cNvSpPr txBox="1"/>
          <p:nvPr/>
        </p:nvSpPr>
        <p:spPr>
          <a:xfrm>
            <a:off x="9875520" y="3557015"/>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T9 · REAL+GENERATED</a:t>
            </a:r>
          </a:p>
        </p:txBody>
      </p:sp>
      <p:sp>
        <p:nvSpPr>
          <p:cNvPr id="48" name="Rectangle 47"/>
          <p:cNvSpPr/>
          <p:nvPr/>
        </p:nvSpPr>
        <p:spPr>
          <a:xfrm>
            <a:off x="457200" y="3922776"/>
            <a:ext cx="11247120" cy="365760"/>
          </a:xfrm>
          <a:prstGeom prst="rect">
            <a:avLst/>
          </a:prstGeom>
          <a:solidFill>
            <a:srgbClr val="E6F2EA"/>
          </a:solidFill>
          <a:ln w="12700">
            <a:solidFill>
              <a:srgbClr val="C9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2920" y="3941063"/>
            <a:ext cx="1188720" cy="329184"/>
          </a:xfrm>
          <a:prstGeom prst="rect">
            <a:avLst/>
          </a:prstGeom>
          <a:noFill/>
        </p:spPr>
        <p:txBody>
          <a:bodyPr wrap="square" lIns="36576" rIns="36576" tIns="18288" bIns="18288" anchor="ctr">
            <a:spAutoFit/>
          </a:bodyPr>
          <a:lstStyle/>
          <a:p>
            <a:pPr algn="l"/>
            <a:r>
              <a:rPr sz="950" b="1" i="0">
                <a:solidFill>
                  <a:srgbClr val="0B4F35"/>
                </a:solidFill>
                <a:latin typeface="Segoe UI"/>
                <a:cs typeface="Tahoma"/>
              </a:rPr>
              <a:t>JAN-L08  01-27</a:t>
            </a:r>
          </a:p>
        </p:txBody>
      </p:sp>
      <p:sp>
        <p:nvSpPr>
          <p:cNvPr id="50" name="TextBox 49"/>
          <p:cNvSpPr txBox="1"/>
          <p:nvPr/>
        </p:nvSpPr>
        <p:spPr>
          <a:xfrm>
            <a:off x="1737360" y="3941063"/>
            <a:ext cx="100584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Wed · Carousel</a:t>
            </a:r>
          </a:p>
        </p:txBody>
      </p:sp>
      <p:sp>
        <p:nvSpPr>
          <p:cNvPr id="51" name="TextBox 50"/>
          <p:cNvSpPr txBox="1"/>
          <p:nvPr/>
        </p:nvSpPr>
        <p:spPr>
          <a:xfrm>
            <a:off x="2743200" y="3941063"/>
            <a:ext cx="5029200" cy="329184"/>
          </a:xfrm>
          <a:prstGeom prst="rect">
            <a:avLst/>
          </a:prstGeom>
          <a:noFill/>
        </p:spPr>
        <p:txBody>
          <a:bodyPr wrap="square" lIns="36576" rIns="36576" tIns="18288" bIns="18288" anchor="ctr">
            <a:spAutoFit/>
          </a:bodyPr>
          <a:lstStyle/>
          <a:p>
            <a:pPr algn="l"/>
            <a:r>
              <a:rPr sz="1000" b="1" i="0">
                <a:solidFill>
                  <a:srgbClr val="142B22"/>
                </a:solidFill>
                <a:latin typeface="Segoe UI"/>
                <a:cs typeface="Tahoma"/>
              </a:rPr>
              <a:t>Careers in manufacturing</a:t>
            </a:r>
          </a:p>
        </p:txBody>
      </p:sp>
      <p:sp>
        <p:nvSpPr>
          <p:cNvPr id="52" name="TextBox 51"/>
          <p:cNvSpPr txBox="1"/>
          <p:nvPr/>
        </p:nvSpPr>
        <p:spPr>
          <a:xfrm>
            <a:off x="7772400" y="3941063"/>
            <a:ext cx="2103120" cy="329184"/>
          </a:xfrm>
          <a:prstGeom prst="rect">
            <a:avLst/>
          </a:prstGeom>
          <a:noFill/>
        </p:spPr>
        <p:txBody>
          <a:bodyPr wrap="square" lIns="36576" rIns="36576" tIns="18288" bIns="18288" anchor="ctr">
            <a:spAutoFit/>
          </a:bodyPr>
          <a:lstStyle/>
          <a:p>
            <a:pPr algn="l"/>
            <a:r>
              <a:rPr sz="950" b="0" i="0">
                <a:solidFill>
                  <a:srgbClr val="5B6B63"/>
                </a:solidFill>
                <a:latin typeface="Segoe UI"/>
                <a:cs typeface="Tahoma"/>
              </a:rPr>
              <a:t>People and careers</a:t>
            </a:r>
          </a:p>
        </p:txBody>
      </p:sp>
      <p:sp>
        <p:nvSpPr>
          <p:cNvPr id="53" name="TextBox 52"/>
          <p:cNvSpPr txBox="1"/>
          <p:nvPr/>
        </p:nvSpPr>
        <p:spPr>
          <a:xfrm>
            <a:off x="9875520" y="3941063"/>
            <a:ext cx="1828800" cy="329184"/>
          </a:xfrm>
          <a:prstGeom prst="rect">
            <a:avLst/>
          </a:prstGeom>
          <a:noFill/>
        </p:spPr>
        <p:txBody>
          <a:bodyPr wrap="square" lIns="36576" rIns="36576" tIns="18288" bIns="18288" anchor="ctr">
            <a:spAutoFit/>
          </a:bodyPr>
          <a:lstStyle/>
          <a:p>
            <a:pPr algn="l"/>
            <a:r>
              <a:rPr sz="900" b="0" i="0">
                <a:solidFill>
                  <a:srgbClr val="5B6B63"/>
                </a:solidFill>
                <a:latin typeface="Segoe UI"/>
                <a:cs typeface="Tahoma"/>
              </a:rPr>
              <a:t>T7 · REAL+GENERATED</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493776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493776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JAN-F01</a:t>
            </a:r>
          </a:p>
          <a:p>
            <a:pPr algn="ctr"/>
            <a:r>
              <a:rPr sz="900" b="1" i="0">
                <a:solidFill>
                  <a:srgbClr val="5B6B63"/>
                </a:solidFill>
                <a:latin typeface="Segoe UI"/>
                <a:cs typeface="Tahoma"/>
              </a:rPr>
              <a:t>1080 × 1350 px (4:5)</a:t>
            </a:r>
          </a:p>
        </p:txBody>
      </p:sp>
      <p:sp>
        <p:nvSpPr>
          <p:cNvPr id="5" name="Rounded Rectangle 4"/>
          <p:cNvSpPr/>
          <p:nvPr/>
        </p:nvSpPr>
        <p:spPr>
          <a:xfrm>
            <a:off x="5669280" y="457200"/>
            <a:ext cx="603504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0" y="457200"/>
            <a:ext cx="585215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JAN-F01 · Sun 2027-01-03 · Instagram + Facebook · Still</a:t>
            </a:r>
          </a:p>
        </p:txBody>
      </p:sp>
      <p:sp>
        <p:nvSpPr>
          <p:cNvPr id="7" name="TextBox 6"/>
          <p:cNvSpPr txBox="1"/>
          <p:nvPr/>
        </p:nvSpPr>
        <p:spPr>
          <a:xfrm>
            <a:off x="5669280" y="914400"/>
            <a:ext cx="603504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Same site, new year  ·  Local manufacturing  ·  T6 Key-visual petal</a:t>
            </a:r>
          </a:p>
        </p:txBody>
      </p:sp>
      <p:sp>
        <p:nvSpPr>
          <p:cNvPr id="8" name="TextBox 7"/>
          <p:cNvSpPr txBox="1"/>
          <p:nvPr/>
        </p:nvSpPr>
        <p:spPr>
          <a:xfrm>
            <a:off x="5669280" y="1261872"/>
            <a:ext cx="6035040"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الموقع نفسه</a:t>
            </a:r>
          </a:p>
        </p:txBody>
      </p:sp>
      <p:sp>
        <p:nvSpPr>
          <p:cNvPr id="9" name="TextBox 8"/>
          <p:cNvSpPr txBox="1"/>
          <p:nvPr/>
        </p:nvSpPr>
        <p:spPr>
          <a:xfrm>
            <a:off x="5669280" y="1673351"/>
            <a:ext cx="6035040"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وعامٌ جديد</a:t>
            </a:r>
          </a:p>
        </p:txBody>
      </p:sp>
      <p:sp>
        <p:nvSpPr>
          <p:cNvPr id="10" name="TextBox 9"/>
          <p:cNvSpPr txBox="1"/>
          <p:nvPr/>
        </p:nvSpPr>
        <p:spPr>
          <a:xfrm>
            <a:off x="5669280" y="2020824"/>
            <a:ext cx="6035040"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Same site. New year. · Sudair City, January 2027.</a:t>
            </a:r>
          </a:p>
        </p:txBody>
      </p:sp>
      <p:sp>
        <p:nvSpPr>
          <p:cNvPr id="11" name="TextBox 10"/>
          <p:cNvSpPr txBox="1"/>
          <p:nvPr/>
        </p:nvSpPr>
        <p:spPr>
          <a:xfrm>
            <a:off x="5669280" y="2478024"/>
            <a:ext cx="603504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the same campus, a new year of showing it. Key-visual petal opener: dark emerald on the left fading to a Saudi dusk on the right; three tall glowing petal windows in a fan above the real drone photograph of the palm-lined campus at golden hour (A001). Inside the petals only people-free scenes: the whole site from above (A002), the corridor (A003), a row of flasks with no readable label (A008). Soft mist, min</a:t>
            </a:r>
          </a:p>
        </p:txBody>
      </p:sp>
      <p:sp>
        <p:nvSpPr>
          <p:cNvPr id="12" name="TextBox 11"/>
          <p:cNvSpPr txBox="1"/>
          <p:nvPr/>
        </p:nvSpPr>
        <p:spPr>
          <a:xfrm>
            <a:off x="5669280" y="3255264"/>
            <a:ext cx="603504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A001  Collective footage-20261001T081156Z-1-008/Collective footage/DJI_20260121084222_0001_D.MOV | A002  Collective footage-20261001T081156Z-1-008/Collective footage/DJI_20260121084636_0010_D.MOV | A003  Collective footage-20261001T081156Z-1-008/Collective footage/DJI_20260121103516_0070_D.MOV | A00</a:t>
            </a:r>
          </a:p>
        </p:txBody>
      </p:sp>
      <p:sp>
        <p:nvSpPr>
          <p:cNvPr id="13" name="TextBox 12"/>
          <p:cNvSpPr txBox="1"/>
          <p:nvPr/>
        </p:nvSpPr>
        <p:spPr>
          <a:xfrm>
            <a:off x="5669280" y="3803904"/>
            <a:ext cx="603504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عامٌ جديد، والمكان هو المكان: مدينة سدير بنخيلها وممراتها وفِرَقها. ما يتغيّر هو ما سنُريكم إياه هذا العام. أي ركنٍ من المصنع تودّون أن نبدأ به؟</a:t>
            </a:r>
          </a:p>
          <a:p>
            <a:pPr algn="l"/>
            <a:r>
              <a:rPr sz="900" b="0" i="0">
                <a:solidFill>
                  <a:srgbClr val="142B22"/>
                </a:solidFill>
                <a:latin typeface="Segoe UI"/>
                <a:cs typeface="Tahoma"/>
              </a:rPr>
              <a:t>EN: A new year, and the place is the place: Sudair City, with its palms, its corridors and its teams. What changes is what we will show you this year. Which corner of the plant should we start with?</a:t>
            </a:r>
          </a:p>
        </p:txBody>
      </p:sp>
      <p:sp>
        <p:nvSpPr>
          <p:cNvPr id="14" name="TextBox 13"/>
          <p:cNvSpPr txBox="1"/>
          <p:nvPr/>
        </p:nvSpPr>
        <p:spPr>
          <a:xfrm>
            <a:off x="5669280" y="6400800"/>
            <a:ext cx="603504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Place and calendar only: no health, quality, process or number statement; no product or readable label in any petal.</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JAN-L01 · S1</a:t>
            </a:r>
          </a:p>
          <a:p>
            <a:pPr algn="ctr"/>
            <a:r>
              <a:rPr sz="900" b="1" i="0">
                <a:solidFill>
                  <a:srgbClr val="5B6B63"/>
                </a:solidFill>
                <a:latin typeface="Segoe UI"/>
                <a:cs typeface="Tahoma"/>
              </a:rPr>
              <a:t>1080 × 1350</a:t>
            </a:r>
          </a:p>
        </p:txBody>
      </p:sp>
      <p:sp>
        <p:nvSpPr>
          <p:cNvPr id="5" name="TextBox 4"/>
          <p:cNvSpPr txBox="1"/>
          <p:nvPr/>
        </p:nvSpPr>
        <p:spPr>
          <a:xfrm>
            <a:off x="45720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سبع خطوات</a:t>
            </a:r>
          </a:p>
          <a:p>
            <a:pPr algn="l"/>
            <a:r>
              <a:rPr sz="850" b="0" i="0">
                <a:solidFill>
                  <a:srgbClr val="5B6B63"/>
                </a:solidFill>
                <a:latin typeface="Segoe UI"/>
                <a:cs typeface="Tahoma"/>
              </a:rPr>
              <a:t>Seven steps. No secrets.</a:t>
            </a:r>
          </a:p>
        </p:txBody>
      </p:sp>
      <p:sp>
        <p:nvSpPr>
          <p:cNvPr id="6" name="Rounded Rectangle 5"/>
          <p:cNvSpPr/>
          <p:nvPr/>
        </p:nvSpPr>
        <p:spPr>
          <a:xfrm>
            <a:off x="233172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33172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JAN-L01 · S2</a:t>
            </a:r>
          </a:p>
          <a:p>
            <a:pPr algn="ctr"/>
            <a:r>
              <a:rPr sz="900" b="1" i="0">
                <a:solidFill>
                  <a:srgbClr val="5B6B63"/>
                </a:solidFill>
                <a:latin typeface="Segoe UI"/>
                <a:cs typeface="Tahoma"/>
              </a:rPr>
              <a:t>1080 × 1350</a:t>
            </a:r>
          </a:p>
        </p:txBody>
      </p:sp>
      <p:sp>
        <p:nvSpPr>
          <p:cNvPr id="8" name="TextBox 7"/>
          <p:cNvSpPr txBox="1"/>
          <p:nvPr/>
        </p:nvSpPr>
        <p:spPr>
          <a:xfrm>
            <a:off x="233172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للخط سبع خطوات</a:t>
            </a:r>
          </a:p>
          <a:p>
            <a:pPr algn="l"/>
            <a:r>
              <a:rPr sz="850" b="0" i="0">
                <a:solidFill>
                  <a:srgbClr val="5B6B63"/>
                </a:solidFill>
                <a:latin typeface="Segoe UI"/>
                <a:cs typeface="Tahoma"/>
              </a:rPr>
              <a:t>The line has seven steps.</a:t>
            </a:r>
          </a:p>
        </p:txBody>
      </p:sp>
      <p:sp>
        <p:nvSpPr>
          <p:cNvPr id="9" name="Rounded Rectangle 8"/>
          <p:cNvSpPr/>
          <p:nvPr/>
        </p:nvSpPr>
        <p:spPr>
          <a:xfrm>
            <a:off x="420624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JAN-L01 · S3</a:t>
            </a:r>
          </a:p>
          <a:p>
            <a:pPr algn="ctr"/>
            <a:r>
              <a:rPr sz="900" b="1" i="0">
                <a:solidFill>
                  <a:srgbClr val="5B6B63"/>
                </a:solidFill>
                <a:latin typeface="Segoe UI"/>
                <a:cs typeface="Tahoma"/>
              </a:rPr>
              <a:t>1080 × 1350</a:t>
            </a:r>
          </a:p>
        </p:txBody>
      </p:sp>
      <p:sp>
        <p:nvSpPr>
          <p:cNvPr id="11" name="TextBox 10"/>
          <p:cNvSpPr txBox="1"/>
          <p:nvPr/>
        </p:nvSpPr>
        <p:spPr>
          <a:xfrm>
            <a:off x="420624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step</a:t>
            </a:r>
          </a:p>
          <a:p>
            <a:pPr rtl="1" algn="r"/>
            <a:r>
              <a:rPr sz="850" b="0" i="0">
                <a:solidFill>
                  <a:srgbClr val="5B6B63"/>
                </a:solidFill>
                <a:latin typeface="Segoe UI"/>
                <a:cs typeface="Tahoma"/>
              </a:rPr>
              <a:t>الخطوة الأولى</a:t>
            </a:r>
          </a:p>
          <a:p>
            <a:pPr algn="l"/>
            <a:r>
              <a:rPr sz="850" b="0" i="0">
                <a:solidFill>
                  <a:srgbClr val="5B6B63"/>
                </a:solidFill>
                <a:latin typeface="Segoe UI"/>
                <a:cs typeface="Tahoma"/>
              </a:rPr>
              <a:t>Step 1: Receive.</a:t>
            </a:r>
          </a:p>
        </p:txBody>
      </p:sp>
      <p:sp>
        <p:nvSpPr>
          <p:cNvPr id="12" name="Rounded Rectangle 11"/>
          <p:cNvSpPr/>
          <p:nvPr/>
        </p:nvSpPr>
        <p:spPr>
          <a:xfrm>
            <a:off x="608076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8076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JAN-L01 · S4</a:t>
            </a:r>
          </a:p>
          <a:p>
            <a:pPr algn="ctr"/>
            <a:r>
              <a:rPr sz="900" b="1" i="0">
                <a:solidFill>
                  <a:srgbClr val="5B6B63"/>
                </a:solidFill>
                <a:latin typeface="Segoe UI"/>
                <a:cs typeface="Tahoma"/>
              </a:rPr>
              <a:t>1080 × 1350</a:t>
            </a:r>
          </a:p>
        </p:txBody>
      </p:sp>
      <p:sp>
        <p:nvSpPr>
          <p:cNvPr id="14" name="TextBox 13"/>
          <p:cNvSpPr txBox="1"/>
          <p:nvPr/>
        </p:nvSpPr>
        <p:spPr>
          <a:xfrm>
            <a:off x="608076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step</a:t>
            </a:r>
          </a:p>
          <a:p>
            <a:pPr rtl="1" algn="r"/>
            <a:r>
              <a:rPr sz="850" b="0" i="0">
                <a:solidFill>
                  <a:srgbClr val="5B6B63"/>
                </a:solidFill>
                <a:latin typeface="Segoe UI"/>
                <a:cs typeface="Tahoma"/>
              </a:rPr>
              <a:t>الخطوة الثانية</a:t>
            </a:r>
          </a:p>
          <a:p>
            <a:pPr algn="l"/>
            <a:r>
              <a:rPr sz="850" b="0" i="0">
                <a:solidFill>
                  <a:srgbClr val="5B6B63"/>
                </a:solidFill>
                <a:latin typeface="Segoe UI"/>
                <a:cs typeface="Tahoma"/>
              </a:rPr>
              <a:t>Step 2: Weigh.</a:t>
            </a:r>
          </a:p>
        </p:txBody>
      </p:sp>
      <p:sp>
        <p:nvSpPr>
          <p:cNvPr id="15" name="Rounded Rectangle 14"/>
          <p:cNvSpPr/>
          <p:nvPr/>
        </p:nvSpPr>
        <p:spPr>
          <a:xfrm>
            <a:off x="795528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JAN-L01 · S5</a:t>
            </a:r>
          </a:p>
          <a:p>
            <a:pPr algn="ctr"/>
            <a:r>
              <a:rPr sz="900" b="1" i="0">
                <a:solidFill>
                  <a:srgbClr val="5B6B63"/>
                </a:solidFill>
                <a:latin typeface="Segoe UI"/>
                <a:cs typeface="Tahoma"/>
              </a:rPr>
              <a:t>1080 × 1350</a:t>
            </a:r>
          </a:p>
        </p:txBody>
      </p:sp>
      <p:sp>
        <p:nvSpPr>
          <p:cNvPr id="17" name="TextBox 16"/>
          <p:cNvSpPr txBox="1"/>
          <p:nvPr/>
        </p:nvSpPr>
        <p:spPr>
          <a:xfrm>
            <a:off x="795528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step</a:t>
            </a:r>
          </a:p>
          <a:p>
            <a:pPr rtl="1" algn="r"/>
            <a:r>
              <a:rPr sz="850" b="0" i="0">
                <a:solidFill>
                  <a:srgbClr val="5B6B63"/>
                </a:solidFill>
                <a:latin typeface="Segoe UI"/>
                <a:cs typeface="Tahoma"/>
              </a:rPr>
              <a:t>الخطوة الثالثة</a:t>
            </a:r>
          </a:p>
          <a:p>
            <a:pPr algn="l"/>
            <a:r>
              <a:rPr sz="850" b="0" i="0">
                <a:solidFill>
                  <a:srgbClr val="5B6B63"/>
                </a:solidFill>
                <a:latin typeface="Segoe UI"/>
                <a:cs typeface="Tahoma"/>
              </a:rPr>
              <a:t>Step 3: Prepare.</a:t>
            </a:r>
          </a:p>
        </p:txBody>
      </p:sp>
      <p:sp>
        <p:nvSpPr>
          <p:cNvPr id="18" name="Rounded Rectangle 17"/>
          <p:cNvSpPr/>
          <p:nvPr/>
        </p:nvSpPr>
        <p:spPr>
          <a:xfrm>
            <a:off x="982980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2980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JAN-L01 · S6</a:t>
            </a:r>
          </a:p>
          <a:p>
            <a:pPr algn="ctr"/>
            <a:r>
              <a:rPr sz="900" b="1" i="0">
                <a:solidFill>
                  <a:srgbClr val="5B6B63"/>
                </a:solidFill>
                <a:latin typeface="Segoe UI"/>
                <a:cs typeface="Tahoma"/>
              </a:rPr>
              <a:t>1080 × 1350</a:t>
            </a:r>
          </a:p>
        </p:txBody>
      </p:sp>
      <p:sp>
        <p:nvSpPr>
          <p:cNvPr id="20" name="TextBox 19"/>
          <p:cNvSpPr txBox="1"/>
          <p:nvPr/>
        </p:nvSpPr>
        <p:spPr>
          <a:xfrm>
            <a:off x="982980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6. cta</a:t>
            </a:r>
          </a:p>
          <a:p>
            <a:pPr rtl="1" algn="r"/>
            <a:r>
              <a:rPr sz="850" b="0" i="0">
                <a:solidFill>
                  <a:srgbClr val="5B6B63"/>
                </a:solidFill>
                <a:latin typeface="Segoe UI"/>
                <a:cs typeface="Tahoma"/>
              </a:rPr>
              <a:t>صناعة تُرى،</a:t>
            </a:r>
          </a:p>
          <a:p>
            <a:pPr algn="l"/>
            <a:r>
              <a:rPr sz="850" b="0" i="0">
                <a:solidFill>
                  <a:srgbClr val="5B6B63"/>
                </a:solidFill>
                <a:latin typeface="Segoe UI"/>
                <a:cs typeface="Tahoma"/>
              </a:rPr>
              <a:t>Visible capability. Measurable impact.</a:t>
            </a:r>
          </a:p>
        </p:txBody>
      </p:sp>
      <p:sp>
        <p:nvSpPr>
          <p:cNvPr id="21" name="Rounded Rectangle 20"/>
          <p:cNvSpPr/>
          <p:nvPr/>
        </p:nvSpPr>
        <p:spPr>
          <a:xfrm>
            <a:off x="457200" y="350901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50901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JAN-L01 · Mon 2027-01-04 · LinkedIn + X · Carousel</a:t>
            </a:r>
          </a:p>
        </p:txBody>
      </p:sp>
      <p:sp>
        <p:nvSpPr>
          <p:cNvPr id="23" name="TextBox 22"/>
          <p:cNvSpPr txBox="1"/>
          <p:nvPr/>
        </p:nvSpPr>
        <p:spPr>
          <a:xfrm>
            <a:off x="457200" y="396621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Seven steps, no secrets: steps 1 to 3  ·  How it is made  ·  T6 Key-visual petal</a:t>
            </a:r>
          </a:p>
        </p:txBody>
      </p:sp>
      <p:sp>
        <p:nvSpPr>
          <p:cNvPr id="24" name="TextBox 23"/>
          <p:cNvSpPr txBox="1"/>
          <p:nvPr/>
        </p:nvSpPr>
        <p:spPr>
          <a:xfrm>
            <a:off x="457200" y="431368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The Sudair City campus at golden hour seen from the air, with three tall petal-shaped glowing windows in a fan above it, each window holding one early step: a gloved hand over a row of flasks, a clean-room corridor, a store of incoming materials. Dark emerald on the left for the headline. No people, no readable labels.</a:t>
            </a:r>
          </a:p>
        </p:txBody>
      </p:sp>
      <p:sp>
        <p:nvSpPr>
          <p:cNvPr id="25" name="TextBox 24"/>
          <p:cNvSpPr txBox="1"/>
          <p:nvPr/>
        </p:nvSpPr>
        <p:spPr>
          <a:xfrm>
            <a:off x="457200" y="495376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A002  Collective footage-20261001T081156Z-1-008/Collective footage/DJI_20260121084636_0010_D.MOV | A009  Collective footage-20261001T081156Z-1-008/Collective footage/Camera/1/ALABBASY.8842.MP4 | A003  Collective footage-20261001T081156Z-1-008/Collective footage/DJI_20260121103516_0070_D.MOV</a:t>
            </a:r>
          </a:p>
        </p:txBody>
      </p:sp>
      <p:sp>
        <p:nvSpPr>
          <p:cNvPr id="26" name="TextBox 25"/>
          <p:cNvSpPr txBox="1"/>
          <p:nvPr/>
        </p:nvSpPr>
        <p:spPr>
          <a:xfrm>
            <a:off x="457200" y="550240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للخط الذي نعمل عليه سبع خطوات، من وصول المواد إلى خروج الدفعة. نبدأ هذا الأسبوع بالثلاث الأولى: الاستلام، والوزن، والتحضير. تابعونا لتعرفوا بقية الخطوات.</a:t>
            </a:r>
          </a:p>
          <a:p>
            <a:pPr algn="l"/>
            <a:r>
              <a:rPr sz="900" b="0" i="0">
                <a:solidFill>
                  <a:srgbClr val="142B22"/>
                </a:solidFill>
                <a:latin typeface="Segoe UI"/>
                <a:cs typeface="Tahoma"/>
              </a:rPr>
              <a:t>EN: The line we work on has seven steps, from materials arriving to the batch leaving. This week we start with the first three: receive, weigh, prepare. Follow along for the rest.</a:t>
            </a:r>
          </a:p>
        </p:txBody>
      </p:sp>
      <p:sp>
        <p:nvSpPr>
          <p:cNvPr id="27" name="TextBox 26"/>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CLAIM FLAG: process description. FLAG: describes manufacturing steps 1 to 3 in plain words; no efficacy, safety, statistic, comparison, product or vendor named; no readable label in any image.</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JAN-S01</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JAN-S01 · Mon 2027-01-04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Happy new year  ·  Year and community  ·  T1 Glass object</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كل عام</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وأنتم بخير</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Happy new year. · From everyone at Sudair City.</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a new year, warmly. Premium 3D render of the numerals 2027 in semi-transparent glass and brushed metal on a glossy emerald floor, soft studio light from the upper left, mint rim light, clean reflections; emerald gradient from #09A45B (top-left glow) to #04301F, faint lattice at 8%. Numerals centred, 250 px free at top and 340 px free at the bottom for the platform UI.</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Generated only</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كل عام وأنتم بخير، من كل من يعمل في مدينة سدير.</a:t>
            </a:r>
          </a:p>
          <a:p>
            <a:pPr algn="l"/>
            <a:r>
              <a:rPr sz="900" b="0" i="0">
                <a:solidFill>
                  <a:srgbClr val="142B22"/>
                </a:solidFill>
                <a:latin typeface="Segoe UI"/>
                <a:cs typeface="Tahoma"/>
              </a:rPr>
              <a:t>EN: Happy new year from everyone at Sudair City.</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Greeting only: no claim, number beyond the year, or advice.</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JAN-F02 · COVER</a:t>
            </a:r>
          </a:p>
          <a:p>
            <a:pPr algn="ctr"/>
            <a:r>
              <a:rPr sz="900" b="1" i="0">
                <a:solidFill>
                  <a:srgbClr val="5B6B63"/>
                </a:solidFill>
                <a:latin typeface="Segoe UI"/>
                <a:cs typeface="Tahoma"/>
              </a:rPr>
              <a:t>9:16</a:t>
            </a:r>
          </a:p>
        </p:txBody>
      </p:sp>
      <p:sp>
        <p:nvSpPr>
          <p:cNvPr id="5" name="TextBox 4"/>
          <p:cNvSpPr txBox="1"/>
          <p:nvPr/>
        </p:nvSpPr>
        <p:spPr>
          <a:xfrm>
            <a:off x="457200" y="2877312"/>
            <a:ext cx="1371600" cy="64008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Cover</a:t>
            </a:r>
          </a:p>
          <a:p>
            <a:pPr rtl="1" algn="r"/>
            <a:r>
              <a:rPr sz="850" b="0" i="0">
                <a:solidFill>
                  <a:srgbClr val="5B6B63"/>
                </a:solidFill>
                <a:latin typeface="Segoe UI"/>
                <a:cs typeface="Tahoma"/>
              </a:rPr>
              <a:t>عدنا إلى الخط</a:t>
            </a:r>
          </a:p>
        </p:txBody>
      </p:sp>
      <p:sp>
        <p:nvSpPr>
          <p:cNvPr id="6" name="Rounded Rectangle 5"/>
          <p:cNvSpPr/>
          <p:nvPr/>
        </p:nvSpPr>
        <p:spPr>
          <a:xfrm>
            <a:off x="1901952"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01952"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JAN-F02 · SHOT 1</a:t>
            </a:r>
          </a:p>
          <a:p>
            <a:pPr algn="ctr"/>
            <a:r>
              <a:rPr sz="900" b="1" i="0">
                <a:solidFill>
                  <a:srgbClr val="5B6B63"/>
                </a:solidFill>
                <a:latin typeface="Segoe UI"/>
                <a:cs typeface="Tahoma"/>
              </a:rPr>
              <a:t>0s to 3s</a:t>
            </a:r>
          </a:p>
        </p:txBody>
      </p:sp>
      <p:sp>
        <p:nvSpPr>
          <p:cNvPr id="8" name="TextBox 7"/>
          <p:cNvSpPr txBox="1"/>
          <p:nvPr/>
        </p:nvSpPr>
        <p:spPr>
          <a:xfrm>
            <a:off x="1901952"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0–3s</a:t>
            </a:r>
          </a:p>
          <a:p>
            <a:pPr rtl="1" algn="r"/>
            <a:r>
              <a:rPr sz="800" b="0" i="0">
                <a:solidFill>
                  <a:srgbClr val="5B6B63"/>
                </a:solidFill>
                <a:latin typeface="Segoe UI"/>
                <a:cs typeface="Tahoma"/>
              </a:rPr>
              <a:t>يناير 2027</a:t>
            </a:r>
          </a:p>
          <a:p>
            <a:pPr algn="l"/>
            <a:r>
              <a:rPr sz="800" b="0" i="0">
                <a:solidFill>
                  <a:srgbClr val="5B6B63"/>
                </a:solidFill>
                <a:latin typeface="Segoe UI"/>
                <a:cs typeface="Tahoma"/>
              </a:rPr>
              <a:t>January 2027</a:t>
            </a:r>
          </a:p>
        </p:txBody>
      </p:sp>
      <p:sp>
        <p:nvSpPr>
          <p:cNvPr id="9" name="Rounded Rectangle 8"/>
          <p:cNvSpPr/>
          <p:nvPr/>
        </p:nvSpPr>
        <p:spPr>
          <a:xfrm>
            <a:off x="3346704"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46704"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JAN-F02 · SHOT 2</a:t>
            </a:r>
          </a:p>
          <a:p>
            <a:pPr algn="ctr"/>
            <a:r>
              <a:rPr sz="900" b="1" i="0">
                <a:solidFill>
                  <a:srgbClr val="5B6B63"/>
                </a:solidFill>
                <a:latin typeface="Segoe UI"/>
                <a:cs typeface="Tahoma"/>
              </a:rPr>
              <a:t>3s to 6s</a:t>
            </a:r>
          </a:p>
        </p:txBody>
      </p:sp>
      <p:sp>
        <p:nvSpPr>
          <p:cNvPr id="11" name="TextBox 10"/>
          <p:cNvSpPr txBox="1"/>
          <p:nvPr/>
        </p:nvSpPr>
        <p:spPr>
          <a:xfrm>
            <a:off x="3346704"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3–6s</a:t>
            </a:r>
          </a:p>
          <a:p>
            <a:pPr rtl="1" algn="r"/>
            <a:r>
              <a:rPr sz="800" b="0" i="0">
                <a:solidFill>
                  <a:srgbClr val="5B6B63"/>
                </a:solidFill>
                <a:latin typeface="Segoe UI"/>
                <a:cs typeface="Tahoma"/>
              </a:rPr>
              <a:t>تُضاء الممرات</a:t>
            </a:r>
          </a:p>
          <a:p>
            <a:pPr algn="l"/>
            <a:r>
              <a:rPr sz="800" b="0" i="0">
                <a:solidFill>
                  <a:srgbClr val="5B6B63"/>
                </a:solidFill>
                <a:latin typeface="Segoe UI"/>
                <a:cs typeface="Tahoma"/>
              </a:rPr>
              <a:t>The corridors light up</a:t>
            </a:r>
          </a:p>
        </p:txBody>
      </p:sp>
      <p:sp>
        <p:nvSpPr>
          <p:cNvPr id="12" name="Rounded Rectangle 11"/>
          <p:cNvSpPr/>
          <p:nvPr/>
        </p:nvSpPr>
        <p:spPr>
          <a:xfrm>
            <a:off x="4791456"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91456"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JAN-F02 · SHOT 3</a:t>
            </a:r>
          </a:p>
          <a:p>
            <a:pPr algn="ctr"/>
            <a:r>
              <a:rPr sz="900" b="1" i="0">
                <a:solidFill>
                  <a:srgbClr val="5B6B63"/>
                </a:solidFill>
                <a:latin typeface="Segoe UI"/>
                <a:cs typeface="Tahoma"/>
              </a:rPr>
              <a:t>6s to 10s</a:t>
            </a:r>
          </a:p>
        </p:txBody>
      </p:sp>
      <p:sp>
        <p:nvSpPr>
          <p:cNvPr id="14" name="TextBox 13"/>
          <p:cNvSpPr txBox="1"/>
          <p:nvPr/>
        </p:nvSpPr>
        <p:spPr>
          <a:xfrm>
            <a:off x="4791456"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6–10s</a:t>
            </a:r>
          </a:p>
          <a:p>
            <a:pPr rtl="1" algn="r"/>
            <a:r>
              <a:rPr sz="800" b="0" i="0">
                <a:solidFill>
                  <a:srgbClr val="5B6B63"/>
                </a:solidFill>
                <a:latin typeface="Segoe UI"/>
                <a:cs typeface="Tahoma"/>
              </a:rPr>
              <a:t>الفريق في مكانه</a:t>
            </a:r>
          </a:p>
          <a:p>
            <a:pPr algn="l"/>
            <a:r>
              <a:rPr sz="800" b="0" i="0">
                <a:solidFill>
                  <a:srgbClr val="5B6B63"/>
                </a:solidFill>
                <a:latin typeface="Segoe UI"/>
                <a:cs typeface="Tahoma"/>
              </a:rPr>
              <a:t>The team, in place</a:t>
            </a:r>
          </a:p>
        </p:txBody>
      </p:sp>
      <p:sp>
        <p:nvSpPr>
          <p:cNvPr id="15" name="Rounded Rectangle 14"/>
          <p:cNvSpPr/>
          <p:nvPr/>
        </p:nvSpPr>
        <p:spPr>
          <a:xfrm>
            <a:off x="6236208"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36208"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JAN-F02 · SHOT 4</a:t>
            </a:r>
          </a:p>
          <a:p>
            <a:pPr algn="ctr"/>
            <a:r>
              <a:rPr sz="900" b="1" i="0">
                <a:solidFill>
                  <a:srgbClr val="5B6B63"/>
                </a:solidFill>
                <a:latin typeface="Segoe UI"/>
                <a:cs typeface="Tahoma"/>
              </a:rPr>
              <a:t>10s to 13s</a:t>
            </a:r>
          </a:p>
        </p:txBody>
      </p:sp>
      <p:sp>
        <p:nvSpPr>
          <p:cNvPr id="17" name="TextBox 16"/>
          <p:cNvSpPr txBox="1"/>
          <p:nvPr/>
        </p:nvSpPr>
        <p:spPr>
          <a:xfrm>
            <a:off x="6236208"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10–13s</a:t>
            </a:r>
          </a:p>
          <a:p>
            <a:pPr rtl="1" algn="r"/>
            <a:r>
              <a:rPr sz="800" b="0" i="0">
                <a:solidFill>
                  <a:srgbClr val="5B6B63"/>
                </a:solidFill>
                <a:latin typeface="Segoe UI"/>
                <a:cs typeface="Tahoma"/>
              </a:rPr>
              <a:t>على المقعد</a:t>
            </a:r>
          </a:p>
          <a:p>
            <a:pPr algn="l"/>
            <a:r>
              <a:rPr sz="800" b="0" i="0">
                <a:solidFill>
                  <a:srgbClr val="5B6B63"/>
                </a:solidFill>
                <a:latin typeface="Segoe UI"/>
                <a:cs typeface="Tahoma"/>
              </a:rPr>
              <a:t>At the bench</a:t>
            </a:r>
          </a:p>
        </p:txBody>
      </p:sp>
      <p:sp>
        <p:nvSpPr>
          <p:cNvPr id="18" name="Rounded Rectangle 17"/>
          <p:cNvSpPr/>
          <p:nvPr/>
        </p:nvSpPr>
        <p:spPr>
          <a:xfrm>
            <a:off x="7680960"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0"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JAN-F02 · SHOT 5</a:t>
            </a:r>
          </a:p>
          <a:p>
            <a:pPr algn="ctr"/>
            <a:r>
              <a:rPr sz="900" b="1" i="0">
                <a:solidFill>
                  <a:srgbClr val="5B6B63"/>
                </a:solidFill>
                <a:latin typeface="Segoe UI"/>
                <a:cs typeface="Tahoma"/>
              </a:rPr>
              <a:t>13s to 18s</a:t>
            </a:r>
          </a:p>
        </p:txBody>
      </p:sp>
      <p:sp>
        <p:nvSpPr>
          <p:cNvPr id="20" name="TextBox 19"/>
          <p:cNvSpPr txBox="1"/>
          <p:nvPr/>
        </p:nvSpPr>
        <p:spPr>
          <a:xfrm>
            <a:off x="7680960"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13–18s</a:t>
            </a:r>
          </a:p>
          <a:p>
            <a:pPr rtl="1" algn="r"/>
            <a:r>
              <a:rPr sz="800" b="0" i="0">
                <a:solidFill>
                  <a:srgbClr val="5B6B63"/>
                </a:solidFill>
                <a:latin typeface="Segoe UI"/>
                <a:cs typeface="Tahoma"/>
              </a:rPr>
              <a:t>نساءٌ ورجال، إيقاعٌ واحد</a:t>
            </a:r>
          </a:p>
          <a:p>
            <a:pPr algn="l"/>
            <a:r>
              <a:rPr sz="800" b="0" i="0">
                <a:solidFill>
                  <a:srgbClr val="5B6B63"/>
                </a:solidFill>
                <a:latin typeface="Segoe UI"/>
                <a:cs typeface="Tahoma"/>
              </a:rPr>
              <a:t>Women and men, one rhythm</a:t>
            </a:r>
          </a:p>
        </p:txBody>
      </p:sp>
      <p:sp>
        <p:nvSpPr>
          <p:cNvPr id="21" name="Rounded Rectangle 20"/>
          <p:cNvSpPr/>
          <p:nvPr/>
        </p:nvSpPr>
        <p:spPr>
          <a:xfrm>
            <a:off x="9125712"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25712"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JAN-F02 · SHOT 6</a:t>
            </a:r>
          </a:p>
          <a:p>
            <a:pPr algn="ctr"/>
            <a:r>
              <a:rPr sz="900" b="1" i="0">
                <a:solidFill>
                  <a:srgbClr val="5B6B63"/>
                </a:solidFill>
                <a:latin typeface="Segoe UI"/>
                <a:cs typeface="Tahoma"/>
              </a:rPr>
              <a:t>18s to 20s</a:t>
            </a:r>
          </a:p>
        </p:txBody>
      </p:sp>
      <p:sp>
        <p:nvSpPr>
          <p:cNvPr id="23" name="TextBox 22"/>
          <p:cNvSpPr txBox="1"/>
          <p:nvPr/>
        </p:nvSpPr>
        <p:spPr>
          <a:xfrm>
            <a:off x="9125712"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18–20s</a:t>
            </a:r>
          </a:p>
          <a:p>
            <a:pPr rtl="1" algn="r"/>
            <a:r>
              <a:rPr sz="800" b="0" i="0">
                <a:solidFill>
                  <a:srgbClr val="5B6B63"/>
                </a:solidFill>
                <a:latin typeface="Segoe UI"/>
                <a:cs typeface="Tahoma"/>
              </a:rPr>
              <a:t>صناعة تُرى، وأثر يُقاس.</a:t>
            </a:r>
          </a:p>
          <a:p>
            <a:pPr algn="l"/>
            <a:r>
              <a:rPr sz="800" b="0" i="0">
                <a:solidFill>
                  <a:srgbClr val="5B6B63"/>
                </a:solidFill>
                <a:latin typeface="Segoe UI"/>
                <a:cs typeface="Tahoma"/>
              </a:rPr>
              <a:t>Visible capability. Measurable impact. sudairpharma.com</a:t>
            </a:r>
          </a:p>
        </p:txBody>
      </p:sp>
      <p:sp>
        <p:nvSpPr>
          <p:cNvPr id="24" name="Rounded Rectangle 23"/>
          <p:cNvSpPr/>
          <p:nvPr/>
        </p:nvSpPr>
        <p:spPr>
          <a:xfrm>
            <a:off x="457200" y="376428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76428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JAN-F02 · Tue 2027-01-05 · Instagram + Facebook · Reel</a:t>
            </a:r>
          </a:p>
        </p:txBody>
      </p:sp>
      <p:sp>
        <p:nvSpPr>
          <p:cNvPr id="26" name="TextBox 25"/>
          <p:cNvSpPr txBox="1"/>
          <p:nvPr/>
        </p:nvSpPr>
        <p:spPr>
          <a:xfrm>
            <a:off x="457200" y="422148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Back on the line  ·  Meet the makers  ·  T2 Team landscape</a:t>
            </a:r>
          </a:p>
        </p:txBody>
      </p:sp>
      <p:sp>
        <p:nvSpPr>
          <p:cNvPr id="27" name="TextBox 26"/>
          <p:cNvSpPr txBox="1"/>
          <p:nvPr/>
        </p:nvSpPr>
        <p:spPr>
          <a:xfrm>
            <a:off x="457200" y="4568952"/>
            <a:ext cx="11247120"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عدنا إلى الخط</a:t>
            </a:r>
          </a:p>
        </p:txBody>
      </p:sp>
      <p:sp>
        <p:nvSpPr>
          <p:cNvPr id="28" name="TextBox 27"/>
          <p:cNvSpPr txBox="1"/>
          <p:nvPr/>
        </p:nvSpPr>
        <p:spPr>
          <a:xfrm>
            <a:off x="457200" y="4980432"/>
            <a:ext cx="11247120"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من جديد</a:t>
            </a:r>
          </a:p>
        </p:txBody>
      </p:sp>
      <p:sp>
        <p:nvSpPr>
          <p:cNvPr id="29" name="TextBox 28"/>
          <p:cNvSpPr txBox="1"/>
          <p:nvPr/>
        </p:nvSpPr>
        <p:spPr>
          <a:xfrm>
            <a:off x="457200" y="5327904"/>
            <a:ext cx="11247120"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Back on the line. · Week one of 2027, in its usual rhythm.</a:t>
            </a:r>
          </a:p>
        </p:txBody>
      </p:sp>
      <p:sp>
        <p:nvSpPr>
          <p:cNvPr id="30" name="TextBox 29"/>
          <p:cNvSpPr txBox="1"/>
          <p:nvPr/>
        </p:nvSpPr>
        <p:spPr>
          <a:xfrm>
            <a:off x="457200" y="5785104"/>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the people are back and the plant is in motion. Reel cover: the wide real photograph of the packaging-hall team at the line (A013), women and men standing along the line, natural faces, graded to the Sudair emerald palette with a teal-green sky tone in the window light; horizon of the line at 60% of the frame. Logo area top-left clear.</a:t>
            </a:r>
          </a:p>
        </p:txBody>
      </p:sp>
      <p:sp>
        <p:nvSpPr>
          <p:cNvPr id="31" name="TextBox 30"/>
          <p:cNvSpPr txBox="1"/>
          <p:nvPr/>
        </p:nvSpPr>
        <p:spPr>
          <a:xfrm>
            <a:off x="457200" y="6562344"/>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A001  Collective footage-20261001T081156Z-1-008/Collective footage/DJI_20260121084222_0001_D.MOV | A003  Collective footage-20261001T081156Z-1-008/Collective footage/DJI_20260121103516_0070_D.MOV | A012  Collective footage-20261001T081156Z-1-008/Collective footage/Camera/1/ALABBASY.8892.MP4 | A007  </a:t>
            </a:r>
          </a:p>
        </p:txBody>
      </p:sp>
      <p:sp>
        <p:nvSpPr>
          <p:cNvPr id="32" name="TextBox 31"/>
          <p:cNvSpPr txBox="1"/>
          <p:nvPr/>
        </p:nvSpPr>
        <p:spPr>
          <a:xfrm>
            <a:off x="457200" y="7110984"/>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أسبوع العمل الأول من 2027، بإيقاعه المعتاد. نساءٌ ورجال، كلٌّ في موقعه، وفريقٌ واحد. شاركونا في التعليقات أمنيتكم لهذا العام.</a:t>
            </a:r>
          </a:p>
          <a:p>
            <a:pPr algn="l"/>
            <a:r>
              <a:rPr sz="900" b="0" i="0">
                <a:solidFill>
                  <a:srgbClr val="142B22"/>
                </a:solidFill>
                <a:latin typeface="Segoe UI"/>
                <a:cs typeface="Tahoma"/>
              </a:rPr>
              <a:t>EN: Week one of 2027, in its usual rhythm. Women and men, each at their station, one team. Tell us in the comments what you hope this year brings.</a:t>
            </a:r>
          </a:p>
        </p:txBody>
      </p:sp>
      <p:sp>
        <p:nvSpPr>
          <p:cNvPr id="33" name="TextBox 32"/>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People at work and place only: no product, pack or readable label in any frame; no output, speed or quality claim. Staff in A007, A012 and A013 need written consent before the reel runs.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JAN-L02 · S1</a:t>
            </a:r>
          </a:p>
          <a:p>
            <a:pPr algn="ctr"/>
            <a:r>
              <a:rPr sz="900" b="1" i="0">
                <a:solidFill>
                  <a:srgbClr val="5B6B63"/>
                </a:solidFill>
                <a:latin typeface="Segoe UI"/>
                <a:cs typeface="Tahoma"/>
              </a:rPr>
              <a:t>1080 × 1350</a:t>
            </a:r>
          </a:p>
        </p:txBody>
      </p:sp>
      <p:sp>
        <p:nvSpPr>
          <p:cNvPr id="5" name="TextBox 4"/>
          <p:cNvSpPr txBox="1"/>
          <p:nvPr/>
        </p:nvSpPr>
        <p:spPr>
          <a:xfrm>
            <a:off x="45720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ما سترونه هنا</a:t>
            </a:r>
          </a:p>
          <a:p>
            <a:pPr algn="l"/>
            <a:r>
              <a:rPr sz="850" b="0" i="0">
                <a:solidFill>
                  <a:srgbClr val="5B6B63"/>
                </a:solidFill>
                <a:latin typeface="Segoe UI"/>
                <a:cs typeface="Tahoma"/>
              </a:rPr>
              <a:t>What you will see here in 2027</a:t>
            </a:r>
          </a:p>
        </p:txBody>
      </p:sp>
      <p:sp>
        <p:nvSpPr>
          <p:cNvPr id="6" name="Rounded Rectangle 5"/>
          <p:cNvSpPr/>
          <p:nvPr/>
        </p:nvSpPr>
        <p:spPr>
          <a:xfrm>
            <a:off x="265176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JAN-L02 · S2</a:t>
            </a:r>
          </a:p>
          <a:p>
            <a:pPr algn="ctr"/>
            <a:r>
              <a:rPr sz="900" b="1" i="0">
                <a:solidFill>
                  <a:srgbClr val="5B6B63"/>
                </a:solidFill>
                <a:latin typeface="Segoe UI"/>
                <a:cs typeface="Tahoma"/>
              </a:rPr>
              <a:t>1080 × 1350</a:t>
            </a:r>
          </a:p>
        </p:txBody>
      </p:sp>
      <p:sp>
        <p:nvSpPr>
          <p:cNvPr id="8" name="TextBox 7"/>
          <p:cNvSpPr txBox="1"/>
          <p:nvPr/>
        </p:nvSpPr>
        <p:spPr>
          <a:xfrm>
            <a:off x="265176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وجوه الفريق</a:t>
            </a:r>
          </a:p>
          <a:p>
            <a:pPr algn="l"/>
            <a:r>
              <a:rPr sz="850" b="0" i="0">
                <a:solidFill>
                  <a:srgbClr val="5B6B63"/>
                </a:solidFill>
                <a:latin typeface="Segoe UI"/>
                <a:cs typeface="Tahoma"/>
              </a:rPr>
              <a:t>The faces of the team</a:t>
            </a:r>
          </a:p>
        </p:txBody>
      </p:sp>
      <p:sp>
        <p:nvSpPr>
          <p:cNvPr id="9" name="Rounded Rectangle 8"/>
          <p:cNvSpPr/>
          <p:nvPr/>
        </p:nvSpPr>
        <p:spPr>
          <a:xfrm>
            <a:off x="484632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JAN-L02 · S3</a:t>
            </a:r>
          </a:p>
          <a:p>
            <a:pPr algn="ctr"/>
            <a:r>
              <a:rPr sz="900" b="1" i="0">
                <a:solidFill>
                  <a:srgbClr val="5B6B63"/>
                </a:solidFill>
                <a:latin typeface="Segoe UI"/>
                <a:cs typeface="Tahoma"/>
              </a:rPr>
              <a:t>1080 × 1350</a:t>
            </a:r>
          </a:p>
        </p:txBody>
      </p:sp>
      <p:sp>
        <p:nvSpPr>
          <p:cNvPr id="11" name="TextBox 10"/>
          <p:cNvSpPr txBox="1"/>
          <p:nvPr/>
        </p:nvSpPr>
        <p:spPr>
          <a:xfrm>
            <a:off x="484632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idea</a:t>
            </a:r>
          </a:p>
          <a:p>
            <a:pPr rtl="1" algn="r"/>
            <a:r>
              <a:rPr sz="850" b="0" i="0">
                <a:solidFill>
                  <a:srgbClr val="5B6B63"/>
                </a:solidFill>
                <a:latin typeface="Segoe UI"/>
                <a:cs typeface="Tahoma"/>
              </a:rPr>
              <a:t>المكان</a:t>
            </a:r>
          </a:p>
          <a:p>
            <a:pPr algn="l"/>
            <a:r>
              <a:rPr sz="850" b="0" i="0">
                <a:solidFill>
                  <a:srgbClr val="5B6B63"/>
                </a:solidFill>
                <a:latin typeface="Segoe UI"/>
                <a:cs typeface="Tahoma"/>
              </a:rPr>
              <a:t>The place</a:t>
            </a:r>
          </a:p>
        </p:txBody>
      </p:sp>
      <p:sp>
        <p:nvSpPr>
          <p:cNvPr id="12" name="Rounded Rectangle 11"/>
          <p:cNvSpPr/>
          <p:nvPr/>
        </p:nvSpPr>
        <p:spPr>
          <a:xfrm>
            <a:off x="7040879"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79"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JAN-L02 · S4</a:t>
            </a:r>
          </a:p>
          <a:p>
            <a:pPr algn="ctr"/>
            <a:r>
              <a:rPr sz="900" b="1" i="0">
                <a:solidFill>
                  <a:srgbClr val="5B6B63"/>
                </a:solidFill>
                <a:latin typeface="Segoe UI"/>
                <a:cs typeface="Tahoma"/>
              </a:rPr>
              <a:t>1080 × 1350</a:t>
            </a:r>
          </a:p>
        </p:txBody>
      </p:sp>
      <p:sp>
        <p:nvSpPr>
          <p:cNvPr id="14" name="TextBox 13"/>
          <p:cNvSpPr txBox="1"/>
          <p:nvPr/>
        </p:nvSpPr>
        <p:spPr>
          <a:xfrm>
            <a:off x="7040879"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idea</a:t>
            </a:r>
          </a:p>
          <a:p>
            <a:pPr rtl="1" algn="r"/>
            <a:r>
              <a:rPr sz="850" b="0" i="0">
                <a:solidFill>
                  <a:srgbClr val="5B6B63"/>
                </a:solidFill>
                <a:latin typeface="Segoe UI"/>
                <a:cs typeface="Tahoma"/>
              </a:rPr>
              <a:t>العمل</a:t>
            </a:r>
          </a:p>
          <a:p>
            <a:pPr algn="l"/>
            <a:r>
              <a:rPr sz="850" b="0" i="0">
                <a:solidFill>
                  <a:srgbClr val="5B6B63"/>
                </a:solidFill>
                <a:latin typeface="Segoe UI"/>
                <a:cs typeface="Tahoma"/>
              </a:rPr>
              <a:t>The work</a:t>
            </a:r>
          </a:p>
        </p:txBody>
      </p:sp>
      <p:sp>
        <p:nvSpPr>
          <p:cNvPr id="15" name="Rounded Rectangle 14"/>
          <p:cNvSpPr/>
          <p:nvPr/>
        </p:nvSpPr>
        <p:spPr>
          <a:xfrm>
            <a:off x="923544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JAN-L02 · S5</a:t>
            </a:r>
          </a:p>
          <a:p>
            <a:pPr algn="ctr"/>
            <a:r>
              <a:rPr sz="900" b="1" i="0">
                <a:solidFill>
                  <a:srgbClr val="5B6B63"/>
                </a:solidFill>
                <a:latin typeface="Segoe UI"/>
                <a:cs typeface="Tahoma"/>
              </a:rPr>
              <a:t>1080 × 1350</a:t>
            </a:r>
          </a:p>
        </p:txBody>
      </p:sp>
      <p:sp>
        <p:nvSpPr>
          <p:cNvPr id="17" name="TextBox 16"/>
          <p:cNvSpPr txBox="1"/>
          <p:nvPr/>
        </p:nvSpPr>
        <p:spPr>
          <a:xfrm>
            <a:off x="923544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cta</a:t>
            </a:r>
          </a:p>
          <a:p>
            <a:pPr rtl="1" algn="r"/>
            <a:r>
              <a:rPr sz="850" b="0" i="0">
                <a:solidFill>
                  <a:srgbClr val="5B6B63"/>
                </a:solidFill>
                <a:latin typeface="Segoe UI"/>
                <a:cs typeface="Tahoma"/>
              </a:rPr>
              <a:t>صناعة تُرى،</a:t>
            </a:r>
          </a:p>
          <a:p>
            <a:pPr algn="l"/>
            <a:r>
              <a:rPr sz="850" b="0" i="0">
                <a:solidFill>
                  <a:srgbClr val="5B6B63"/>
                </a:solidFill>
                <a:latin typeface="Segoe UI"/>
                <a:cs typeface="Tahoma"/>
              </a:rPr>
              <a:t>Visible capability. Measurable impact.</a:t>
            </a:r>
          </a:p>
        </p:txBody>
      </p:sp>
      <p:sp>
        <p:nvSpPr>
          <p:cNvPr id="18" name="Rounded Rectangle 17"/>
          <p:cNvSpPr/>
          <p:nvPr/>
        </p:nvSpPr>
        <p:spPr>
          <a:xfrm>
            <a:off x="457200" y="390906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0906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JAN-L02 · Wed 2027-01-06 · LinkedIn + X · Carousel</a:t>
            </a:r>
          </a:p>
        </p:txBody>
      </p:sp>
      <p:sp>
        <p:nvSpPr>
          <p:cNvPr id="20" name="TextBox 19"/>
          <p:cNvSpPr txBox="1"/>
          <p:nvPr/>
        </p:nvSpPr>
        <p:spPr>
          <a:xfrm>
            <a:off x="457200" y="436626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What you will see here in 2027  ·  Year and community  ·  T8 Type card</a:t>
            </a:r>
          </a:p>
        </p:txBody>
      </p:sp>
      <p:sp>
        <p:nvSpPr>
          <p:cNvPr id="21" name="TextBox 20"/>
          <p:cNvSpPr txBox="1"/>
          <p:nvPr/>
        </p:nvSpPr>
        <p:spPr>
          <a:xfrm>
            <a:off x="457200" y="471373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A type-only card on deep emerald: the two-level Arabic headline centred, a thin mint rule, one small white palm line icon, hairline inset frame. The message is an invitation to a year of people, place and work seen from inside. No photograph.</a:t>
            </a:r>
          </a:p>
        </p:txBody>
      </p:sp>
      <p:sp>
        <p:nvSpPr>
          <p:cNvPr id="22" name="TextBox 21"/>
          <p:cNvSpPr txBox="1"/>
          <p:nvPr/>
        </p:nvSpPr>
        <p:spPr>
          <a:xfrm>
            <a:off x="457200" y="535381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A013  Collective footage-20261001T081156Z-1-008/Collective footage/Camera/2/jaradi20260121_8608.MP4 | A002  Collective footage-20261001T081156Z-1-008/Collective footage/DJI_20260121084636_0010_D.MOV | A007  Collective footage-20261001T081156Z-1-008/Collective footage/Camera/1/ALABBASY.8838.MP4</a:t>
            </a:r>
          </a:p>
        </p:txBody>
      </p:sp>
      <p:sp>
        <p:nvSpPr>
          <p:cNvPr id="23" name="TextBox 22"/>
          <p:cNvSpPr txBox="1"/>
          <p:nvPr/>
        </p:nvSpPr>
        <p:spPr>
          <a:xfrm>
            <a:off x="457200" y="590245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عامٌ جديد، وصفحة تعرّفكم بمن يعمل في سدير للأدوية وبالمكان الذي نعمل فيه. وجوه الفريق، ومدينة سدير، والعمل كما يُرى من قرب. ما الذي تودّون رؤيته هنا؟ شاركونا في التعليقات.</a:t>
            </a:r>
          </a:p>
          <a:p>
            <a:pPr algn="l"/>
            <a:r>
              <a:rPr sz="900" b="0" i="0">
                <a:solidFill>
                  <a:srgbClr val="142B22"/>
                </a:solidFill>
                <a:latin typeface="Segoe UI"/>
                <a:cs typeface="Tahoma"/>
              </a:rPr>
              <a:t>EN: A new year, and a page about the people who work at Sudair Pharma and the place we work in. The faces of the team, Sudair City, and the work as it looks up close. What would you like to see here? Tell us in the comments.</a:t>
            </a:r>
          </a:p>
        </p:txBody>
      </p:sp>
      <p:sp>
        <p:nvSpPr>
          <p:cNvPr id="24" name="TextBox 23"/>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Invitation and introduction only: no process, quality, technology, number or promise stated; consent needed for A013 and A007.</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JAN-S02</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JAN-S02 · Wed 2027-01-06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Week one, same rhythm  ·  Meet the makers  ·  T2 Team landscape</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أسبوعٌ جديد</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بالإيقاع نفسه</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Week one. Same rhythm. · The team, at the line.</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the team is at work and the rhythm has not changed. Full-bleed vertical crop of the packaging-hall team at the line (A013), natural faces, emerald-teal grade; the lower third darkened for the headline; 250 px free at top, 340 px at bottom.</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A013  Collective footage-20261001T081156Z-1-008/Collective footage/Camera/2/jaradi20260121_8608.MP4</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أسبوعٌ جديد، والفريق في مكانه بالإيقاع نفسه.</a:t>
            </a:r>
          </a:p>
          <a:p>
            <a:pPr algn="l"/>
            <a:r>
              <a:rPr sz="900" b="0" i="0">
                <a:solidFill>
                  <a:srgbClr val="142B22"/>
                </a:solidFill>
                <a:latin typeface="Segoe UI"/>
                <a:cs typeface="Tahoma"/>
              </a:rPr>
              <a:t>EN: A new week, and the team is in its place at the same rhythm.</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People at work only; no product, pack or readable label; no output or quality statement. Consent for staff in A013.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493776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493776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JAN-F03</a:t>
            </a:r>
          </a:p>
          <a:p>
            <a:pPr algn="ctr"/>
            <a:r>
              <a:rPr sz="900" b="1" i="0">
                <a:solidFill>
                  <a:srgbClr val="5B6B63"/>
                </a:solidFill>
                <a:latin typeface="Segoe UI"/>
                <a:cs typeface="Tahoma"/>
              </a:rPr>
              <a:t>1080 × 1350 px (4:5)</a:t>
            </a:r>
          </a:p>
        </p:txBody>
      </p:sp>
      <p:sp>
        <p:nvSpPr>
          <p:cNvPr id="5" name="Rounded Rectangle 4"/>
          <p:cNvSpPr/>
          <p:nvPr/>
        </p:nvSpPr>
        <p:spPr>
          <a:xfrm>
            <a:off x="5669280" y="457200"/>
            <a:ext cx="603504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0" y="457200"/>
            <a:ext cx="585215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JAN-F03 · Thu 2027-01-07 · Instagram + Facebook · Still</a:t>
            </a:r>
          </a:p>
        </p:txBody>
      </p:sp>
      <p:sp>
        <p:nvSpPr>
          <p:cNvPr id="7" name="TextBox 6"/>
          <p:cNvSpPr txBox="1"/>
          <p:nvPr/>
        </p:nvSpPr>
        <p:spPr>
          <a:xfrm>
            <a:off x="5669280" y="914400"/>
            <a:ext cx="603504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New year, one site  ·  Year and community  ·  T8 Type card</a:t>
            </a:r>
          </a:p>
        </p:txBody>
      </p:sp>
      <p:sp>
        <p:nvSpPr>
          <p:cNvPr id="8" name="TextBox 7"/>
          <p:cNvSpPr txBox="1"/>
          <p:nvPr/>
        </p:nvSpPr>
        <p:spPr>
          <a:xfrm>
            <a:off x="5669280" y="1261872"/>
            <a:ext cx="6035040"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عام جديد</a:t>
            </a:r>
          </a:p>
        </p:txBody>
      </p:sp>
      <p:sp>
        <p:nvSpPr>
          <p:cNvPr id="9" name="TextBox 8"/>
          <p:cNvSpPr txBox="1"/>
          <p:nvPr/>
        </p:nvSpPr>
        <p:spPr>
          <a:xfrm>
            <a:off x="5669280" y="1673351"/>
            <a:ext cx="6035040"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موقع واحد</a:t>
            </a:r>
          </a:p>
        </p:txBody>
      </p:sp>
      <p:sp>
        <p:nvSpPr>
          <p:cNvPr id="10" name="TextBox 9"/>
          <p:cNvSpPr txBox="1"/>
          <p:nvPr/>
        </p:nvSpPr>
        <p:spPr>
          <a:xfrm>
            <a:off x="5669280" y="2020824"/>
            <a:ext cx="6035040"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New year. One site. · Happy new year from everyone who works at Sudair City.</a:t>
            </a:r>
          </a:p>
        </p:txBody>
      </p:sp>
      <p:sp>
        <p:nvSpPr>
          <p:cNvPr id="11" name="TextBox 10"/>
          <p:cNvSpPr txBox="1"/>
          <p:nvPr/>
        </p:nvSpPr>
        <p:spPr>
          <a:xfrm>
            <a:off x="5669280" y="2478024"/>
            <a:ext cx="603504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one site, many hands, one wish for the year. Type card on a deep emerald gradient, centred two-level Arabic headline with kashida on one word of the top line, thin mint rule, one small white palm-burst symbol icon at 60 px, hairline inset frame 24 px from the edge. No photograph.</a:t>
            </a:r>
          </a:p>
        </p:txBody>
      </p:sp>
      <p:sp>
        <p:nvSpPr>
          <p:cNvPr id="12" name="TextBox 11"/>
          <p:cNvSpPr txBox="1"/>
          <p:nvPr/>
        </p:nvSpPr>
        <p:spPr>
          <a:xfrm>
            <a:off x="5669280" y="3255264"/>
            <a:ext cx="603504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Generated only</a:t>
            </a:r>
          </a:p>
        </p:txBody>
      </p:sp>
      <p:sp>
        <p:nvSpPr>
          <p:cNvPr id="13" name="TextBox 12"/>
          <p:cNvSpPr txBox="1"/>
          <p:nvPr/>
        </p:nvSpPr>
        <p:spPr>
          <a:xfrm>
            <a:off x="5669280" y="3803904"/>
            <a:ext cx="603504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عامٌ جديد، وموقعٌ واحد يجمعنا: أيدٍ كثيرة، وفِرَقٌ تتكامل. كل عام وأنتم بخير من كل من يعمل في مدينة سدير. ما أمنيتكم لهذا العام؟</a:t>
            </a:r>
          </a:p>
          <a:p>
            <a:pPr algn="l"/>
            <a:r>
              <a:rPr sz="900" b="0" i="0">
                <a:solidFill>
                  <a:srgbClr val="142B22"/>
                </a:solidFill>
                <a:latin typeface="Segoe UI"/>
                <a:cs typeface="Tahoma"/>
              </a:rPr>
              <a:t>EN: A new year, and one site that brings us together: many hands, many teams. Happy new year from everyone who works at Sudair City. What do you wish for this year?</a:t>
            </a:r>
          </a:p>
        </p:txBody>
      </p:sp>
      <p:sp>
        <p:nvSpPr>
          <p:cNvPr id="14" name="TextBox 13"/>
          <p:cNvSpPr txBox="1"/>
          <p:nvPr/>
        </p:nvSpPr>
        <p:spPr>
          <a:xfrm>
            <a:off x="5669280" y="6400800"/>
            <a:ext cx="603504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Greeting only: no claim, number or advice; the symbol is the approved white symbol file, not redrawn.</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JAN-S03</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JAN-S03 · Thu 2027-01-07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Question box  ·  Year and community  ·  T8 Type card</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اسألونا</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عن المصنع</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Ask us. · What do you want to see inside the plant this year?</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an open invitation to ask. Deep emerald type card with the headline, thin mint rule and an empty rounded box area where the question sticker will sit; hairline frame. No photograph.</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Generated only</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ماذا تودّون أن تروا داخل المصنع هذا العام؟</a:t>
            </a:r>
          </a:p>
          <a:p>
            <a:pPr algn="l"/>
            <a:r>
              <a:rPr sz="900" b="0" i="0">
                <a:solidFill>
                  <a:srgbClr val="142B22"/>
                </a:solidFill>
                <a:latin typeface="Segoe UI"/>
                <a:cs typeface="Tahoma"/>
              </a:rPr>
              <a:t>EN: What do you want to see inside the plant this year?</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Invitation only. Moderate replies: do not answer questions about products, indications or medical advice; redirect to the official channel.</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493776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493776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JAN-F04</a:t>
            </a:r>
          </a:p>
          <a:p>
            <a:pPr algn="ctr"/>
            <a:r>
              <a:rPr sz="900" b="1" i="0">
                <a:solidFill>
                  <a:srgbClr val="5B6B63"/>
                </a:solidFill>
                <a:latin typeface="Segoe UI"/>
                <a:cs typeface="Tahoma"/>
              </a:rPr>
              <a:t>1080 × 1350 px (4:5)</a:t>
            </a:r>
          </a:p>
        </p:txBody>
      </p:sp>
      <p:sp>
        <p:nvSpPr>
          <p:cNvPr id="5" name="Rounded Rectangle 4"/>
          <p:cNvSpPr/>
          <p:nvPr/>
        </p:nvSpPr>
        <p:spPr>
          <a:xfrm>
            <a:off x="5669280" y="457200"/>
            <a:ext cx="603504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0" y="457200"/>
            <a:ext cx="585215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JAN-F04 · Sun 2027-01-10 · Instagram + Facebook · Still</a:t>
            </a:r>
          </a:p>
        </p:txBody>
      </p:sp>
      <p:sp>
        <p:nvSpPr>
          <p:cNvPr id="7" name="TextBox 6"/>
          <p:cNvSpPr txBox="1"/>
          <p:nvPr/>
        </p:nvSpPr>
        <p:spPr>
          <a:xfrm>
            <a:off x="5669280" y="914400"/>
            <a:ext cx="603504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Step 6: release  ·  How it is made  ·  T1 Glass object</a:t>
            </a:r>
          </a:p>
        </p:txBody>
      </p:sp>
      <p:sp>
        <p:nvSpPr>
          <p:cNvPr id="8" name="TextBox 7"/>
          <p:cNvSpPr txBox="1"/>
          <p:nvPr/>
        </p:nvSpPr>
        <p:spPr>
          <a:xfrm>
            <a:off x="5669280" y="1261872"/>
            <a:ext cx="6035040"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الخطوة السادسة</a:t>
            </a:r>
          </a:p>
        </p:txBody>
      </p:sp>
      <p:sp>
        <p:nvSpPr>
          <p:cNvPr id="9" name="TextBox 8"/>
          <p:cNvSpPr txBox="1"/>
          <p:nvPr/>
        </p:nvSpPr>
        <p:spPr>
          <a:xfrm>
            <a:off x="5669280" y="1673351"/>
            <a:ext cx="6035040"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الإفراج</a:t>
            </a:r>
          </a:p>
        </p:txBody>
      </p:sp>
      <p:sp>
        <p:nvSpPr>
          <p:cNvPr id="10" name="TextBox 9"/>
          <p:cNvSpPr txBox="1"/>
          <p:nvPr/>
        </p:nvSpPr>
        <p:spPr>
          <a:xfrm>
            <a:off x="5669280" y="2020824"/>
            <a:ext cx="6035040"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Step 6: Release. · A batch moves on when its record is reviewed and signed off.</a:t>
            </a:r>
          </a:p>
        </p:txBody>
      </p:sp>
      <p:sp>
        <p:nvSpPr>
          <p:cNvPr id="11" name="TextBox 10"/>
          <p:cNvSpPr txBox="1"/>
          <p:nvPr/>
        </p:nvSpPr>
        <p:spPr>
          <a:xfrm>
            <a:off x="5669280" y="2478024"/>
            <a:ext cx="603504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release is a decision made on a written record. Premium 3D render of a sealed record folder in semi-transparent glass and brushed metal, closed with a mint ribbon seal, a small check mark engraved on the seal, resting on a glossy emerald floor; soft studio light from the upper left, mint rim light; emerald gradient #09A45B to #04301F with faint lattice at 8%. Object centred at 55% of the frame height. No rea</a:t>
            </a:r>
          </a:p>
        </p:txBody>
      </p:sp>
      <p:sp>
        <p:nvSpPr>
          <p:cNvPr id="12" name="TextBox 11"/>
          <p:cNvSpPr txBox="1"/>
          <p:nvPr/>
        </p:nvSpPr>
        <p:spPr>
          <a:xfrm>
            <a:off x="5669280" y="3255264"/>
            <a:ext cx="603504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Generated only</a:t>
            </a:r>
          </a:p>
        </p:txBody>
      </p:sp>
      <p:sp>
        <p:nvSpPr>
          <p:cNvPr id="13" name="TextBox 12"/>
          <p:cNvSpPr txBox="1"/>
          <p:nvPr/>
        </p:nvSpPr>
        <p:spPr>
          <a:xfrm>
            <a:off x="5669280" y="3803904"/>
            <a:ext cx="603504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الخطوة السادسة من الخط: الإفراج. لا تنتقل التشغيلة إلى ما بعدها إلا بعد مراجعة سجلّها واعتماده من وحدة الجودة. تابعوا السلسلة، وقولوا لنا أي خطوة تودّون أن نشرحها أكثر.</a:t>
            </a:r>
          </a:p>
          <a:p>
            <a:pPr algn="l"/>
            <a:r>
              <a:rPr sz="900" b="0" i="0">
                <a:solidFill>
                  <a:srgbClr val="142B22"/>
                </a:solidFill>
                <a:latin typeface="Segoe UI"/>
                <a:cs typeface="Tahoma"/>
              </a:rPr>
              <a:t>EN: Step 6 on the line: release. A batch moves on only after its record has been reviewed and signed off by the quality unit. Follow the series, and tell us which step you want explained next.</a:t>
            </a:r>
          </a:p>
        </p:txBody>
      </p:sp>
      <p:sp>
        <p:nvSpPr>
          <p:cNvPr id="14" name="TextBox 13"/>
          <p:cNvSpPr txBox="1"/>
          <p:nvPr/>
        </p:nvSpPr>
        <p:spPr>
          <a:xfrm>
            <a:off x="5669280" y="6400800"/>
            <a:ext cx="603504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CLAIM FLAG: process description. FLAG, process description: states how a batch is released. Descriptive only; no efficacy, safety or outcome wording, no product or label.</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JAN-L03 · S1</a:t>
            </a:r>
          </a:p>
          <a:p>
            <a:pPr algn="ctr"/>
            <a:r>
              <a:rPr sz="900" b="1" i="0">
                <a:solidFill>
                  <a:srgbClr val="5B6B63"/>
                </a:solidFill>
                <a:latin typeface="Segoe UI"/>
                <a:cs typeface="Tahoma"/>
              </a:rPr>
              <a:t>1080 × 1350</a:t>
            </a:r>
          </a:p>
        </p:txBody>
      </p:sp>
      <p:sp>
        <p:nvSpPr>
          <p:cNvPr id="5" name="TextBox 4"/>
          <p:cNvSpPr txBox="1"/>
          <p:nvPr/>
        </p:nvSpPr>
        <p:spPr>
          <a:xfrm>
            <a:off x="45720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كيف يُصنع الدواء؟</a:t>
            </a:r>
          </a:p>
          <a:p>
            <a:pPr algn="l"/>
            <a:r>
              <a:rPr sz="850" b="0" i="0">
                <a:solidFill>
                  <a:srgbClr val="5B6B63"/>
                </a:solidFill>
                <a:latin typeface="Segoe UI"/>
                <a:cs typeface="Tahoma"/>
              </a:rPr>
              <a:t>How a medicine is made.</a:t>
            </a:r>
          </a:p>
        </p:txBody>
      </p:sp>
      <p:sp>
        <p:nvSpPr>
          <p:cNvPr id="6" name="Rounded Rectangle 5"/>
          <p:cNvSpPr/>
          <p:nvPr/>
        </p:nvSpPr>
        <p:spPr>
          <a:xfrm>
            <a:off x="233172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33172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JAN-L03 · S2</a:t>
            </a:r>
          </a:p>
          <a:p>
            <a:pPr algn="ctr"/>
            <a:r>
              <a:rPr sz="900" b="1" i="0">
                <a:solidFill>
                  <a:srgbClr val="5B6B63"/>
                </a:solidFill>
                <a:latin typeface="Segoe UI"/>
                <a:cs typeface="Tahoma"/>
              </a:rPr>
              <a:t>1080 × 1350</a:t>
            </a:r>
          </a:p>
        </p:txBody>
      </p:sp>
      <p:sp>
        <p:nvSpPr>
          <p:cNvPr id="8" name="TextBox 7"/>
          <p:cNvSpPr txBox="1"/>
          <p:nvPr/>
        </p:nvSpPr>
        <p:spPr>
          <a:xfrm>
            <a:off x="233172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step</a:t>
            </a:r>
          </a:p>
          <a:p>
            <a:pPr rtl="1" algn="r"/>
            <a:r>
              <a:rPr sz="850" b="0" i="0">
                <a:solidFill>
                  <a:srgbClr val="5B6B63"/>
                </a:solidFill>
                <a:latin typeface="Segoe UI"/>
                <a:cs typeface="Tahoma"/>
              </a:rPr>
              <a:t>الخطوة الرابعة</a:t>
            </a:r>
          </a:p>
          <a:p>
            <a:pPr algn="l"/>
            <a:r>
              <a:rPr sz="850" b="0" i="0">
                <a:solidFill>
                  <a:srgbClr val="5B6B63"/>
                </a:solidFill>
                <a:latin typeface="Segoe UI"/>
                <a:cs typeface="Tahoma"/>
              </a:rPr>
              <a:t>Step 4: Fill.</a:t>
            </a:r>
          </a:p>
        </p:txBody>
      </p:sp>
      <p:sp>
        <p:nvSpPr>
          <p:cNvPr id="9" name="Rounded Rectangle 8"/>
          <p:cNvSpPr/>
          <p:nvPr/>
        </p:nvSpPr>
        <p:spPr>
          <a:xfrm>
            <a:off x="420624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JAN-L03 · S3</a:t>
            </a:r>
          </a:p>
          <a:p>
            <a:pPr algn="ctr"/>
            <a:r>
              <a:rPr sz="900" b="1" i="0">
                <a:solidFill>
                  <a:srgbClr val="5B6B63"/>
                </a:solidFill>
                <a:latin typeface="Segoe UI"/>
                <a:cs typeface="Tahoma"/>
              </a:rPr>
              <a:t>1080 × 1350</a:t>
            </a:r>
          </a:p>
        </p:txBody>
      </p:sp>
      <p:sp>
        <p:nvSpPr>
          <p:cNvPr id="11" name="TextBox 10"/>
          <p:cNvSpPr txBox="1"/>
          <p:nvPr/>
        </p:nvSpPr>
        <p:spPr>
          <a:xfrm>
            <a:off x="420624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step</a:t>
            </a:r>
          </a:p>
          <a:p>
            <a:pPr rtl="1" algn="r"/>
            <a:r>
              <a:rPr sz="850" b="0" i="0">
                <a:solidFill>
                  <a:srgbClr val="5B6B63"/>
                </a:solidFill>
                <a:latin typeface="Segoe UI"/>
                <a:cs typeface="Tahoma"/>
              </a:rPr>
              <a:t>الخطوة الخامسة</a:t>
            </a:r>
          </a:p>
          <a:p>
            <a:pPr algn="l"/>
            <a:r>
              <a:rPr sz="850" b="0" i="0">
                <a:solidFill>
                  <a:srgbClr val="5B6B63"/>
                </a:solidFill>
                <a:latin typeface="Segoe UI"/>
                <a:cs typeface="Tahoma"/>
              </a:rPr>
              <a:t>Step 5: Pack.</a:t>
            </a:r>
          </a:p>
        </p:txBody>
      </p:sp>
      <p:sp>
        <p:nvSpPr>
          <p:cNvPr id="12" name="Rounded Rectangle 11"/>
          <p:cNvSpPr/>
          <p:nvPr/>
        </p:nvSpPr>
        <p:spPr>
          <a:xfrm>
            <a:off x="608076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8076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JAN-L03 · S4</a:t>
            </a:r>
          </a:p>
          <a:p>
            <a:pPr algn="ctr"/>
            <a:r>
              <a:rPr sz="900" b="1" i="0">
                <a:solidFill>
                  <a:srgbClr val="5B6B63"/>
                </a:solidFill>
                <a:latin typeface="Segoe UI"/>
                <a:cs typeface="Tahoma"/>
              </a:rPr>
              <a:t>1080 × 1350</a:t>
            </a:r>
          </a:p>
        </p:txBody>
      </p:sp>
      <p:sp>
        <p:nvSpPr>
          <p:cNvPr id="14" name="TextBox 13"/>
          <p:cNvSpPr txBox="1"/>
          <p:nvPr/>
        </p:nvSpPr>
        <p:spPr>
          <a:xfrm>
            <a:off x="608076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step</a:t>
            </a:r>
          </a:p>
          <a:p>
            <a:pPr rtl="1" algn="r"/>
            <a:r>
              <a:rPr sz="850" b="0" i="0">
                <a:solidFill>
                  <a:srgbClr val="5B6B63"/>
                </a:solidFill>
                <a:latin typeface="Segoe UI"/>
                <a:cs typeface="Tahoma"/>
              </a:rPr>
              <a:t>الخطوة السادسة</a:t>
            </a:r>
          </a:p>
          <a:p>
            <a:pPr algn="l"/>
            <a:r>
              <a:rPr sz="850" b="0" i="0">
                <a:solidFill>
                  <a:srgbClr val="5B6B63"/>
                </a:solidFill>
                <a:latin typeface="Segoe UI"/>
                <a:cs typeface="Tahoma"/>
              </a:rPr>
              <a:t>Step 6: Release.</a:t>
            </a:r>
          </a:p>
        </p:txBody>
      </p:sp>
      <p:sp>
        <p:nvSpPr>
          <p:cNvPr id="15" name="Rounded Rectangle 14"/>
          <p:cNvSpPr/>
          <p:nvPr/>
        </p:nvSpPr>
        <p:spPr>
          <a:xfrm>
            <a:off x="795528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JAN-L03 · S5</a:t>
            </a:r>
          </a:p>
          <a:p>
            <a:pPr algn="ctr"/>
            <a:r>
              <a:rPr sz="900" b="1" i="0">
                <a:solidFill>
                  <a:srgbClr val="5B6B63"/>
                </a:solidFill>
                <a:latin typeface="Segoe UI"/>
                <a:cs typeface="Tahoma"/>
              </a:rPr>
              <a:t>1080 × 1350</a:t>
            </a:r>
          </a:p>
        </p:txBody>
      </p:sp>
      <p:sp>
        <p:nvSpPr>
          <p:cNvPr id="17" name="TextBox 16"/>
          <p:cNvSpPr txBox="1"/>
          <p:nvPr/>
        </p:nvSpPr>
        <p:spPr>
          <a:xfrm>
            <a:off x="795528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idea</a:t>
            </a:r>
          </a:p>
          <a:p>
            <a:pPr rtl="1" algn="r"/>
            <a:r>
              <a:rPr sz="850" b="0" i="0">
                <a:solidFill>
                  <a:srgbClr val="5B6B63"/>
                </a:solidFill>
                <a:latin typeface="Segoe UI"/>
                <a:cs typeface="Tahoma"/>
              </a:rPr>
              <a:t>ست خطوات حتى الآن</a:t>
            </a:r>
          </a:p>
          <a:p>
            <a:pPr algn="l"/>
            <a:r>
              <a:rPr sz="850" b="0" i="0">
                <a:solidFill>
                  <a:srgbClr val="5B6B63"/>
                </a:solidFill>
                <a:latin typeface="Segoe UI"/>
                <a:cs typeface="Tahoma"/>
              </a:rPr>
              <a:t>Six steps so far.</a:t>
            </a:r>
          </a:p>
        </p:txBody>
      </p:sp>
      <p:sp>
        <p:nvSpPr>
          <p:cNvPr id="18" name="Rounded Rectangle 17"/>
          <p:cNvSpPr/>
          <p:nvPr/>
        </p:nvSpPr>
        <p:spPr>
          <a:xfrm>
            <a:off x="9829800" y="411480"/>
            <a:ext cx="1783080" cy="222885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29800" y="1205865"/>
            <a:ext cx="178308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JAN-L03 · S6</a:t>
            </a:r>
          </a:p>
          <a:p>
            <a:pPr algn="ctr"/>
            <a:r>
              <a:rPr sz="900" b="1" i="0">
                <a:solidFill>
                  <a:srgbClr val="5B6B63"/>
                </a:solidFill>
                <a:latin typeface="Segoe UI"/>
                <a:cs typeface="Tahoma"/>
              </a:rPr>
              <a:t>1080 × 1350</a:t>
            </a:r>
          </a:p>
        </p:txBody>
      </p:sp>
      <p:sp>
        <p:nvSpPr>
          <p:cNvPr id="20" name="TextBox 19"/>
          <p:cNvSpPr txBox="1"/>
          <p:nvPr/>
        </p:nvSpPr>
        <p:spPr>
          <a:xfrm>
            <a:off x="9829800" y="2667762"/>
            <a:ext cx="178308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6. cta</a:t>
            </a:r>
          </a:p>
          <a:p>
            <a:pPr rtl="1" algn="r"/>
            <a:r>
              <a:rPr sz="850" b="0" i="0">
                <a:solidFill>
                  <a:srgbClr val="5B6B63"/>
                </a:solidFill>
                <a:latin typeface="Segoe UI"/>
                <a:cs typeface="Tahoma"/>
              </a:rPr>
              <a:t>صناعة تُرى،</a:t>
            </a:r>
          </a:p>
          <a:p>
            <a:pPr algn="l"/>
            <a:r>
              <a:rPr sz="850" b="0" i="0">
                <a:solidFill>
                  <a:srgbClr val="5B6B63"/>
                </a:solidFill>
                <a:latin typeface="Segoe UI"/>
                <a:cs typeface="Tahoma"/>
              </a:rPr>
              <a:t>Visible capability. Measurable impact.</a:t>
            </a:r>
          </a:p>
        </p:txBody>
      </p:sp>
      <p:sp>
        <p:nvSpPr>
          <p:cNvPr id="21" name="Rounded Rectangle 20"/>
          <p:cNvSpPr/>
          <p:nvPr/>
        </p:nvSpPr>
        <p:spPr>
          <a:xfrm>
            <a:off x="457200" y="350901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50901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JAN-L03 · Mon 2027-01-11 · LinkedIn + X · Carousel</a:t>
            </a:r>
          </a:p>
        </p:txBody>
      </p:sp>
      <p:sp>
        <p:nvSpPr>
          <p:cNvPr id="23" name="TextBox 22"/>
          <p:cNvSpPr txBox="1"/>
          <p:nvPr/>
        </p:nvSpPr>
        <p:spPr>
          <a:xfrm>
            <a:off x="457200" y="396621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How a medicine is made: steps 4 to 6  ·  How it is made  ·  T9 Process flow</a:t>
            </a:r>
          </a:p>
        </p:txBody>
      </p:sp>
      <p:sp>
        <p:nvSpPr>
          <p:cNvPr id="24" name="TextBox 23"/>
          <p:cNvSpPr txBox="1"/>
          <p:nvPr/>
        </p:nvSpPr>
        <p:spPr>
          <a:xfrm>
            <a:off x="457200" y="431368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A vertical flow of three rounded step cards numbered 4, 5 and 6 joined by a thin mint line with small glowing nodes, each card holding a real photo crop: an isolator glove port with an operator behind it, the packaging hall team at the line, a row of unlabelled flasks. Emerald background with a faint lattice.</a:t>
            </a:r>
          </a:p>
        </p:txBody>
      </p:sp>
      <p:sp>
        <p:nvSpPr>
          <p:cNvPr id="25" name="TextBox 24"/>
          <p:cNvSpPr txBox="1"/>
          <p:nvPr/>
        </p:nvSpPr>
        <p:spPr>
          <a:xfrm>
            <a:off x="457200" y="495376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A011  Collective footage-20261001T081156Z-1-008/Collective footage/Camera/1/ALABBASY.8871.MP4 | A013  Collective footage-20261001T081156Z-1-008/Collective footage/Camera/2/jaradi20260121_8608.MP4 | A008  Collective footage-20261001T081156Z-1-008/Collective footage/Camera/1/ALABBASY.8839.MP4</a:t>
            </a:r>
          </a:p>
        </p:txBody>
      </p:sp>
      <p:sp>
        <p:nvSpPr>
          <p:cNvPr id="26" name="TextBox 25"/>
          <p:cNvSpPr txBox="1"/>
          <p:nvPr/>
        </p:nvSpPr>
        <p:spPr>
          <a:xfrm>
            <a:off x="457200" y="550240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الجزء الثاني من سبع خطوات بلا أسرار: التعبئة، والتغليف، والإفراج. خلف كل خطوة منها فريق يعمل بها. أي خطوة تودّون أن نتوسّع فيها؟</a:t>
            </a:r>
          </a:p>
          <a:p>
            <a:pPr algn="l"/>
            <a:r>
              <a:rPr sz="900" b="0" i="0">
                <a:solidFill>
                  <a:srgbClr val="142B22"/>
                </a:solidFill>
                <a:latin typeface="Segoe UI"/>
                <a:cs typeface="Tahoma"/>
              </a:rPr>
              <a:t>EN: Part 2 of Seven steps, no secrets: fill, pack, release. Behind each step there is a team that works on it. Which step would you like us to look at more closely?</a:t>
            </a:r>
          </a:p>
        </p:txBody>
      </p:sp>
      <p:sp>
        <p:nvSpPr>
          <p:cNvPr id="27" name="TextBox 26"/>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CLAIM FLAG: process description. FLAG: describes manufacturing steps 4 to 6 (fill, pack, release) in plain words; no efficacy, safety, statistic, comparison, product or vendor; consent needed for A011 and A013.</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JAN-S04</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JAN-S04 · Mon 2027-01-11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Step of the day  ·  How it is made  ·  T9 Process flow</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الخطوة 4</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تُعبّأ خلف حاجز</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Step 4: filled behind a barrier. · The operator works through glove ports, on the other side of the glass.</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one step, in one sentence. Vertical step card on deep emerald with a numeral 4 in a glowing circle, a thin mint line with small nodes above and below, and a real crop of the operator at the isolator glove port (A011) in a rounded frame; hairline frame. 250 px free at top, 340 px at bottom.</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A011  Collective footage-20261001T081156Z-1-008/Collective footage/Camera/1/ALABBASY.8871.MP4</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الخطوة 4: يعمل المشغّل عبر فتحات القفازات، خلف حاجزٍ من الزجاج.</a:t>
            </a:r>
          </a:p>
          <a:p>
            <a:pPr algn="l"/>
            <a:r>
              <a:rPr sz="900" b="0" i="0">
                <a:solidFill>
                  <a:srgbClr val="142B22"/>
                </a:solidFill>
                <a:latin typeface="Segoe UI"/>
                <a:cs typeface="Tahoma"/>
              </a:rPr>
              <a:t>EN: Step 4: the operator works through glove ports, behind a glass barrier.</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CLAIM FLAG: process description. FLAG, process description: describes one step of the manufacturing route. Descriptive only. Consent for the operator in A011.</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JAN-F05 · S1</a:t>
            </a:r>
          </a:p>
          <a:p>
            <a:pPr algn="ctr"/>
            <a:r>
              <a:rPr sz="900" b="1" i="0">
                <a:solidFill>
                  <a:srgbClr val="5B6B63"/>
                </a:solidFill>
                <a:latin typeface="Segoe UI"/>
                <a:cs typeface="Tahoma"/>
              </a:rPr>
              <a:t>1080 × 1350</a:t>
            </a:r>
          </a:p>
        </p:txBody>
      </p:sp>
      <p:sp>
        <p:nvSpPr>
          <p:cNvPr id="5" name="TextBox 4"/>
          <p:cNvSpPr txBox="1"/>
          <p:nvPr/>
        </p:nvSpPr>
        <p:spPr>
          <a:xfrm>
            <a:off x="45720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سبع خطوات</a:t>
            </a:r>
          </a:p>
          <a:p>
            <a:pPr algn="l"/>
            <a:r>
              <a:rPr sz="850" b="0" i="0">
                <a:solidFill>
                  <a:srgbClr val="5B6B63"/>
                </a:solidFill>
                <a:latin typeface="Segoe UI"/>
                <a:cs typeface="Tahoma"/>
              </a:rPr>
              <a:t>Seven steps. No secrets.</a:t>
            </a:r>
          </a:p>
        </p:txBody>
      </p:sp>
      <p:sp>
        <p:nvSpPr>
          <p:cNvPr id="6" name="Rounded Rectangle 5"/>
          <p:cNvSpPr/>
          <p:nvPr/>
        </p:nvSpPr>
        <p:spPr>
          <a:xfrm>
            <a:off x="265176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JAN-F05 · S2</a:t>
            </a:r>
          </a:p>
          <a:p>
            <a:pPr algn="ctr"/>
            <a:r>
              <a:rPr sz="900" b="1" i="0">
                <a:solidFill>
                  <a:srgbClr val="5B6B63"/>
                </a:solidFill>
                <a:latin typeface="Segoe UI"/>
                <a:cs typeface="Tahoma"/>
              </a:rPr>
              <a:t>1080 × 1350</a:t>
            </a:r>
          </a:p>
        </p:txBody>
      </p:sp>
      <p:sp>
        <p:nvSpPr>
          <p:cNvPr id="8" name="TextBox 7"/>
          <p:cNvSpPr txBox="1"/>
          <p:nvPr/>
        </p:nvSpPr>
        <p:spPr>
          <a:xfrm>
            <a:off x="265176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step</a:t>
            </a:r>
          </a:p>
          <a:p>
            <a:pPr rtl="1" algn="r"/>
            <a:r>
              <a:rPr sz="850" b="0" i="0">
                <a:solidFill>
                  <a:srgbClr val="5B6B63"/>
                </a:solidFill>
                <a:latin typeface="Segoe UI"/>
                <a:cs typeface="Tahoma"/>
              </a:rPr>
              <a:t>الخطوات 1 إلى 3</a:t>
            </a:r>
          </a:p>
          <a:p>
            <a:pPr algn="l"/>
            <a:r>
              <a:rPr sz="850" b="0" i="0">
                <a:solidFill>
                  <a:srgbClr val="5B6B63"/>
                </a:solidFill>
                <a:latin typeface="Segoe UI"/>
                <a:cs typeface="Tahoma"/>
              </a:rPr>
              <a:t>Steps 1 to 3</a:t>
            </a:r>
          </a:p>
        </p:txBody>
      </p:sp>
      <p:sp>
        <p:nvSpPr>
          <p:cNvPr id="9" name="Rounded Rectangle 8"/>
          <p:cNvSpPr/>
          <p:nvPr/>
        </p:nvSpPr>
        <p:spPr>
          <a:xfrm>
            <a:off x="484632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JAN-F05 · S3</a:t>
            </a:r>
          </a:p>
          <a:p>
            <a:pPr algn="ctr"/>
            <a:r>
              <a:rPr sz="900" b="1" i="0">
                <a:solidFill>
                  <a:srgbClr val="5B6B63"/>
                </a:solidFill>
                <a:latin typeface="Segoe UI"/>
                <a:cs typeface="Tahoma"/>
              </a:rPr>
              <a:t>1080 × 1350</a:t>
            </a:r>
          </a:p>
        </p:txBody>
      </p:sp>
      <p:sp>
        <p:nvSpPr>
          <p:cNvPr id="11" name="TextBox 10"/>
          <p:cNvSpPr txBox="1"/>
          <p:nvPr/>
        </p:nvSpPr>
        <p:spPr>
          <a:xfrm>
            <a:off x="484632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step</a:t>
            </a:r>
          </a:p>
          <a:p>
            <a:pPr rtl="1" algn="r"/>
            <a:r>
              <a:rPr sz="850" b="0" i="0">
                <a:solidFill>
                  <a:srgbClr val="5B6B63"/>
                </a:solidFill>
                <a:latin typeface="Segoe UI"/>
                <a:cs typeface="Tahoma"/>
              </a:rPr>
              <a:t>الخطوتان 4 و5</a:t>
            </a:r>
          </a:p>
          <a:p>
            <a:pPr algn="l"/>
            <a:r>
              <a:rPr sz="850" b="0" i="0">
                <a:solidFill>
                  <a:srgbClr val="5B6B63"/>
                </a:solidFill>
                <a:latin typeface="Segoe UI"/>
                <a:cs typeface="Tahoma"/>
              </a:rPr>
              <a:t>Steps 4 and 5</a:t>
            </a:r>
          </a:p>
        </p:txBody>
      </p:sp>
      <p:sp>
        <p:nvSpPr>
          <p:cNvPr id="12" name="Rounded Rectangle 11"/>
          <p:cNvSpPr/>
          <p:nvPr/>
        </p:nvSpPr>
        <p:spPr>
          <a:xfrm>
            <a:off x="7040879"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79"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JAN-F05 · S4</a:t>
            </a:r>
          </a:p>
          <a:p>
            <a:pPr algn="ctr"/>
            <a:r>
              <a:rPr sz="900" b="1" i="0">
                <a:solidFill>
                  <a:srgbClr val="5B6B63"/>
                </a:solidFill>
                <a:latin typeface="Segoe UI"/>
                <a:cs typeface="Tahoma"/>
              </a:rPr>
              <a:t>1080 × 1350</a:t>
            </a:r>
          </a:p>
        </p:txBody>
      </p:sp>
      <p:sp>
        <p:nvSpPr>
          <p:cNvPr id="14" name="TextBox 13"/>
          <p:cNvSpPr txBox="1"/>
          <p:nvPr/>
        </p:nvSpPr>
        <p:spPr>
          <a:xfrm>
            <a:off x="7040879"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proof</a:t>
            </a:r>
          </a:p>
          <a:p>
            <a:pPr rtl="1" algn="r"/>
            <a:r>
              <a:rPr sz="850" b="0" i="0">
                <a:solidFill>
                  <a:srgbClr val="5B6B63"/>
                </a:solidFill>
                <a:latin typeface="Segoe UI"/>
                <a:cs typeface="Tahoma"/>
              </a:rPr>
              <a:t>الخطوتان 6 و7</a:t>
            </a:r>
          </a:p>
          <a:p>
            <a:pPr algn="l"/>
            <a:r>
              <a:rPr sz="850" b="0" i="0">
                <a:solidFill>
                  <a:srgbClr val="5B6B63"/>
                </a:solidFill>
                <a:latin typeface="Segoe UI"/>
                <a:cs typeface="Tahoma"/>
              </a:rPr>
              <a:t>Steps 6 and 7</a:t>
            </a:r>
          </a:p>
        </p:txBody>
      </p:sp>
      <p:sp>
        <p:nvSpPr>
          <p:cNvPr id="15" name="Rounded Rectangle 14"/>
          <p:cNvSpPr/>
          <p:nvPr/>
        </p:nvSpPr>
        <p:spPr>
          <a:xfrm>
            <a:off x="923544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JAN-F05 · S5</a:t>
            </a:r>
          </a:p>
          <a:p>
            <a:pPr algn="ctr"/>
            <a:r>
              <a:rPr sz="900" b="1" i="0">
                <a:solidFill>
                  <a:srgbClr val="5B6B63"/>
                </a:solidFill>
                <a:latin typeface="Segoe UI"/>
                <a:cs typeface="Tahoma"/>
              </a:rPr>
              <a:t>1080 × 1350</a:t>
            </a:r>
          </a:p>
        </p:txBody>
      </p:sp>
      <p:sp>
        <p:nvSpPr>
          <p:cNvPr id="17" name="TextBox 16"/>
          <p:cNvSpPr txBox="1"/>
          <p:nvPr/>
        </p:nvSpPr>
        <p:spPr>
          <a:xfrm>
            <a:off x="923544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cta</a:t>
            </a:r>
          </a:p>
          <a:p>
            <a:pPr rtl="1" algn="r"/>
            <a:r>
              <a:rPr sz="850" b="0" i="0">
                <a:solidFill>
                  <a:srgbClr val="5B6B63"/>
                </a:solidFill>
                <a:latin typeface="Segoe UI"/>
                <a:cs typeface="Tahoma"/>
              </a:rPr>
              <a:t>صناعة تُرى،</a:t>
            </a:r>
          </a:p>
          <a:p>
            <a:pPr algn="l"/>
            <a:r>
              <a:rPr sz="850" b="0" i="0">
                <a:solidFill>
                  <a:srgbClr val="5B6B63"/>
                </a:solidFill>
                <a:latin typeface="Segoe UI"/>
                <a:cs typeface="Tahoma"/>
              </a:rPr>
              <a:t>Visible capability. Measurable impact.</a:t>
            </a:r>
          </a:p>
        </p:txBody>
      </p:sp>
      <p:sp>
        <p:nvSpPr>
          <p:cNvPr id="18" name="Rounded Rectangle 17"/>
          <p:cNvSpPr/>
          <p:nvPr/>
        </p:nvSpPr>
        <p:spPr>
          <a:xfrm>
            <a:off x="457200" y="390906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0906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JAN-F05 · Tue 2027-01-12 · Instagram + Facebook · Carousel</a:t>
            </a:r>
          </a:p>
        </p:txBody>
      </p:sp>
      <p:sp>
        <p:nvSpPr>
          <p:cNvPr id="20" name="TextBox 19"/>
          <p:cNvSpPr txBox="1"/>
          <p:nvPr/>
        </p:nvSpPr>
        <p:spPr>
          <a:xfrm>
            <a:off x="457200" y="436626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Seven steps, no secrets  ·  How it is made  ·  T9 Process flow</a:t>
            </a:r>
          </a:p>
        </p:txBody>
      </p:sp>
      <p:sp>
        <p:nvSpPr>
          <p:cNvPr id="21" name="TextBox 20"/>
          <p:cNvSpPr txBox="1"/>
          <p:nvPr/>
        </p:nvSpPr>
        <p:spPr>
          <a:xfrm>
            <a:off x="457200" y="471373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the whole route, in plain order. Cover: a vertical flow of seven numbered nodes joined by a thin mint line, the seventh glowing, over a faint green-graded crop of the clean-room corridor (A003). Emerald background, lattice at 6%. Logo area top-left clear.</a:t>
            </a:r>
          </a:p>
        </p:txBody>
      </p:sp>
      <p:sp>
        <p:nvSpPr>
          <p:cNvPr id="22" name="TextBox 21"/>
          <p:cNvSpPr txBox="1"/>
          <p:nvPr/>
        </p:nvSpPr>
        <p:spPr>
          <a:xfrm>
            <a:off x="457200" y="535381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A003  Collective footage-20261001T081156Z-1-008/Collective footage/DJI_20260121103516_0070_D.MOV | A008  Collective footage-20261001T081156Z-1-008/Collective footage/Camera/1/ALABBASY.8839.MP4 | A009  Collective footage-20261001T081156Z-1-008/Collective footage/Camera/1/ALABBASY.8842.MP4 | A012  Col</a:t>
            </a:r>
          </a:p>
        </p:txBody>
      </p:sp>
      <p:sp>
        <p:nvSpPr>
          <p:cNvPr id="23" name="TextBox 22"/>
          <p:cNvSpPr txBox="1"/>
          <p:nvPr/>
        </p:nvSpPr>
        <p:spPr>
          <a:xfrm>
            <a:off x="457200" y="590245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من وصول المادة إلى مغادرة التشغيلة: سبع خطوات بترتيبها. مرّروا لتروا كل خطوة، وفي كل واحدة سجلٌّ مكتوب. أي خطوة تودّون أن نشرحها أكثر؟</a:t>
            </a:r>
          </a:p>
          <a:p>
            <a:pPr algn="l"/>
            <a:r>
              <a:rPr sz="900" b="0" i="0">
                <a:solidFill>
                  <a:srgbClr val="142B22"/>
                </a:solidFill>
                <a:latin typeface="Segoe UI"/>
                <a:cs typeface="Tahoma"/>
              </a:rPr>
              <a:t>EN: From a material arriving to a batch leaving: seven steps, in order. Swipe to see each one. Every step leaves a written record. Which step would you like us to explain further?</a:t>
            </a:r>
          </a:p>
        </p:txBody>
      </p:sp>
      <p:sp>
        <p:nvSpPr>
          <p:cNvPr id="24" name="TextBox 23"/>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CLAIM FLAG: process description. FLAG, process description: describes the seven steps of the manufacturing route in order. Descriptive only; no product, timing, number of batches or outcome wording. Staff in A011, A012 and A013 need </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JAN-L04 · S1</a:t>
            </a:r>
          </a:p>
          <a:p>
            <a:pPr algn="ctr"/>
            <a:r>
              <a:rPr sz="900" b="1" i="0">
                <a:solidFill>
                  <a:srgbClr val="5B6B63"/>
                </a:solidFill>
                <a:latin typeface="Segoe UI"/>
                <a:cs typeface="Tahoma"/>
              </a:rPr>
              <a:t>1080 × 1350</a:t>
            </a:r>
          </a:p>
        </p:txBody>
      </p:sp>
      <p:sp>
        <p:nvSpPr>
          <p:cNvPr id="5" name="TextBox 4"/>
          <p:cNvSpPr txBox="1"/>
          <p:nvPr/>
        </p:nvSpPr>
        <p:spPr>
          <a:xfrm>
            <a:off x="45720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التوثيق جزء من المنتج</a:t>
            </a:r>
          </a:p>
          <a:p>
            <a:pPr algn="l"/>
            <a:r>
              <a:rPr sz="850" b="0" i="0">
                <a:solidFill>
                  <a:srgbClr val="5B6B63"/>
                </a:solidFill>
                <a:latin typeface="Segoe UI"/>
                <a:cs typeface="Tahoma"/>
              </a:rPr>
              <a:t>The paperwork is the product.</a:t>
            </a:r>
          </a:p>
        </p:txBody>
      </p:sp>
      <p:sp>
        <p:nvSpPr>
          <p:cNvPr id="6" name="Rounded Rectangle 5"/>
          <p:cNvSpPr/>
          <p:nvPr/>
        </p:nvSpPr>
        <p:spPr>
          <a:xfrm>
            <a:off x="265176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JAN-L04 · S2</a:t>
            </a:r>
          </a:p>
          <a:p>
            <a:pPr algn="ctr"/>
            <a:r>
              <a:rPr sz="900" b="1" i="0">
                <a:solidFill>
                  <a:srgbClr val="5B6B63"/>
                </a:solidFill>
                <a:latin typeface="Segoe UI"/>
                <a:cs typeface="Tahoma"/>
              </a:rPr>
              <a:t>1080 × 1350</a:t>
            </a:r>
          </a:p>
        </p:txBody>
      </p:sp>
      <p:sp>
        <p:nvSpPr>
          <p:cNvPr id="8" name="TextBox 7"/>
          <p:cNvSpPr txBox="1"/>
          <p:nvPr/>
        </p:nvSpPr>
        <p:spPr>
          <a:xfrm>
            <a:off x="265176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لكل دفعة ملفّها</a:t>
            </a:r>
          </a:p>
          <a:p>
            <a:pPr algn="l"/>
            <a:r>
              <a:rPr sz="850" b="0" i="0">
                <a:solidFill>
                  <a:srgbClr val="5B6B63"/>
                </a:solidFill>
                <a:latin typeface="Segoe UI"/>
                <a:cs typeface="Tahoma"/>
              </a:rPr>
              <a:t>Every batch has a file.</a:t>
            </a:r>
          </a:p>
        </p:txBody>
      </p:sp>
      <p:sp>
        <p:nvSpPr>
          <p:cNvPr id="9" name="Rounded Rectangle 8"/>
          <p:cNvSpPr/>
          <p:nvPr/>
        </p:nvSpPr>
        <p:spPr>
          <a:xfrm>
            <a:off x="484632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JAN-L04 · S3</a:t>
            </a:r>
          </a:p>
          <a:p>
            <a:pPr algn="ctr"/>
            <a:r>
              <a:rPr sz="900" b="1" i="0">
                <a:solidFill>
                  <a:srgbClr val="5B6B63"/>
                </a:solidFill>
                <a:latin typeface="Segoe UI"/>
                <a:cs typeface="Tahoma"/>
              </a:rPr>
              <a:t>1080 × 1350</a:t>
            </a:r>
          </a:p>
        </p:txBody>
      </p:sp>
      <p:sp>
        <p:nvSpPr>
          <p:cNvPr id="11" name="TextBox 10"/>
          <p:cNvSpPr txBox="1"/>
          <p:nvPr/>
        </p:nvSpPr>
        <p:spPr>
          <a:xfrm>
            <a:off x="484632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step</a:t>
            </a:r>
          </a:p>
          <a:p>
            <a:pPr rtl="1" algn="r"/>
            <a:r>
              <a:rPr sz="850" b="0" i="0">
                <a:solidFill>
                  <a:srgbClr val="5B6B63"/>
                </a:solidFill>
                <a:latin typeface="Segoe UI"/>
                <a:cs typeface="Tahoma"/>
              </a:rPr>
              <a:t>يُقرأ الملف</a:t>
            </a:r>
          </a:p>
          <a:p>
            <a:pPr algn="l"/>
            <a:r>
              <a:rPr sz="850" b="0" i="0">
                <a:solidFill>
                  <a:srgbClr val="5B6B63"/>
                </a:solidFill>
                <a:latin typeface="Segoe UI"/>
                <a:cs typeface="Tahoma"/>
              </a:rPr>
              <a:t>The file is read.</a:t>
            </a:r>
          </a:p>
        </p:txBody>
      </p:sp>
      <p:sp>
        <p:nvSpPr>
          <p:cNvPr id="12" name="Rounded Rectangle 11"/>
          <p:cNvSpPr/>
          <p:nvPr/>
        </p:nvSpPr>
        <p:spPr>
          <a:xfrm>
            <a:off x="7040879"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79"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JAN-L04 · S4</a:t>
            </a:r>
          </a:p>
          <a:p>
            <a:pPr algn="ctr"/>
            <a:r>
              <a:rPr sz="900" b="1" i="0">
                <a:solidFill>
                  <a:srgbClr val="5B6B63"/>
                </a:solidFill>
                <a:latin typeface="Segoe UI"/>
                <a:cs typeface="Tahoma"/>
              </a:rPr>
              <a:t>1080 × 1350</a:t>
            </a:r>
          </a:p>
        </p:txBody>
      </p:sp>
      <p:sp>
        <p:nvSpPr>
          <p:cNvPr id="14" name="TextBox 13"/>
          <p:cNvSpPr txBox="1"/>
          <p:nvPr/>
        </p:nvSpPr>
        <p:spPr>
          <a:xfrm>
            <a:off x="7040879"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idea</a:t>
            </a:r>
          </a:p>
          <a:p>
            <a:pPr rtl="1" algn="r"/>
            <a:r>
              <a:rPr sz="850" b="0" i="0">
                <a:solidFill>
                  <a:srgbClr val="5B6B63"/>
                </a:solidFill>
                <a:latin typeface="Segoe UI"/>
                <a:cs typeface="Tahoma"/>
              </a:rPr>
              <a:t>الإفراج قرار</a:t>
            </a:r>
          </a:p>
          <a:p>
            <a:pPr algn="l"/>
            <a:r>
              <a:rPr sz="850" b="0" i="0">
                <a:solidFill>
                  <a:srgbClr val="5B6B63"/>
                </a:solidFill>
                <a:latin typeface="Segoe UI"/>
                <a:cs typeface="Tahoma"/>
              </a:rPr>
              <a:t>Release is a decision.</a:t>
            </a:r>
          </a:p>
        </p:txBody>
      </p:sp>
      <p:sp>
        <p:nvSpPr>
          <p:cNvPr id="15" name="Rounded Rectangle 14"/>
          <p:cNvSpPr/>
          <p:nvPr/>
        </p:nvSpPr>
        <p:spPr>
          <a:xfrm>
            <a:off x="923544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JAN-L04 · S5</a:t>
            </a:r>
          </a:p>
          <a:p>
            <a:pPr algn="ctr"/>
            <a:r>
              <a:rPr sz="900" b="1" i="0">
                <a:solidFill>
                  <a:srgbClr val="5B6B63"/>
                </a:solidFill>
                <a:latin typeface="Segoe UI"/>
                <a:cs typeface="Tahoma"/>
              </a:rPr>
              <a:t>1080 × 1350</a:t>
            </a:r>
          </a:p>
        </p:txBody>
      </p:sp>
      <p:sp>
        <p:nvSpPr>
          <p:cNvPr id="17" name="TextBox 16"/>
          <p:cNvSpPr txBox="1"/>
          <p:nvPr/>
        </p:nvSpPr>
        <p:spPr>
          <a:xfrm>
            <a:off x="923544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cta</a:t>
            </a:r>
          </a:p>
          <a:p>
            <a:pPr rtl="1" algn="r"/>
            <a:r>
              <a:rPr sz="850" b="0" i="0">
                <a:solidFill>
                  <a:srgbClr val="5B6B63"/>
                </a:solidFill>
                <a:latin typeface="Segoe UI"/>
                <a:cs typeface="Tahoma"/>
              </a:rPr>
              <a:t>صناعة تُرى،</a:t>
            </a:r>
          </a:p>
          <a:p>
            <a:pPr algn="l"/>
            <a:r>
              <a:rPr sz="850" b="0" i="0">
                <a:solidFill>
                  <a:srgbClr val="5B6B63"/>
                </a:solidFill>
                <a:latin typeface="Segoe UI"/>
                <a:cs typeface="Tahoma"/>
              </a:rPr>
              <a:t>Visible capability. Measurable impact.</a:t>
            </a:r>
          </a:p>
        </p:txBody>
      </p:sp>
      <p:sp>
        <p:nvSpPr>
          <p:cNvPr id="18" name="Rounded Rectangle 17"/>
          <p:cNvSpPr/>
          <p:nvPr/>
        </p:nvSpPr>
        <p:spPr>
          <a:xfrm>
            <a:off x="457200" y="390906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0906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JAN-L04 · Wed 2027-01-13 · LinkedIn + X · Carousel</a:t>
            </a:r>
          </a:p>
        </p:txBody>
      </p:sp>
      <p:sp>
        <p:nvSpPr>
          <p:cNvPr id="20" name="TextBox 19"/>
          <p:cNvSpPr txBox="1"/>
          <p:nvPr/>
        </p:nvSpPr>
        <p:spPr>
          <a:xfrm>
            <a:off x="457200" y="436626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Release: the paperwork is the product  ·  Quality and trust  ·  T1 Glass object</a:t>
            </a:r>
          </a:p>
        </p:txBody>
      </p:sp>
      <p:sp>
        <p:nvSpPr>
          <p:cNvPr id="21" name="TextBox 20"/>
          <p:cNvSpPr txBox="1"/>
          <p:nvPr/>
        </p:nvSpPr>
        <p:spPr>
          <a:xfrm>
            <a:off x="457200" y="471373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One closed batch file with a mint ribbon tab laid beside a clear glass flask with no label, on a glossy emerald floor. The file is the hero and the flask is secondary. Soft studio light from the upper left, mint rim light, shallow depth of field, clean space for the headline above.</a:t>
            </a:r>
          </a:p>
        </p:txBody>
      </p:sp>
      <p:sp>
        <p:nvSpPr>
          <p:cNvPr id="22" name="TextBox 21"/>
          <p:cNvSpPr txBox="1"/>
          <p:nvPr/>
        </p:nvSpPr>
        <p:spPr>
          <a:xfrm>
            <a:off x="457200" y="535381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A008  Collective footage-20261001T081156Z-1-008/Collective footage/Camera/1/ALABBASY.8839.MP4 | A003  Collective footage-20261001T081156Z-1-008/Collective footage/DJI_20260121103516_0070_D.MOV | A002  Collective footage-20261001T081156Z-1-008/Collective footage/DJI_20260121084636_0010_D.MOV</a:t>
            </a:r>
          </a:p>
        </p:txBody>
      </p:sp>
      <p:sp>
        <p:nvSpPr>
          <p:cNvPr id="23" name="TextBox 22"/>
          <p:cNvSpPr txBox="1"/>
          <p:nvPr/>
        </p:nvSpPr>
        <p:spPr>
          <a:xfrm>
            <a:off x="457200" y="590245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قبل أن تغادر الدفعة المصنع، يكون لها ملف. في مرحلة الإفراج يُقرأ هذا الملف ويُراجَع، وبذلك يصبح التوثيق جزءًا من المنتج. أي خطوة تودّون أن نشرحها بعد ذلك؟</a:t>
            </a:r>
          </a:p>
          <a:p>
            <a:pPr algn="l"/>
            <a:r>
              <a:rPr sz="900" b="0" i="0">
                <a:solidFill>
                  <a:srgbClr val="142B22"/>
                </a:solidFill>
                <a:latin typeface="Segoe UI"/>
                <a:cs typeface="Tahoma"/>
              </a:rPr>
              <a:t>EN: Before a batch leaves the plant, it has a file. At release that file is read and reviewed, so the paperwork is part of the product. Which step would you like us to explain next?</a:t>
            </a:r>
          </a:p>
        </p:txBody>
      </p:sp>
      <p:sp>
        <p:nvSpPr>
          <p:cNvPr id="24" name="TextBox 23"/>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CLAIM FLAG: quality statement. FLAG: states that documentation is part of release; descriptive wording only, no assurance, safety, efficacy, statistic or comparison; no product or label.</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JAN-S05</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JAN-S05 · Wed 2027-01-13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Poll: which step surprised you?  ·  How it is made  ·  T4 Card explainer</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أي خطوة</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فاجأتكم؟</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Which step surprised you? · Pick one.</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a simple choice between two steps. Two rounded cream cards with a lime edge, stacked, each holding a friendly 3D Pixar-style character in green clothing: one weighing at a bench, one holding a sealed folder; labels on the cards are the step names only. Emerald gradient with faint lattice; the poll sticker sits between the cards. 250 px free at top, 340 px at bottom.</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Generated only</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أي خطوة فاجأتكم أكثر؟</a:t>
            </a:r>
          </a:p>
          <a:p>
            <a:pPr algn="l"/>
            <a:r>
              <a:rPr sz="900" b="0" i="0">
                <a:solidFill>
                  <a:srgbClr val="142B22"/>
                </a:solidFill>
                <a:latin typeface="Segoe UI"/>
                <a:cs typeface="Tahoma"/>
              </a:rPr>
              <a:t>EN: Which step surprised you most?</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CLAIM FLAG: process description. Poll only: the options name steps already published (step names only, no description). Characters are illustrations, never captioned as staff.</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1332738" cy="2369312"/>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76096"/>
            <a:ext cx="1332738"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JAN-F06 · COVER</a:t>
            </a:r>
          </a:p>
          <a:p>
            <a:pPr algn="ctr"/>
            <a:r>
              <a:rPr sz="900" b="1" i="0">
                <a:solidFill>
                  <a:srgbClr val="5B6B63"/>
                </a:solidFill>
                <a:latin typeface="Segoe UI"/>
                <a:cs typeface="Tahoma"/>
              </a:rPr>
              <a:t>9:16</a:t>
            </a:r>
          </a:p>
        </p:txBody>
      </p:sp>
      <p:sp>
        <p:nvSpPr>
          <p:cNvPr id="5" name="TextBox 4"/>
          <p:cNvSpPr txBox="1"/>
          <p:nvPr/>
        </p:nvSpPr>
        <p:spPr>
          <a:xfrm>
            <a:off x="457200" y="2808224"/>
            <a:ext cx="1332738" cy="64008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Cover</a:t>
            </a:r>
          </a:p>
          <a:p>
            <a:pPr rtl="1" algn="r"/>
            <a:r>
              <a:rPr sz="850" b="0" i="0">
                <a:solidFill>
                  <a:srgbClr val="5B6B63"/>
                </a:solidFill>
                <a:latin typeface="Segoe UI"/>
                <a:cs typeface="Tahoma"/>
              </a:rPr>
              <a:t>الخط كاملًا</a:t>
            </a:r>
          </a:p>
        </p:txBody>
      </p:sp>
      <p:sp>
        <p:nvSpPr>
          <p:cNvPr id="6" name="Rounded Rectangle 5"/>
          <p:cNvSpPr/>
          <p:nvPr/>
        </p:nvSpPr>
        <p:spPr>
          <a:xfrm>
            <a:off x="1863090" y="411480"/>
            <a:ext cx="1332738" cy="2369312"/>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63090" y="1276096"/>
            <a:ext cx="1332738"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JAN-F06 · SHOT 1</a:t>
            </a:r>
          </a:p>
          <a:p>
            <a:pPr algn="ctr"/>
            <a:r>
              <a:rPr sz="900" b="1" i="0">
                <a:solidFill>
                  <a:srgbClr val="5B6B63"/>
                </a:solidFill>
                <a:latin typeface="Segoe UI"/>
                <a:cs typeface="Tahoma"/>
              </a:rPr>
              <a:t>0s to 3s</a:t>
            </a:r>
          </a:p>
        </p:txBody>
      </p:sp>
      <p:sp>
        <p:nvSpPr>
          <p:cNvPr id="8" name="TextBox 7"/>
          <p:cNvSpPr txBox="1"/>
          <p:nvPr/>
        </p:nvSpPr>
        <p:spPr>
          <a:xfrm>
            <a:off x="1863090" y="2808224"/>
            <a:ext cx="1332738"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0–3s</a:t>
            </a:r>
          </a:p>
          <a:p>
            <a:pPr rtl="1" algn="r"/>
            <a:r>
              <a:rPr sz="800" b="0" i="0">
                <a:solidFill>
                  <a:srgbClr val="5B6B63"/>
                </a:solidFill>
                <a:latin typeface="Segoe UI"/>
                <a:cs typeface="Tahoma"/>
              </a:rPr>
              <a:t>الخط كاملًا</a:t>
            </a:r>
          </a:p>
          <a:p>
            <a:pPr algn="l"/>
            <a:r>
              <a:rPr sz="800" b="0" i="0">
                <a:solidFill>
                  <a:srgbClr val="5B6B63"/>
                </a:solidFill>
                <a:latin typeface="Segoe UI"/>
                <a:cs typeface="Tahoma"/>
              </a:rPr>
              <a:t>The whole line</a:t>
            </a:r>
          </a:p>
        </p:txBody>
      </p:sp>
      <p:sp>
        <p:nvSpPr>
          <p:cNvPr id="9" name="Rounded Rectangle 8"/>
          <p:cNvSpPr/>
          <p:nvPr/>
        </p:nvSpPr>
        <p:spPr>
          <a:xfrm>
            <a:off x="3268980" y="411480"/>
            <a:ext cx="1332738" cy="2369312"/>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68980" y="1276096"/>
            <a:ext cx="1332738"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JAN-F06 · SHOT 2</a:t>
            </a:r>
          </a:p>
          <a:p>
            <a:pPr algn="ctr"/>
            <a:r>
              <a:rPr sz="900" b="1" i="0">
                <a:solidFill>
                  <a:srgbClr val="5B6B63"/>
                </a:solidFill>
                <a:latin typeface="Segoe UI"/>
                <a:cs typeface="Tahoma"/>
              </a:rPr>
              <a:t>3s to 6s</a:t>
            </a:r>
          </a:p>
        </p:txBody>
      </p:sp>
      <p:sp>
        <p:nvSpPr>
          <p:cNvPr id="11" name="TextBox 10"/>
          <p:cNvSpPr txBox="1"/>
          <p:nvPr/>
        </p:nvSpPr>
        <p:spPr>
          <a:xfrm>
            <a:off x="3268980" y="2808224"/>
            <a:ext cx="1332738"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3–6s</a:t>
            </a:r>
          </a:p>
          <a:p>
            <a:pPr rtl="1" algn="r"/>
            <a:r>
              <a:rPr sz="800" b="0" i="0">
                <a:solidFill>
                  <a:srgbClr val="5B6B63"/>
                </a:solidFill>
                <a:latin typeface="Segoe UI"/>
                <a:cs typeface="Tahoma"/>
              </a:rPr>
              <a:t>1 تُفحص المواد · 2 تُوزن وتُسجَّل</a:t>
            </a:r>
          </a:p>
          <a:p>
            <a:pPr algn="l"/>
            <a:r>
              <a:rPr sz="800" b="0" i="0">
                <a:solidFill>
                  <a:srgbClr val="5B6B63"/>
                </a:solidFill>
                <a:latin typeface="Segoe UI"/>
                <a:cs typeface="Tahoma"/>
              </a:rPr>
              <a:t>1 Materials tested · 2 Weighed and recorded</a:t>
            </a:r>
          </a:p>
        </p:txBody>
      </p:sp>
      <p:sp>
        <p:nvSpPr>
          <p:cNvPr id="12" name="Rounded Rectangle 11"/>
          <p:cNvSpPr/>
          <p:nvPr/>
        </p:nvSpPr>
        <p:spPr>
          <a:xfrm>
            <a:off x="4674870" y="411480"/>
            <a:ext cx="1332738" cy="2369312"/>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74870" y="1276096"/>
            <a:ext cx="1332738"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JAN-F06 · SHOT 3</a:t>
            </a:r>
          </a:p>
          <a:p>
            <a:pPr algn="ctr"/>
            <a:r>
              <a:rPr sz="900" b="1" i="0">
                <a:solidFill>
                  <a:srgbClr val="5B6B63"/>
                </a:solidFill>
                <a:latin typeface="Segoe UI"/>
                <a:cs typeface="Tahoma"/>
              </a:rPr>
              <a:t>6s to 9s</a:t>
            </a:r>
          </a:p>
        </p:txBody>
      </p:sp>
      <p:sp>
        <p:nvSpPr>
          <p:cNvPr id="14" name="TextBox 13"/>
          <p:cNvSpPr txBox="1"/>
          <p:nvPr/>
        </p:nvSpPr>
        <p:spPr>
          <a:xfrm>
            <a:off x="4674870" y="2808224"/>
            <a:ext cx="1332738"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6–9s</a:t>
            </a:r>
          </a:p>
          <a:p>
            <a:pPr rtl="1" algn="r"/>
            <a:r>
              <a:rPr sz="800" b="0" i="0">
                <a:solidFill>
                  <a:srgbClr val="5B6B63"/>
                </a:solidFill>
                <a:latin typeface="Segoe UI"/>
                <a:cs typeface="Tahoma"/>
              </a:rPr>
              <a:t>3 تُصنَّع في غرفة مضبوطة</a:t>
            </a:r>
          </a:p>
          <a:p>
            <a:pPr algn="l"/>
            <a:r>
              <a:rPr sz="800" b="0" i="0">
                <a:solidFill>
                  <a:srgbClr val="5B6B63"/>
                </a:solidFill>
                <a:latin typeface="Segoe UI"/>
                <a:cs typeface="Tahoma"/>
              </a:rPr>
              <a:t>3 Made in a controlled room</a:t>
            </a:r>
          </a:p>
        </p:txBody>
      </p:sp>
      <p:sp>
        <p:nvSpPr>
          <p:cNvPr id="15" name="Rounded Rectangle 14"/>
          <p:cNvSpPr/>
          <p:nvPr/>
        </p:nvSpPr>
        <p:spPr>
          <a:xfrm>
            <a:off x="6080760" y="411480"/>
            <a:ext cx="1332738" cy="2369312"/>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0760" y="1276096"/>
            <a:ext cx="1332738"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JAN-F06 · SHOT 4</a:t>
            </a:r>
          </a:p>
          <a:p>
            <a:pPr algn="ctr"/>
            <a:r>
              <a:rPr sz="900" b="1" i="0">
                <a:solidFill>
                  <a:srgbClr val="5B6B63"/>
                </a:solidFill>
                <a:latin typeface="Segoe UI"/>
                <a:cs typeface="Tahoma"/>
              </a:rPr>
              <a:t>9s to 12s</a:t>
            </a:r>
          </a:p>
        </p:txBody>
      </p:sp>
      <p:sp>
        <p:nvSpPr>
          <p:cNvPr id="17" name="TextBox 16"/>
          <p:cNvSpPr txBox="1"/>
          <p:nvPr/>
        </p:nvSpPr>
        <p:spPr>
          <a:xfrm>
            <a:off x="6080760" y="2808224"/>
            <a:ext cx="1332738"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9–12s</a:t>
            </a:r>
          </a:p>
          <a:p>
            <a:pPr rtl="1" algn="r"/>
            <a:r>
              <a:rPr sz="800" b="0" i="0">
                <a:solidFill>
                  <a:srgbClr val="5B6B63"/>
                </a:solidFill>
                <a:latin typeface="Segoe UI"/>
                <a:cs typeface="Tahoma"/>
              </a:rPr>
              <a:t>4 تُعبّأ خلف حاجز</a:t>
            </a:r>
          </a:p>
          <a:p>
            <a:pPr algn="l"/>
            <a:r>
              <a:rPr sz="800" b="0" i="0">
                <a:solidFill>
                  <a:srgbClr val="5B6B63"/>
                </a:solidFill>
                <a:latin typeface="Segoe UI"/>
                <a:cs typeface="Tahoma"/>
              </a:rPr>
              <a:t>4 Filled behind a barrier</a:t>
            </a:r>
          </a:p>
        </p:txBody>
      </p:sp>
      <p:sp>
        <p:nvSpPr>
          <p:cNvPr id="18" name="Rounded Rectangle 17"/>
          <p:cNvSpPr/>
          <p:nvPr/>
        </p:nvSpPr>
        <p:spPr>
          <a:xfrm>
            <a:off x="7486650" y="411480"/>
            <a:ext cx="1332738" cy="2369312"/>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86650" y="1276096"/>
            <a:ext cx="1332738"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JAN-F06 · SHOT 5</a:t>
            </a:r>
          </a:p>
          <a:p>
            <a:pPr algn="ctr"/>
            <a:r>
              <a:rPr sz="900" b="1" i="0">
                <a:solidFill>
                  <a:srgbClr val="5B6B63"/>
                </a:solidFill>
                <a:latin typeface="Segoe UI"/>
                <a:cs typeface="Tahoma"/>
              </a:rPr>
              <a:t>12s to 15s</a:t>
            </a:r>
          </a:p>
        </p:txBody>
      </p:sp>
      <p:sp>
        <p:nvSpPr>
          <p:cNvPr id="20" name="TextBox 19"/>
          <p:cNvSpPr txBox="1"/>
          <p:nvPr/>
        </p:nvSpPr>
        <p:spPr>
          <a:xfrm>
            <a:off x="7486650" y="2808224"/>
            <a:ext cx="1332738"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12–15s</a:t>
            </a:r>
          </a:p>
          <a:p>
            <a:pPr rtl="1" algn="r"/>
            <a:r>
              <a:rPr sz="800" b="0" i="0">
                <a:solidFill>
                  <a:srgbClr val="5B6B63"/>
                </a:solidFill>
                <a:latin typeface="Segoe UI"/>
                <a:cs typeface="Tahoma"/>
              </a:rPr>
              <a:t>5 تُغلَّف وتُفحص على الخط</a:t>
            </a:r>
          </a:p>
          <a:p>
            <a:pPr algn="l"/>
            <a:r>
              <a:rPr sz="800" b="0" i="0">
                <a:solidFill>
                  <a:srgbClr val="5B6B63"/>
                </a:solidFill>
                <a:latin typeface="Segoe UI"/>
                <a:cs typeface="Tahoma"/>
              </a:rPr>
              <a:t>5 Packed and checked on the line</a:t>
            </a:r>
          </a:p>
        </p:txBody>
      </p:sp>
      <p:sp>
        <p:nvSpPr>
          <p:cNvPr id="21" name="Rounded Rectangle 20"/>
          <p:cNvSpPr/>
          <p:nvPr/>
        </p:nvSpPr>
        <p:spPr>
          <a:xfrm>
            <a:off x="8892540" y="411480"/>
            <a:ext cx="1332738" cy="2369312"/>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92540" y="1276096"/>
            <a:ext cx="1332738"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JAN-F06 · SHOT 6</a:t>
            </a:r>
          </a:p>
          <a:p>
            <a:pPr algn="ctr"/>
            <a:r>
              <a:rPr sz="900" b="1" i="0">
                <a:solidFill>
                  <a:srgbClr val="5B6B63"/>
                </a:solidFill>
                <a:latin typeface="Segoe UI"/>
                <a:cs typeface="Tahoma"/>
              </a:rPr>
              <a:t>15s to 18s</a:t>
            </a:r>
          </a:p>
        </p:txBody>
      </p:sp>
      <p:sp>
        <p:nvSpPr>
          <p:cNvPr id="23" name="TextBox 22"/>
          <p:cNvSpPr txBox="1"/>
          <p:nvPr/>
        </p:nvSpPr>
        <p:spPr>
          <a:xfrm>
            <a:off x="8892540" y="2808224"/>
            <a:ext cx="1332738"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15–18s</a:t>
            </a:r>
          </a:p>
          <a:p>
            <a:pPr rtl="1" algn="r"/>
            <a:r>
              <a:rPr sz="800" b="0" i="0">
                <a:solidFill>
                  <a:srgbClr val="5B6B63"/>
                </a:solidFill>
                <a:latin typeface="Segoe UI"/>
                <a:cs typeface="Tahoma"/>
              </a:rPr>
              <a:t>6 تُفرج على سجلّها · 7 تغادر المصنع</a:t>
            </a:r>
          </a:p>
          <a:p>
            <a:pPr algn="l"/>
            <a:r>
              <a:rPr sz="800" b="0" i="0">
                <a:solidFill>
                  <a:srgbClr val="5B6B63"/>
                </a:solidFill>
                <a:latin typeface="Segoe UI"/>
                <a:cs typeface="Tahoma"/>
              </a:rPr>
              <a:t>6 Released on its record · 7 Leaves the plant</a:t>
            </a:r>
          </a:p>
        </p:txBody>
      </p:sp>
      <p:sp>
        <p:nvSpPr>
          <p:cNvPr id="24" name="Rounded Rectangle 23"/>
          <p:cNvSpPr/>
          <p:nvPr/>
        </p:nvSpPr>
        <p:spPr>
          <a:xfrm>
            <a:off x="10298430" y="411480"/>
            <a:ext cx="1332738" cy="2369312"/>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98430" y="1276096"/>
            <a:ext cx="1332738"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JAN-F06 · SHOT 7</a:t>
            </a:r>
          </a:p>
          <a:p>
            <a:pPr algn="ctr"/>
            <a:r>
              <a:rPr sz="900" b="1" i="0">
                <a:solidFill>
                  <a:srgbClr val="5B6B63"/>
                </a:solidFill>
                <a:latin typeface="Segoe UI"/>
                <a:cs typeface="Tahoma"/>
              </a:rPr>
              <a:t>18s to 20s</a:t>
            </a:r>
          </a:p>
        </p:txBody>
      </p:sp>
      <p:sp>
        <p:nvSpPr>
          <p:cNvPr id="26" name="TextBox 25"/>
          <p:cNvSpPr txBox="1"/>
          <p:nvPr/>
        </p:nvSpPr>
        <p:spPr>
          <a:xfrm>
            <a:off x="10298430" y="2808224"/>
            <a:ext cx="1332738"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18–20s</a:t>
            </a:r>
          </a:p>
          <a:p>
            <a:pPr rtl="1" algn="r"/>
            <a:r>
              <a:rPr sz="800" b="0" i="0">
                <a:solidFill>
                  <a:srgbClr val="5B6B63"/>
                </a:solidFill>
                <a:latin typeface="Segoe UI"/>
                <a:cs typeface="Tahoma"/>
              </a:rPr>
              <a:t>صناعة تُرى، وأثر يُقاس.</a:t>
            </a:r>
          </a:p>
          <a:p>
            <a:pPr algn="l"/>
            <a:r>
              <a:rPr sz="800" b="0" i="0">
                <a:solidFill>
                  <a:srgbClr val="5B6B63"/>
                </a:solidFill>
                <a:latin typeface="Segoe UI"/>
                <a:cs typeface="Tahoma"/>
              </a:rPr>
              <a:t>Visible capability. Measurable impact. sudairpharma.com</a:t>
            </a:r>
          </a:p>
        </p:txBody>
      </p:sp>
      <p:sp>
        <p:nvSpPr>
          <p:cNvPr id="27" name="Rounded Rectangle 26"/>
          <p:cNvSpPr/>
          <p:nvPr/>
        </p:nvSpPr>
        <p:spPr>
          <a:xfrm>
            <a:off x="457200" y="3695192"/>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3695192"/>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JAN-F06 · Thu 2027-01-14 · Instagram + Facebook · Reel</a:t>
            </a:r>
          </a:p>
        </p:txBody>
      </p:sp>
      <p:sp>
        <p:nvSpPr>
          <p:cNvPr id="29" name="TextBox 28"/>
          <p:cNvSpPr txBox="1"/>
          <p:nvPr/>
        </p:nvSpPr>
        <p:spPr>
          <a:xfrm>
            <a:off x="457200" y="4152392"/>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The whole line, in order  ·  How it is made  ·  T6 Key-visual petal</a:t>
            </a:r>
          </a:p>
        </p:txBody>
      </p:sp>
      <p:sp>
        <p:nvSpPr>
          <p:cNvPr id="30" name="TextBox 29"/>
          <p:cNvSpPr txBox="1"/>
          <p:nvPr/>
        </p:nvSpPr>
        <p:spPr>
          <a:xfrm>
            <a:off x="457200" y="4499864"/>
            <a:ext cx="11247120"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الخط كاملًا</a:t>
            </a:r>
          </a:p>
        </p:txBody>
      </p:sp>
      <p:sp>
        <p:nvSpPr>
          <p:cNvPr id="31" name="TextBox 30"/>
          <p:cNvSpPr txBox="1"/>
          <p:nvPr/>
        </p:nvSpPr>
        <p:spPr>
          <a:xfrm>
            <a:off x="457200" y="4911344"/>
            <a:ext cx="11247120"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بالترتيب</a:t>
            </a:r>
          </a:p>
        </p:txBody>
      </p:sp>
      <p:sp>
        <p:nvSpPr>
          <p:cNvPr id="32" name="TextBox 31"/>
          <p:cNvSpPr txBox="1"/>
          <p:nvPr/>
        </p:nvSpPr>
        <p:spPr>
          <a:xfrm>
            <a:off x="457200" y="5258816"/>
            <a:ext cx="11247120"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The whole line, in order. · From a material arriving to a batch leaving.</a:t>
            </a:r>
          </a:p>
        </p:txBody>
      </p:sp>
      <p:sp>
        <p:nvSpPr>
          <p:cNvPr id="33" name="TextBox 32"/>
          <p:cNvSpPr txBox="1"/>
          <p:nvPr/>
        </p:nvSpPr>
        <p:spPr>
          <a:xfrm>
            <a:off x="457200" y="5716016"/>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the whole line, in one continuous route. Reel cover in the key-visual petal style: dark emerald left fading to dusk right, three tall glowing petal windows in a fan above the real drone view of the campus (A002); inside the petals, people-free scenes of the route (flasks A008, corridor A003, packaging hall A013 in soft focus). Mist, mint rim light. Logo area top-left clear.</a:t>
            </a:r>
          </a:p>
        </p:txBody>
      </p:sp>
      <p:sp>
        <p:nvSpPr>
          <p:cNvPr id="34" name="TextBox 33"/>
          <p:cNvSpPr txBox="1"/>
          <p:nvPr/>
        </p:nvSpPr>
        <p:spPr>
          <a:xfrm>
            <a:off x="457200" y="6493256"/>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A002  Collective footage-20261001T081156Z-1-008/Collective footage/DJI_20260121084636_0010_D.MOV | A008  Collective footage-20261001T081156Z-1-008/Collective footage/Camera/1/ALABBASY.8839.MP4 | A009  Collective footage-20261001T081156Z-1-008/Collective footage/Camera/1/ALABBASY.8842.MP4 | A003  Col</a:t>
            </a:r>
          </a:p>
        </p:txBody>
      </p:sp>
      <p:sp>
        <p:nvSpPr>
          <p:cNvPr id="35" name="TextBox 34"/>
          <p:cNvSpPr txBox="1"/>
          <p:nvPr/>
        </p:nvSpPr>
        <p:spPr>
          <a:xfrm>
            <a:off x="457200" y="7041895"/>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من وصول المادة إلى مغادرة التشغيلة: الخط كاملًا، بالترتيب. كل خطوة هنا مررتم بها في السلسلة، والآن في مشهدٍ واحد. أي لقطةٍ منها وقفتم عندها أكثر؟</a:t>
            </a:r>
          </a:p>
          <a:p>
            <a:pPr algn="l"/>
            <a:r>
              <a:rPr sz="900" b="0" i="0">
                <a:solidFill>
                  <a:srgbClr val="142B22"/>
                </a:solidFill>
                <a:latin typeface="Segoe UI"/>
                <a:cs typeface="Tahoma"/>
              </a:rPr>
              <a:t>EN: From a material arriving to a batch leaving: the whole line, in order. Every step you met in the series, now in one pass. Which shot made you stop?</a:t>
            </a:r>
          </a:p>
        </p:txBody>
      </p:sp>
      <p:sp>
        <p:nvSpPr>
          <p:cNvPr id="36" name="TextBox 35"/>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CLAIM FLAG: process description. FLAG, process description: narrates the manufacturing route step by step in the voice-over and on-screen text. Descriptive only; no product, timing, count or outcome wording. Staff in A011, A012, A013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JAN-S06</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JAN-S06 · Thu 2027-01-14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Place card of the week  ·  Local manufacturing  ·  T6 Key-visual petal</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ممرٌّ في المصنع</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بطاقة المكان</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Place card: a corridor in the plant. · Seen from the inside, with the lights on.</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a place worth knowing. Key-visual petal crop in 9:16: one tall glowing petal window holding the real interior corridor (A003) above the dusk campus; mist and mint rim light; the headline in the lower third. 250 px free at top, 340 px at bottom.</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A003  Collective footage-20261001T081156Z-1-008/Collective footage/DJI_20260121103516_0070_D.MOV | A001  Collective footage-20261001T081156Z-1-008/Collective footage/DJI_20260121084222_0001_D.MOV</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بطاقة المكان لهذا الأسبوع: ممرٌّ من الداخل، والأضواء مضاءة.</a:t>
            </a:r>
          </a:p>
          <a:p>
            <a:pPr algn="l"/>
            <a:r>
              <a:rPr sz="900" b="0" i="0">
                <a:solidFill>
                  <a:srgbClr val="142B22"/>
                </a:solidFill>
                <a:latin typeface="Segoe UI"/>
                <a:cs typeface="Tahoma"/>
              </a:rPr>
              <a:t>EN: Place card of the week: a corridor, seen from the inside, with the lights on.</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Place only: no process, quality or health wording; no person in frame.</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493776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493776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JAN-F07</a:t>
            </a:r>
          </a:p>
          <a:p>
            <a:pPr algn="ctr"/>
            <a:r>
              <a:rPr sz="900" b="1" i="0">
                <a:solidFill>
                  <a:srgbClr val="5B6B63"/>
                </a:solidFill>
                <a:latin typeface="Segoe UI"/>
                <a:cs typeface="Tahoma"/>
              </a:rPr>
              <a:t>1080 × 1350 px (4:5)</a:t>
            </a:r>
          </a:p>
        </p:txBody>
      </p:sp>
      <p:sp>
        <p:nvSpPr>
          <p:cNvPr id="5" name="Rounded Rectangle 4"/>
          <p:cNvSpPr/>
          <p:nvPr/>
        </p:nvSpPr>
        <p:spPr>
          <a:xfrm>
            <a:off x="5669280" y="457200"/>
            <a:ext cx="603504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0" y="457200"/>
            <a:ext cx="585215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JAN-F07 · Sun 2027-01-17 · Instagram + Facebook · Still</a:t>
            </a:r>
          </a:p>
        </p:txBody>
      </p:sp>
      <p:sp>
        <p:nvSpPr>
          <p:cNvPr id="7" name="TextBox 6"/>
          <p:cNvSpPr txBox="1"/>
          <p:nvPr/>
        </p:nvSpPr>
        <p:spPr>
          <a:xfrm>
            <a:off x="5669280" y="914400"/>
            <a:ext cx="603504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Automated, not absent  ·  Local manufacturing  ·  T3 Portrait panel</a:t>
            </a:r>
          </a:p>
        </p:txBody>
      </p:sp>
      <p:sp>
        <p:nvSpPr>
          <p:cNvPr id="8" name="TextBox 7"/>
          <p:cNvSpPr txBox="1"/>
          <p:nvPr/>
        </p:nvSpPr>
        <p:spPr>
          <a:xfrm>
            <a:off x="5669280" y="1261872"/>
            <a:ext cx="6035040"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الآلة تعمل</a:t>
            </a:r>
          </a:p>
        </p:txBody>
      </p:sp>
      <p:sp>
        <p:nvSpPr>
          <p:cNvPr id="9" name="TextBox 8"/>
          <p:cNvSpPr txBox="1"/>
          <p:nvPr/>
        </p:nvSpPr>
        <p:spPr>
          <a:xfrm>
            <a:off x="5669280" y="1673351"/>
            <a:ext cx="6035040"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والإنسان حاضر</a:t>
            </a:r>
          </a:p>
        </p:txBody>
      </p:sp>
      <p:sp>
        <p:nvSpPr>
          <p:cNvPr id="10" name="TextBox 9"/>
          <p:cNvSpPr txBox="1"/>
          <p:nvPr/>
        </p:nvSpPr>
        <p:spPr>
          <a:xfrm>
            <a:off x="5669280" y="2020824"/>
            <a:ext cx="6035040"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Automated, not absent. · The line runs automatically. People set it up and watch it.</a:t>
            </a:r>
          </a:p>
        </p:txBody>
      </p:sp>
      <p:sp>
        <p:nvSpPr>
          <p:cNvPr id="11" name="TextBox 10"/>
          <p:cNvSpPr txBox="1"/>
          <p:nvPr/>
        </p:nvSpPr>
        <p:spPr>
          <a:xfrm>
            <a:off x="5669280" y="2478024"/>
            <a:ext cx="603504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the line is automated, and a person is always present beside it. Portrait panel: the real operator in a full clean-room suit (A012), three-quarter view, calm and attentive, graded to the emerald palette, occupying the left 55% of the frame; the right 45% is clear dark green with a faint vertical line pattern for the headline. Small chip bottom: AUTOMATED, NOT ABSENT. Logo area top-left clear.</a:t>
            </a:r>
          </a:p>
        </p:txBody>
      </p:sp>
      <p:sp>
        <p:nvSpPr>
          <p:cNvPr id="12" name="TextBox 11"/>
          <p:cNvSpPr txBox="1"/>
          <p:nvPr/>
        </p:nvSpPr>
        <p:spPr>
          <a:xfrm>
            <a:off x="5669280" y="3255264"/>
            <a:ext cx="603504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A012  Collective footage-20261001T081156Z-1-008/Collective footage/Camera/1/ALABBASY.8892.MP4</a:t>
            </a:r>
          </a:p>
        </p:txBody>
      </p:sp>
      <p:sp>
        <p:nvSpPr>
          <p:cNvPr id="13" name="TextBox 12"/>
          <p:cNvSpPr txBox="1"/>
          <p:nvPr/>
        </p:nvSpPr>
        <p:spPr>
          <a:xfrm>
            <a:off x="5669280" y="3803904"/>
            <a:ext cx="603504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الأجهزة على الخط تعمل تلقائيًا، لكن الفريق حاضر: يضبطها ويُشغّلها ويراقبها. التقنية تُسهّل العمل، والإنسان هو من يديرها. ما أكثر ما يلفتكم في المصانع الحديثة؟</a:t>
            </a:r>
          </a:p>
          <a:p>
            <a:pPr algn="l"/>
            <a:r>
              <a:rPr sz="900" b="0" i="0">
                <a:solidFill>
                  <a:srgbClr val="142B22"/>
                </a:solidFill>
                <a:latin typeface="Segoe UI"/>
                <a:cs typeface="Tahoma"/>
              </a:rPr>
              <a:t>EN: Equipment on the line runs automatically, yet the team is present: setting it up, running it and watching it. Technology makes the work easier. People run it. What do you notice most in a modern plant?</a:t>
            </a:r>
          </a:p>
        </p:txBody>
      </p:sp>
      <p:sp>
        <p:nvSpPr>
          <p:cNvPr id="14" name="TextBox 13"/>
          <p:cNvSpPr txBox="1"/>
          <p:nvPr/>
        </p:nvSpPr>
        <p:spPr>
          <a:xfrm>
            <a:off x="5669280" y="6400800"/>
            <a:ext cx="603504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CLAIM FLAG: technology description. FLAG, technology description: states that the line is automated and operated and monitored by staff. Descriptive only; no output, speed, accuracy or comparison wording. Written consent from the operat</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JAN-L05 · S1</a:t>
            </a:r>
          </a:p>
          <a:p>
            <a:pPr algn="ctr"/>
            <a:r>
              <a:rPr sz="900" b="1" i="0">
                <a:solidFill>
                  <a:srgbClr val="5B6B63"/>
                </a:solidFill>
                <a:latin typeface="Segoe UI"/>
                <a:cs typeface="Tahoma"/>
              </a:rPr>
              <a:t>1080 × 1350</a:t>
            </a:r>
          </a:p>
        </p:txBody>
      </p:sp>
      <p:sp>
        <p:nvSpPr>
          <p:cNvPr id="5" name="TextBox 4"/>
          <p:cNvSpPr txBox="1"/>
          <p:nvPr/>
        </p:nvSpPr>
        <p:spPr>
          <a:xfrm>
            <a:off x="45720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التقنية في التصنيع</a:t>
            </a:r>
          </a:p>
          <a:p>
            <a:pPr algn="l"/>
            <a:r>
              <a:rPr sz="850" b="0" i="0">
                <a:solidFill>
                  <a:srgbClr val="5B6B63"/>
                </a:solidFill>
                <a:latin typeface="Segoe UI"/>
                <a:cs typeface="Tahoma"/>
              </a:rPr>
              <a:t>Technology in manufacturing.</a:t>
            </a:r>
          </a:p>
        </p:txBody>
      </p:sp>
      <p:sp>
        <p:nvSpPr>
          <p:cNvPr id="6" name="Rounded Rectangle 5"/>
          <p:cNvSpPr/>
          <p:nvPr/>
        </p:nvSpPr>
        <p:spPr>
          <a:xfrm>
            <a:off x="265176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JAN-L05 · S2</a:t>
            </a:r>
          </a:p>
          <a:p>
            <a:pPr algn="ctr"/>
            <a:r>
              <a:rPr sz="900" b="1" i="0">
                <a:solidFill>
                  <a:srgbClr val="5B6B63"/>
                </a:solidFill>
                <a:latin typeface="Segoe UI"/>
                <a:cs typeface="Tahoma"/>
              </a:rPr>
              <a:t>1080 × 1350</a:t>
            </a:r>
          </a:p>
        </p:txBody>
      </p:sp>
      <p:sp>
        <p:nvSpPr>
          <p:cNvPr id="8" name="TextBox 7"/>
          <p:cNvSpPr txBox="1"/>
          <p:nvPr/>
        </p:nvSpPr>
        <p:spPr>
          <a:xfrm>
            <a:off x="265176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وحدة العزل</a:t>
            </a:r>
          </a:p>
          <a:p>
            <a:pPr algn="l"/>
            <a:r>
              <a:rPr sz="850" b="0" i="0">
                <a:solidFill>
                  <a:srgbClr val="5B6B63"/>
                </a:solidFill>
                <a:latin typeface="Segoe UI"/>
                <a:cs typeface="Tahoma"/>
              </a:rPr>
              <a:t>The isolator</a:t>
            </a:r>
          </a:p>
        </p:txBody>
      </p:sp>
      <p:sp>
        <p:nvSpPr>
          <p:cNvPr id="9" name="Rounded Rectangle 8"/>
          <p:cNvSpPr/>
          <p:nvPr/>
        </p:nvSpPr>
        <p:spPr>
          <a:xfrm>
            <a:off x="484632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JAN-L05 · S3</a:t>
            </a:r>
          </a:p>
          <a:p>
            <a:pPr algn="ctr"/>
            <a:r>
              <a:rPr sz="900" b="1" i="0">
                <a:solidFill>
                  <a:srgbClr val="5B6B63"/>
                </a:solidFill>
                <a:latin typeface="Segoe UI"/>
                <a:cs typeface="Tahoma"/>
              </a:rPr>
              <a:t>1080 × 1350</a:t>
            </a:r>
          </a:p>
        </p:txBody>
      </p:sp>
      <p:sp>
        <p:nvSpPr>
          <p:cNvPr id="11" name="TextBox 10"/>
          <p:cNvSpPr txBox="1"/>
          <p:nvPr/>
        </p:nvSpPr>
        <p:spPr>
          <a:xfrm>
            <a:off x="484632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idea</a:t>
            </a:r>
          </a:p>
          <a:p>
            <a:pPr rtl="1" algn="r"/>
            <a:r>
              <a:rPr sz="850" b="0" i="0">
                <a:solidFill>
                  <a:srgbClr val="5B6B63"/>
                </a:solidFill>
                <a:latin typeface="Segoe UI"/>
                <a:cs typeface="Tahoma"/>
              </a:rPr>
              <a:t>الغرفة النظيفة</a:t>
            </a:r>
          </a:p>
          <a:p>
            <a:pPr algn="l"/>
            <a:r>
              <a:rPr sz="850" b="0" i="0">
                <a:solidFill>
                  <a:srgbClr val="5B6B63"/>
                </a:solidFill>
                <a:latin typeface="Segoe UI"/>
                <a:cs typeface="Tahoma"/>
              </a:rPr>
              <a:t>The clean room</a:t>
            </a:r>
          </a:p>
        </p:txBody>
      </p:sp>
      <p:sp>
        <p:nvSpPr>
          <p:cNvPr id="12" name="Rounded Rectangle 11"/>
          <p:cNvSpPr/>
          <p:nvPr/>
        </p:nvSpPr>
        <p:spPr>
          <a:xfrm>
            <a:off x="7040879"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79"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JAN-L05 · S4</a:t>
            </a:r>
          </a:p>
          <a:p>
            <a:pPr algn="ctr"/>
            <a:r>
              <a:rPr sz="900" b="1" i="0">
                <a:solidFill>
                  <a:srgbClr val="5B6B63"/>
                </a:solidFill>
                <a:latin typeface="Segoe UI"/>
                <a:cs typeface="Tahoma"/>
              </a:rPr>
              <a:t>1080 × 1350</a:t>
            </a:r>
          </a:p>
        </p:txBody>
      </p:sp>
      <p:sp>
        <p:nvSpPr>
          <p:cNvPr id="14" name="TextBox 13"/>
          <p:cNvSpPr txBox="1"/>
          <p:nvPr/>
        </p:nvSpPr>
        <p:spPr>
          <a:xfrm>
            <a:off x="7040879"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idea</a:t>
            </a:r>
          </a:p>
          <a:p>
            <a:pPr rtl="1" algn="r"/>
            <a:r>
              <a:rPr sz="850" b="0" i="0">
                <a:solidFill>
                  <a:srgbClr val="5B6B63"/>
                </a:solidFill>
                <a:latin typeface="Segoe UI"/>
                <a:cs typeface="Tahoma"/>
              </a:rPr>
              <a:t>الخط الآلي</a:t>
            </a:r>
          </a:p>
          <a:p>
            <a:pPr algn="l"/>
            <a:r>
              <a:rPr sz="850" b="0" i="0">
                <a:solidFill>
                  <a:srgbClr val="5B6B63"/>
                </a:solidFill>
                <a:latin typeface="Segoe UI"/>
                <a:cs typeface="Tahoma"/>
              </a:rPr>
              <a:t>The automated line</a:t>
            </a:r>
          </a:p>
        </p:txBody>
      </p:sp>
      <p:sp>
        <p:nvSpPr>
          <p:cNvPr id="15" name="Rounded Rectangle 14"/>
          <p:cNvSpPr/>
          <p:nvPr/>
        </p:nvSpPr>
        <p:spPr>
          <a:xfrm>
            <a:off x="923544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JAN-L05 · S5</a:t>
            </a:r>
          </a:p>
          <a:p>
            <a:pPr algn="ctr"/>
            <a:r>
              <a:rPr sz="900" b="1" i="0">
                <a:solidFill>
                  <a:srgbClr val="5B6B63"/>
                </a:solidFill>
                <a:latin typeface="Segoe UI"/>
                <a:cs typeface="Tahoma"/>
              </a:rPr>
              <a:t>1080 × 1350</a:t>
            </a:r>
          </a:p>
        </p:txBody>
      </p:sp>
      <p:sp>
        <p:nvSpPr>
          <p:cNvPr id="17" name="TextBox 16"/>
          <p:cNvSpPr txBox="1"/>
          <p:nvPr/>
        </p:nvSpPr>
        <p:spPr>
          <a:xfrm>
            <a:off x="923544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cta</a:t>
            </a:r>
          </a:p>
          <a:p>
            <a:pPr rtl="1" algn="r"/>
            <a:r>
              <a:rPr sz="850" b="0" i="0">
                <a:solidFill>
                  <a:srgbClr val="5B6B63"/>
                </a:solidFill>
                <a:latin typeface="Segoe UI"/>
                <a:cs typeface="Tahoma"/>
              </a:rPr>
              <a:t>صناعة تُرى،</a:t>
            </a:r>
          </a:p>
          <a:p>
            <a:pPr algn="l"/>
            <a:r>
              <a:rPr sz="850" b="0" i="0">
                <a:solidFill>
                  <a:srgbClr val="5B6B63"/>
                </a:solidFill>
                <a:latin typeface="Segoe UI"/>
                <a:cs typeface="Tahoma"/>
              </a:rPr>
              <a:t>Visible capability. Measurable impact.</a:t>
            </a:r>
          </a:p>
        </p:txBody>
      </p:sp>
      <p:sp>
        <p:nvSpPr>
          <p:cNvPr id="18" name="Rounded Rectangle 17"/>
          <p:cNvSpPr/>
          <p:nvPr/>
        </p:nvSpPr>
        <p:spPr>
          <a:xfrm>
            <a:off x="457200" y="390906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0906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JAN-L05 · Mon 2027-01-18 · LinkedIn + X · Carousel</a:t>
            </a:r>
          </a:p>
        </p:txBody>
      </p:sp>
      <p:sp>
        <p:nvSpPr>
          <p:cNvPr id="20" name="TextBox 19"/>
          <p:cNvSpPr txBox="1"/>
          <p:nvPr/>
        </p:nvSpPr>
        <p:spPr>
          <a:xfrm>
            <a:off x="457200" y="436626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Technology in manufacturing  ·  Local manufacturing  ·  T4 Card explainer</a:t>
            </a:r>
          </a:p>
        </p:txBody>
      </p:sp>
      <p:sp>
        <p:nvSpPr>
          <p:cNvPr id="21" name="TextBox 20"/>
          <p:cNvSpPr txBox="1"/>
          <p:nvPr/>
        </p:nvSpPr>
        <p:spPr>
          <a:xfrm>
            <a:off x="457200" y="471373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Three rounded cream cards with a lime edge on emerald, each holding a friendly 3D character in green clothing beside one simple object: a sealed enclosure with glove ports, a clean-room doorway, a short machine line. Headline area clear at the top, no readable labels on anything.</a:t>
            </a:r>
          </a:p>
        </p:txBody>
      </p:sp>
      <p:sp>
        <p:nvSpPr>
          <p:cNvPr id="22" name="TextBox 21"/>
          <p:cNvSpPr txBox="1"/>
          <p:nvPr/>
        </p:nvSpPr>
        <p:spPr>
          <a:xfrm>
            <a:off x="457200" y="535381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A011  Collective footage-20261001T081156Z-1-008/Collective footage/Camera/1/ALABBASY.8871.MP4 | A003  Collective footage-20261001T081156Z-1-008/Collective footage/DJI_20260121103516_0070_D.MOV | A013  Collective footage-20261001T081156Z-1-008/Collective footage/Camera/2/jaradi20260121_8608.MP4</a:t>
            </a:r>
          </a:p>
        </p:txBody>
      </p:sp>
      <p:sp>
        <p:nvSpPr>
          <p:cNvPr id="23" name="TextBox 22"/>
          <p:cNvSpPr txBox="1"/>
          <p:nvPr/>
        </p:nvSpPr>
        <p:spPr>
          <a:xfrm>
            <a:off x="457200" y="590245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ثلاثة أشياء تراها على خط التصنيع، بكلمات بسيطة: وحدة العزل، والغرفة النظيفة، والخط الآلي. خلف كل واحدة منها فريق يعمل بها. ما التقنية التي تودّون معرفة المزيد عنها؟</a:t>
            </a:r>
          </a:p>
          <a:p>
            <a:pPr algn="l"/>
            <a:r>
              <a:rPr sz="900" b="0" i="0">
                <a:solidFill>
                  <a:srgbClr val="142B22"/>
                </a:solidFill>
                <a:latin typeface="Segoe UI"/>
                <a:cs typeface="Tahoma"/>
              </a:rPr>
              <a:t>EN: Three things you can see on a manufacturing line, in plain words: the isolator, the clean room and the automated line. Behind each one there is a team that works with it. Which would you like to know more about?</a:t>
            </a:r>
          </a:p>
        </p:txBody>
      </p:sp>
      <p:sp>
        <p:nvSpPr>
          <p:cNvPr id="24" name="TextBox 23"/>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CLAIM FLAG: technology description. FLAG: describes three technologies on the line in generic words; no vendor, model, product, performance figure, efficacy or safety statement; consent needed for A011 and A013.</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JAN-S07</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JAN-S07 · Mon 2027-01-18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Machines and people  ·  Meet the makers  ·  T3 Portrait panel</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الآلات</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والناس</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Machines and people. · Side by side, every day.</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people and tools side by side. Portrait panel in 9:16: the lab analyst at the bench (A007), left 60% of the frame, the equipment beside them in soft focus; the right and lower area is clear dark green with a faint vertical line pattern for the headline. 250 px free at top, 340 px at bottom.</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A007  Collective footage-20261001T081156Z-1-008/Collective footage/Camera/1/ALABBASY.8838.MP4</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الآلات والناس، جنبًا إلى جنب كل يوم.</a:t>
            </a:r>
          </a:p>
          <a:p>
            <a:pPr algn="l"/>
            <a:r>
              <a:rPr sz="900" b="0" i="0">
                <a:solidFill>
                  <a:srgbClr val="142B22"/>
                </a:solidFill>
                <a:latin typeface="Segoe UI"/>
                <a:cs typeface="Tahoma"/>
              </a:rPr>
              <a:t>EN: Machines and people, side by side every day.</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People and tools seen from outside, no explanation of function. Consent for the analyst in A007.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JAN-F08 · COVER</a:t>
            </a:r>
          </a:p>
          <a:p>
            <a:pPr algn="ctr"/>
            <a:r>
              <a:rPr sz="900" b="1" i="0">
                <a:solidFill>
                  <a:srgbClr val="5B6B63"/>
                </a:solidFill>
                <a:latin typeface="Segoe UI"/>
                <a:cs typeface="Tahoma"/>
              </a:rPr>
              <a:t>9:16</a:t>
            </a:r>
          </a:p>
        </p:txBody>
      </p:sp>
      <p:sp>
        <p:nvSpPr>
          <p:cNvPr id="5" name="TextBox 4"/>
          <p:cNvSpPr txBox="1"/>
          <p:nvPr/>
        </p:nvSpPr>
        <p:spPr>
          <a:xfrm>
            <a:off x="457200" y="2877312"/>
            <a:ext cx="1371600" cy="64008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Cover</a:t>
            </a:r>
          </a:p>
          <a:p>
            <a:pPr rtl="1" algn="r"/>
            <a:r>
              <a:rPr sz="850" b="0" i="0">
                <a:solidFill>
                  <a:srgbClr val="5B6B63"/>
                </a:solidFill>
                <a:latin typeface="Segoe UI"/>
                <a:cs typeface="Tahoma"/>
              </a:rPr>
              <a:t>التقنية</a:t>
            </a:r>
          </a:p>
        </p:txBody>
      </p:sp>
      <p:sp>
        <p:nvSpPr>
          <p:cNvPr id="6" name="Rounded Rectangle 5"/>
          <p:cNvSpPr/>
          <p:nvPr/>
        </p:nvSpPr>
        <p:spPr>
          <a:xfrm>
            <a:off x="1901952"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01952"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JAN-F08 · SHOT 1</a:t>
            </a:r>
          </a:p>
          <a:p>
            <a:pPr algn="ctr"/>
            <a:r>
              <a:rPr sz="900" b="1" i="0">
                <a:solidFill>
                  <a:srgbClr val="5B6B63"/>
                </a:solidFill>
                <a:latin typeface="Segoe UI"/>
                <a:cs typeface="Tahoma"/>
              </a:rPr>
              <a:t>0s to 3s</a:t>
            </a:r>
          </a:p>
        </p:txBody>
      </p:sp>
      <p:sp>
        <p:nvSpPr>
          <p:cNvPr id="8" name="TextBox 7"/>
          <p:cNvSpPr txBox="1"/>
          <p:nvPr/>
        </p:nvSpPr>
        <p:spPr>
          <a:xfrm>
            <a:off x="1901952"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0–3s</a:t>
            </a:r>
          </a:p>
          <a:p>
            <a:pPr rtl="1" algn="r"/>
            <a:r>
              <a:rPr sz="800" b="0" i="0">
                <a:solidFill>
                  <a:srgbClr val="5B6B63"/>
                </a:solidFill>
                <a:latin typeface="Segoe UI"/>
                <a:cs typeface="Tahoma"/>
              </a:rPr>
              <a:t>التقنية على الخط</a:t>
            </a:r>
          </a:p>
          <a:p>
            <a:pPr algn="l"/>
            <a:r>
              <a:rPr sz="800" b="0" i="0">
                <a:solidFill>
                  <a:srgbClr val="5B6B63"/>
                </a:solidFill>
                <a:latin typeface="Segoe UI"/>
                <a:cs typeface="Tahoma"/>
              </a:rPr>
              <a:t>Technology on the line</a:t>
            </a:r>
          </a:p>
        </p:txBody>
      </p:sp>
      <p:sp>
        <p:nvSpPr>
          <p:cNvPr id="9" name="Rounded Rectangle 8"/>
          <p:cNvSpPr/>
          <p:nvPr/>
        </p:nvSpPr>
        <p:spPr>
          <a:xfrm>
            <a:off x="3346704"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46704"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JAN-F08 · SHOT 2</a:t>
            </a:r>
          </a:p>
          <a:p>
            <a:pPr algn="ctr"/>
            <a:r>
              <a:rPr sz="900" b="1" i="0">
                <a:solidFill>
                  <a:srgbClr val="5B6B63"/>
                </a:solidFill>
                <a:latin typeface="Segoe UI"/>
                <a:cs typeface="Tahoma"/>
              </a:rPr>
              <a:t>3s to 6s</a:t>
            </a:r>
          </a:p>
        </p:txBody>
      </p:sp>
      <p:sp>
        <p:nvSpPr>
          <p:cNvPr id="11" name="TextBox 10"/>
          <p:cNvSpPr txBox="1"/>
          <p:nvPr/>
        </p:nvSpPr>
        <p:spPr>
          <a:xfrm>
            <a:off x="3346704"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3–6s</a:t>
            </a:r>
          </a:p>
          <a:p>
            <a:pPr rtl="1" algn="r"/>
            <a:r>
              <a:rPr sz="800" b="0" i="0">
                <a:solidFill>
                  <a:srgbClr val="5B6B63"/>
                </a:solidFill>
                <a:latin typeface="Segoe UI"/>
                <a:cs typeface="Tahoma"/>
              </a:rPr>
              <a:t>حاجزٌ يُشغَّل عبر قفازات</a:t>
            </a:r>
          </a:p>
          <a:p>
            <a:pPr algn="l"/>
            <a:r>
              <a:rPr sz="800" b="0" i="0">
                <a:solidFill>
                  <a:srgbClr val="5B6B63"/>
                </a:solidFill>
                <a:latin typeface="Segoe UI"/>
                <a:cs typeface="Tahoma"/>
              </a:rPr>
              <a:t>A barrier operated through gloves</a:t>
            </a:r>
          </a:p>
        </p:txBody>
      </p:sp>
      <p:sp>
        <p:nvSpPr>
          <p:cNvPr id="12" name="Rounded Rectangle 11"/>
          <p:cNvSpPr/>
          <p:nvPr/>
        </p:nvSpPr>
        <p:spPr>
          <a:xfrm>
            <a:off x="4791456"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91456"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JAN-F08 · SHOT 3</a:t>
            </a:r>
          </a:p>
          <a:p>
            <a:pPr algn="ctr"/>
            <a:r>
              <a:rPr sz="900" b="1" i="0">
                <a:solidFill>
                  <a:srgbClr val="5B6B63"/>
                </a:solidFill>
                <a:latin typeface="Segoe UI"/>
                <a:cs typeface="Tahoma"/>
              </a:rPr>
              <a:t>6s to 9s</a:t>
            </a:r>
          </a:p>
        </p:txBody>
      </p:sp>
      <p:sp>
        <p:nvSpPr>
          <p:cNvPr id="14" name="TextBox 13"/>
          <p:cNvSpPr txBox="1"/>
          <p:nvPr/>
        </p:nvSpPr>
        <p:spPr>
          <a:xfrm>
            <a:off x="4791456"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6–9s</a:t>
            </a:r>
          </a:p>
          <a:p>
            <a:pPr rtl="1" algn="r"/>
            <a:r>
              <a:rPr sz="800" b="0" i="0">
                <a:solidFill>
                  <a:srgbClr val="5B6B63"/>
                </a:solidFill>
                <a:latin typeface="Segoe UI"/>
                <a:cs typeface="Tahoma"/>
              </a:rPr>
              <a:t>خطُّ تغليفٍ، والفريق إلى جانبه</a:t>
            </a:r>
          </a:p>
          <a:p>
            <a:pPr algn="l"/>
            <a:r>
              <a:rPr sz="800" b="0" i="0">
                <a:solidFill>
                  <a:srgbClr val="5B6B63"/>
                </a:solidFill>
                <a:latin typeface="Segoe UI"/>
                <a:cs typeface="Tahoma"/>
              </a:rPr>
              <a:t>A packaging line, the team beside it</a:t>
            </a:r>
          </a:p>
        </p:txBody>
      </p:sp>
      <p:sp>
        <p:nvSpPr>
          <p:cNvPr id="15" name="Rounded Rectangle 14"/>
          <p:cNvSpPr/>
          <p:nvPr/>
        </p:nvSpPr>
        <p:spPr>
          <a:xfrm>
            <a:off x="6236208"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36208"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JAN-F08 · SHOT 4</a:t>
            </a:r>
          </a:p>
          <a:p>
            <a:pPr algn="ctr"/>
            <a:r>
              <a:rPr sz="900" b="1" i="0">
                <a:solidFill>
                  <a:srgbClr val="5B6B63"/>
                </a:solidFill>
                <a:latin typeface="Segoe UI"/>
                <a:cs typeface="Tahoma"/>
              </a:rPr>
              <a:t>9s to 12s</a:t>
            </a:r>
          </a:p>
        </p:txBody>
      </p:sp>
      <p:sp>
        <p:nvSpPr>
          <p:cNvPr id="17" name="TextBox 16"/>
          <p:cNvSpPr txBox="1"/>
          <p:nvPr/>
        </p:nvSpPr>
        <p:spPr>
          <a:xfrm>
            <a:off x="6236208"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9–12s</a:t>
            </a:r>
          </a:p>
          <a:p>
            <a:pPr rtl="1" algn="r"/>
            <a:r>
              <a:rPr sz="800" b="0" i="0">
                <a:solidFill>
                  <a:srgbClr val="5B6B63"/>
                </a:solidFill>
                <a:latin typeface="Segoe UI"/>
                <a:cs typeface="Tahoma"/>
              </a:rPr>
              <a:t>أدوات قياسٍ على المقعد</a:t>
            </a:r>
          </a:p>
          <a:p>
            <a:pPr algn="l"/>
            <a:r>
              <a:rPr sz="800" b="0" i="0">
                <a:solidFill>
                  <a:srgbClr val="5B6B63"/>
                </a:solidFill>
                <a:latin typeface="Segoe UI"/>
                <a:cs typeface="Tahoma"/>
              </a:rPr>
              <a:t>Instruments on the bench</a:t>
            </a:r>
          </a:p>
        </p:txBody>
      </p:sp>
      <p:sp>
        <p:nvSpPr>
          <p:cNvPr id="18" name="Rounded Rectangle 17"/>
          <p:cNvSpPr/>
          <p:nvPr/>
        </p:nvSpPr>
        <p:spPr>
          <a:xfrm>
            <a:off x="7680960"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0"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JAN-F08 · SHOT 5</a:t>
            </a:r>
          </a:p>
          <a:p>
            <a:pPr algn="ctr"/>
            <a:r>
              <a:rPr sz="900" b="1" i="0">
                <a:solidFill>
                  <a:srgbClr val="5B6B63"/>
                </a:solidFill>
                <a:latin typeface="Segoe UI"/>
                <a:cs typeface="Tahoma"/>
              </a:rPr>
              <a:t>12s to 18s</a:t>
            </a:r>
          </a:p>
        </p:txBody>
      </p:sp>
      <p:sp>
        <p:nvSpPr>
          <p:cNvPr id="20" name="TextBox 19"/>
          <p:cNvSpPr txBox="1"/>
          <p:nvPr/>
        </p:nvSpPr>
        <p:spPr>
          <a:xfrm>
            <a:off x="7680960"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12–18s</a:t>
            </a:r>
          </a:p>
          <a:p>
            <a:pPr rtl="1" algn="r"/>
            <a:r>
              <a:rPr sz="800" b="0" i="0">
                <a:solidFill>
                  <a:srgbClr val="5B6B63"/>
                </a:solidFill>
                <a:latin typeface="Segoe UI"/>
                <a:cs typeface="Tahoma"/>
              </a:rPr>
              <a:t>الآلة تعمل، والإنسان حاضر</a:t>
            </a:r>
          </a:p>
          <a:p>
            <a:pPr algn="l"/>
            <a:r>
              <a:rPr sz="800" b="0" i="0">
                <a:solidFill>
                  <a:srgbClr val="5B6B63"/>
                </a:solidFill>
                <a:latin typeface="Segoe UI"/>
                <a:cs typeface="Tahoma"/>
              </a:rPr>
              <a:t>The machine runs. The person is present.</a:t>
            </a:r>
          </a:p>
        </p:txBody>
      </p:sp>
      <p:sp>
        <p:nvSpPr>
          <p:cNvPr id="21" name="Rounded Rectangle 20"/>
          <p:cNvSpPr/>
          <p:nvPr/>
        </p:nvSpPr>
        <p:spPr>
          <a:xfrm>
            <a:off x="9125712" y="411480"/>
            <a:ext cx="1371600" cy="24384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25712" y="1310639"/>
            <a:ext cx="137160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JAN-F08 · SHOT 6</a:t>
            </a:r>
          </a:p>
          <a:p>
            <a:pPr algn="ctr"/>
            <a:r>
              <a:rPr sz="900" b="1" i="0">
                <a:solidFill>
                  <a:srgbClr val="5B6B63"/>
                </a:solidFill>
                <a:latin typeface="Segoe UI"/>
                <a:cs typeface="Tahoma"/>
              </a:rPr>
              <a:t>18s to 20s</a:t>
            </a:r>
          </a:p>
        </p:txBody>
      </p:sp>
      <p:sp>
        <p:nvSpPr>
          <p:cNvPr id="23" name="TextBox 22"/>
          <p:cNvSpPr txBox="1"/>
          <p:nvPr/>
        </p:nvSpPr>
        <p:spPr>
          <a:xfrm>
            <a:off x="9125712" y="2877312"/>
            <a:ext cx="1371600" cy="822960"/>
          </a:xfrm>
          <a:prstGeom prst="rect">
            <a:avLst/>
          </a:prstGeom>
          <a:noFill/>
        </p:spPr>
        <p:txBody>
          <a:bodyPr wrap="square" lIns="36576" rIns="36576" tIns="18288" bIns="18288" anchor="t">
            <a:spAutoFit/>
          </a:bodyPr>
          <a:lstStyle/>
          <a:p>
            <a:pPr algn="l"/>
            <a:r>
              <a:rPr sz="800" b="0" i="0">
                <a:solidFill>
                  <a:srgbClr val="5B6B63"/>
                </a:solidFill>
                <a:latin typeface="Segoe UI"/>
                <a:cs typeface="Tahoma"/>
              </a:rPr>
              <a:t>18–20s</a:t>
            </a:r>
          </a:p>
          <a:p>
            <a:pPr rtl="1" algn="r"/>
            <a:r>
              <a:rPr sz="800" b="0" i="0">
                <a:solidFill>
                  <a:srgbClr val="5B6B63"/>
                </a:solidFill>
                <a:latin typeface="Segoe UI"/>
                <a:cs typeface="Tahoma"/>
              </a:rPr>
              <a:t>صناعة تُرى، وأثر يُقاس.</a:t>
            </a:r>
          </a:p>
          <a:p>
            <a:pPr algn="l"/>
            <a:r>
              <a:rPr sz="800" b="0" i="0">
                <a:solidFill>
                  <a:srgbClr val="5B6B63"/>
                </a:solidFill>
                <a:latin typeface="Segoe UI"/>
                <a:cs typeface="Tahoma"/>
              </a:rPr>
              <a:t>Visible capability. Measurable impact. sudairpharma.com</a:t>
            </a:r>
          </a:p>
        </p:txBody>
      </p:sp>
      <p:sp>
        <p:nvSpPr>
          <p:cNvPr id="24" name="Rounded Rectangle 23"/>
          <p:cNvSpPr/>
          <p:nvPr/>
        </p:nvSpPr>
        <p:spPr>
          <a:xfrm>
            <a:off x="457200" y="376428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76428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JAN-F08 · Tue 2027-01-19 · Instagram + Facebook · Reel</a:t>
            </a:r>
          </a:p>
        </p:txBody>
      </p:sp>
      <p:sp>
        <p:nvSpPr>
          <p:cNvPr id="26" name="TextBox 25"/>
          <p:cNvSpPr txBox="1"/>
          <p:nvPr/>
        </p:nvSpPr>
        <p:spPr>
          <a:xfrm>
            <a:off x="457200" y="422148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Technology on the line  ·  How it is made  ·  T7 People hero</a:t>
            </a:r>
          </a:p>
        </p:txBody>
      </p:sp>
      <p:sp>
        <p:nvSpPr>
          <p:cNvPr id="27" name="TextBox 26"/>
          <p:cNvSpPr txBox="1"/>
          <p:nvPr/>
        </p:nvSpPr>
        <p:spPr>
          <a:xfrm>
            <a:off x="457200" y="4568952"/>
            <a:ext cx="11247120"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التقنية</a:t>
            </a:r>
          </a:p>
        </p:txBody>
      </p:sp>
      <p:sp>
        <p:nvSpPr>
          <p:cNvPr id="28" name="TextBox 27"/>
          <p:cNvSpPr txBox="1"/>
          <p:nvPr/>
        </p:nvSpPr>
        <p:spPr>
          <a:xfrm>
            <a:off x="457200" y="4980432"/>
            <a:ext cx="11247120"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على الخط</a:t>
            </a:r>
          </a:p>
        </p:txBody>
      </p:sp>
      <p:sp>
        <p:nvSpPr>
          <p:cNvPr id="29" name="TextBox 28"/>
          <p:cNvSpPr txBox="1"/>
          <p:nvPr/>
        </p:nvSpPr>
        <p:spPr>
          <a:xfrm>
            <a:off x="457200" y="5327904"/>
            <a:ext cx="11247120"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Technology on the line. · Seen from the outside, with people at every station.</a:t>
            </a:r>
          </a:p>
        </p:txBody>
      </p:sp>
      <p:sp>
        <p:nvSpPr>
          <p:cNvPr id="30" name="TextBox 29"/>
          <p:cNvSpPr txBox="1"/>
          <p:nvPr/>
        </p:nvSpPr>
        <p:spPr>
          <a:xfrm>
            <a:off x="457200" y="5785104"/>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technology and people, side by side. Reel cover: a young Saudi woman in a deep green hijab and abaya beside a Saudi man in a white thobe and red-white shemagh, arms crossed, calm and proud, looking up and to the right, soft cinematic light on a teal gradient sky; the real photograph of the clean-room corridor (A003) fills the lower third. Logo area top-left clear.</a:t>
            </a:r>
          </a:p>
        </p:txBody>
      </p:sp>
      <p:sp>
        <p:nvSpPr>
          <p:cNvPr id="31" name="TextBox 30"/>
          <p:cNvSpPr txBox="1"/>
          <p:nvPr/>
        </p:nvSpPr>
        <p:spPr>
          <a:xfrm>
            <a:off x="457200" y="6562344"/>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A003  Collective footage-20261001T081156Z-1-008/Collective footage/DJI_20260121103516_0070_D.MOV | A011  Collective footage-20261001T081156Z-1-008/Collective footage/Camera/1/ALABBASY.8871.MP4 | A013  Collective footage-20261001T081156Z-1-008/Collective footage/Camera/2/jaradi20260121_8608.MP4 | A00</a:t>
            </a:r>
          </a:p>
        </p:txBody>
      </p:sp>
      <p:sp>
        <p:nvSpPr>
          <p:cNvPr id="32" name="TextBox 31"/>
          <p:cNvSpPr txBox="1"/>
          <p:nvPr/>
        </p:nvSpPr>
        <p:spPr>
          <a:xfrm>
            <a:off x="457200" y="7110984"/>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التقنية على الخط، كما تُرى من الخارج. حاجزٌ وآلات وأدوات قياس، وبجانبها دائمًا أشخاصٌ يعملون. أي جهازٍ تودّون أن نُريكم أكثر منه؟</a:t>
            </a:r>
          </a:p>
          <a:p>
            <a:pPr algn="l"/>
            <a:r>
              <a:rPr sz="900" b="0" i="0">
                <a:solidFill>
                  <a:srgbClr val="142B22"/>
                </a:solidFill>
                <a:latin typeface="Segoe UI"/>
                <a:cs typeface="Tahoma"/>
              </a:rPr>
              <a:t>EN: Technology on the line, seen from the outside. A barrier, machines and instruments, and always people working beside them. Which piece of equipment should we show more of?</a:t>
            </a:r>
          </a:p>
        </p:txBody>
      </p:sp>
      <p:sp>
        <p:nvSpPr>
          <p:cNvPr id="33" name="TextBox 32"/>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CLAIM FLAG: technology description. FLAG, technology description: describes equipment on the line (isolator barrier, packaging line, bench instruments) in the voice-over. Descriptive only; no capability, speed or comparison wording; no </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JAN-L06 · S1</a:t>
            </a:r>
          </a:p>
          <a:p>
            <a:pPr algn="ctr"/>
            <a:r>
              <a:rPr sz="900" b="1" i="0">
                <a:solidFill>
                  <a:srgbClr val="5B6B63"/>
                </a:solidFill>
                <a:latin typeface="Segoe UI"/>
                <a:cs typeface="Tahoma"/>
              </a:rPr>
              <a:t>1080 × 1350</a:t>
            </a:r>
          </a:p>
        </p:txBody>
      </p:sp>
      <p:sp>
        <p:nvSpPr>
          <p:cNvPr id="5" name="TextBox 4"/>
          <p:cNvSpPr txBox="1"/>
          <p:nvPr/>
        </p:nvSpPr>
        <p:spPr>
          <a:xfrm>
            <a:off x="45720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إنسان وآلة</a:t>
            </a:r>
          </a:p>
          <a:p>
            <a:pPr algn="l"/>
            <a:r>
              <a:rPr sz="850" b="0" i="0">
                <a:solidFill>
                  <a:srgbClr val="5B6B63"/>
                </a:solidFill>
                <a:latin typeface="Segoe UI"/>
                <a:cs typeface="Tahoma"/>
              </a:rPr>
              <a:t>People and machines, side by side.</a:t>
            </a:r>
          </a:p>
        </p:txBody>
      </p:sp>
      <p:sp>
        <p:nvSpPr>
          <p:cNvPr id="6" name="Rounded Rectangle 5"/>
          <p:cNvSpPr/>
          <p:nvPr/>
        </p:nvSpPr>
        <p:spPr>
          <a:xfrm>
            <a:off x="265176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JAN-L06 · S2</a:t>
            </a:r>
          </a:p>
          <a:p>
            <a:pPr algn="ctr"/>
            <a:r>
              <a:rPr sz="900" b="1" i="0">
                <a:solidFill>
                  <a:srgbClr val="5B6B63"/>
                </a:solidFill>
                <a:latin typeface="Segoe UI"/>
                <a:cs typeface="Tahoma"/>
              </a:rPr>
              <a:t>1080 × 1350</a:t>
            </a:r>
          </a:p>
        </p:txBody>
      </p:sp>
      <p:sp>
        <p:nvSpPr>
          <p:cNvPr id="8" name="TextBox 7"/>
          <p:cNvSpPr txBox="1"/>
          <p:nvPr/>
        </p:nvSpPr>
        <p:spPr>
          <a:xfrm>
            <a:off x="265176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في الغرفة النظيفة</a:t>
            </a:r>
          </a:p>
          <a:p>
            <a:pPr algn="l"/>
            <a:r>
              <a:rPr sz="850" b="0" i="0">
                <a:solidFill>
                  <a:srgbClr val="5B6B63"/>
                </a:solidFill>
                <a:latin typeface="Segoe UI"/>
                <a:cs typeface="Tahoma"/>
              </a:rPr>
              <a:t>In the clean room</a:t>
            </a:r>
          </a:p>
        </p:txBody>
      </p:sp>
      <p:sp>
        <p:nvSpPr>
          <p:cNvPr id="9" name="Rounded Rectangle 8"/>
          <p:cNvSpPr/>
          <p:nvPr/>
        </p:nvSpPr>
        <p:spPr>
          <a:xfrm>
            <a:off x="484632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JAN-L06 · S3</a:t>
            </a:r>
          </a:p>
          <a:p>
            <a:pPr algn="ctr"/>
            <a:r>
              <a:rPr sz="900" b="1" i="0">
                <a:solidFill>
                  <a:srgbClr val="5B6B63"/>
                </a:solidFill>
                <a:latin typeface="Segoe UI"/>
                <a:cs typeface="Tahoma"/>
              </a:rPr>
              <a:t>1080 × 1350</a:t>
            </a:r>
          </a:p>
        </p:txBody>
      </p:sp>
      <p:sp>
        <p:nvSpPr>
          <p:cNvPr id="11" name="TextBox 10"/>
          <p:cNvSpPr txBox="1"/>
          <p:nvPr/>
        </p:nvSpPr>
        <p:spPr>
          <a:xfrm>
            <a:off x="484632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idea</a:t>
            </a:r>
          </a:p>
          <a:p>
            <a:pPr rtl="1" algn="r"/>
            <a:r>
              <a:rPr sz="850" b="0" i="0">
                <a:solidFill>
                  <a:srgbClr val="5B6B63"/>
                </a:solidFill>
                <a:latin typeface="Segoe UI"/>
                <a:cs typeface="Tahoma"/>
              </a:rPr>
              <a:t>على طاولة المختبر</a:t>
            </a:r>
          </a:p>
          <a:p>
            <a:pPr algn="l"/>
            <a:r>
              <a:rPr sz="850" b="0" i="0">
                <a:solidFill>
                  <a:srgbClr val="5B6B63"/>
                </a:solidFill>
                <a:latin typeface="Segoe UI"/>
                <a:cs typeface="Tahoma"/>
              </a:rPr>
              <a:t>At the lab bench</a:t>
            </a:r>
          </a:p>
        </p:txBody>
      </p:sp>
      <p:sp>
        <p:nvSpPr>
          <p:cNvPr id="12" name="Rounded Rectangle 11"/>
          <p:cNvSpPr/>
          <p:nvPr/>
        </p:nvSpPr>
        <p:spPr>
          <a:xfrm>
            <a:off x="7040879"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79"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JAN-L06 · S4</a:t>
            </a:r>
          </a:p>
          <a:p>
            <a:pPr algn="ctr"/>
            <a:r>
              <a:rPr sz="900" b="1" i="0">
                <a:solidFill>
                  <a:srgbClr val="5B6B63"/>
                </a:solidFill>
                <a:latin typeface="Segoe UI"/>
                <a:cs typeface="Tahoma"/>
              </a:rPr>
              <a:t>1080 × 1350</a:t>
            </a:r>
          </a:p>
        </p:txBody>
      </p:sp>
      <p:sp>
        <p:nvSpPr>
          <p:cNvPr id="14" name="TextBox 13"/>
          <p:cNvSpPr txBox="1"/>
          <p:nvPr/>
        </p:nvSpPr>
        <p:spPr>
          <a:xfrm>
            <a:off x="7040879"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idea</a:t>
            </a:r>
          </a:p>
          <a:p>
            <a:pPr rtl="1" algn="r"/>
            <a:r>
              <a:rPr sz="850" b="0" i="0">
                <a:solidFill>
                  <a:srgbClr val="5B6B63"/>
                </a:solidFill>
                <a:latin typeface="Segoe UI"/>
                <a:cs typeface="Tahoma"/>
              </a:rPr>
              <a:t>بجانب كل آلة</a:t>
            </a:r>
          </a:p>
          <a:p>
            <a:pPr algn="l"/>
            <a:r>
              <a:rPr sz="850" b="0" i="0">
                <a:solidFill>
                  <a:srgbClr val="5B6B63"/>
                </a:solidFill>
                <a:latin typeface="Segoe UI"/>
                <a:cs typeface="Tahoma"/>
              </a:rPr>
              <a:t>Beside every machine, a person.</a:t>
            </a:r>
          </a:p>
        </p:txBody>
      </p:sp>
      <p:sp>
        <p:nvSpPr>
          <p:cNvPr id="15" name="Rounded Rectangle 14"/>
          <p:cNvSpPr/>
          <p:nvPr/>
        </p:nvSpPr>
        <p:spPr>
          <a:xfrm>
            <a:off x="923544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JAN-L06 · S5</a:t>
            </a:r>
          </a:p>
          <a:p>
            <a:pPr algn="ctr"/>
            <a:r>
              <a:rPr sz="900" b="1" i="0">
                <a:solidFill>
                  <a:srgbClr val="5B6B63"/>
                </a:solidFill>
                <a:latin typeface="Segoe UI"/>
                <a:cs typeface="Tahoma"/>
              </a:rPr>
              <a:t>1080 × 1350</a:t>
            </a:r>
          </a:p>
        </p:txBody>
      </p:sp>
      <p:sp>
        <p:nvSpPr>
          <p:cNvPr id="17" name="TextBox 16"/>
          <p:cNvSpPr txBox="1"/>
          <p:nvPr/>
        </p:nvSpPr>
        <p:spPr>
          <a:xfrm>
            <a:off x="923544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cta</a:t>
            </a:r>
          </a:p>
          <a:p>
            <a:pPr rtl="1" algn="r"/>
            <a:r>
              <a:rPr sz="850" b="0" i="0">
                <a:solidFill>
                  <a:srgbClr val="5B6B63"/>
                </a:solidFill>
                <a:latin typeface="Segoe UI"/>
                <a:cs typeface="Tahoma"/>
              </a:rPr>
              <a:t>صناعة تُرى،</a:t>
            </a:r>
          </a:p>
          <a:p>
            <a:pPr algn="l"/>
            <a:r>
              <a:rPr sz="850" b="0" i="0">
                <a:solidFill>
                  <a:srgbClr val="5B6B63"/>
                </a:solidFill>
                <a:latin typeface="Segoe UI"/>
                <a:cs typeface="Tahoma"/>
              </a:rPr>
              <a:t>Visible capability. Measurable impact.</a:t>
            </a:r>
          </a:p>
        </p:txBody>
      </p:sp>
      <p:sp>
        <p:nvSpPr>
          <p:cNvPr id="18" name="Rounded Rectangle 17"/>
          <p:cNvSpPr/>
          <p:nvPr/>
        </p:nvSpPr>
        <p:spPr>
          <a:xfrm>
            <a:off x="457200" y="390906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0906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JAN-L06 · Wed 2027-01-20 · LinkedIn + X · Carousel</a:t>
            </a:r>
          </a:p>
        </p:txBody>
      </p:sp>
      <p:sp>
        <p:nvSpPr>
          <p:cNvPr id="20" name="TextBox 19"/>
          <p:cNvSpPr txBox="1"/>
          <p:nvPr/>
        </p:nvSpPr>
        <p:spPr>
          <a:xfrm>
            <a:off x="457200" y="436626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People and machines, side by side  ·  Meet the makers  ·  T2 Team landscape</a:t>
            </a:r>
          </a:p>
        </p:txBody>
      </p:sp>
      <p:sp>
        <p:nvSpPr>
          <p:cNvPr id="21" name="TextBox 20"/>
          <p:cNvSpPr txBox="1"/>
          <p:nvPr/>
        </p:nvSpPr>
        <p:spPr>
          <a:xfrm>
            <a:off x="457200" y="471373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The packaging hall team, women and men, standing together beside the line, relaxed and proud, a wide frame graded to the emerald palette with a teal-green tone in the upper third; the equipment sits behind them and no label is readable.</a:t>
            </a:r>
          </a:p>
        </p:txBody>
      </p:sp>
      <p:sp>
        <p:nvSpPr>
          <p:cNvPr id="22" name="TextBox 21"/>
          <p:cNvSpPr txBox="1"/>
          <p:nvPr/>
        </p:nvSpPr>
        <p:spPr>
          <a:xfrm>
            <a:off x="457200" y="535381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A013  Collective footage-20261001T081156Z-1-008/Collective footage/Camera/2/jaradi20260121_8608.MP4 | A012  Collective footage-20261001T081156Z-1-008/Collective footage/Camera/1/ALABBASY.8892.MP4 | A007  Collective footage-20261001T081156Z-1-008/Collective footage/Camera/1/ALABBASY.8838.MP4</a:t>
            </a:r>
          </a:p>
        </p:txBody>
      </p:sp>
      <p:sp>
        <p:nvSpPr>
          <p:cNvPr id="23" name="TextBox 22"/>
          <p:cNvSpPr txBox="1"/>
          <p:nvPr/>
        </p:nvSpPr>
        <p:spPr>
          <a:xfrm>
            <a:off x="457200" y="590245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خلف كل آلة في المصنع إنسان يعرفها. نشكر هذا الأسبوع فرق قاعة التغليف والغرفة النظيفة والمختبر. من تودّون أن نعرّفكم إليه؟</a:t>
            </a:r>
          </a:p>
          <a:p>
            <a:pPr algn="l"/>
            <a:r>
              <a:rPr sz="900" b="0" i="0">
                <a:solidFill>
                  <a:srgbClr val="142B22"/>
                </a:solidFill>
                <a:latin typeface="Segoe UI"/>
                <a:cs typeface="Tahoma"/>
              </a:rPr>
              <a:t>EN: Behind every machine in the plant there is a person who knows it. This week we thank the packaging hall, clean room and lab teams. Who would you like us to introduce?</a:t>
            </a:r>
          </a:p>
        </p:txBody>
      </p:sp>
      <p:sp>
        <p:nvSpPr>
          <p:cNvPr id="24" name="TextBox 23"/>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People and place only: no process, quality or technology statement; consent needed for A013, A012 and A007.</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JAN-S08</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JAN-S08 · Wed 2027-01-20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A validation run, up close  ·  Quality and trust  ·  T2 Team landscape</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تجربة تشغيل</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عن قرب</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A validation run, up close. · A trial run of the equipment, recorded step by step.</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a trial run, watched closely and written down. Full-bleed vertical close-up of the gloved hand and flask row (A009), emerald-teal grade, a thin mint rule and three small nodes labelled Run, Record, Review in the lower third. 250 px free at top, 340 px at bottom.</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A009  Collective footage-20261001T081156Z-1-008/Collective footage/Camera/1/ALABBASY.8842.MP4</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تجربة التشغيل: يُشغَّل الجهاز تجربةً، وتُسجَّل كل خطوةٍ فيها.</a:t>
            </a:r>
          </a:p>
          <a:p>
            <a:pPr algn="l"/>
            <a:r>
              <a:rPr sz="900" b="0" i="0">
                <a:solidFill>
                  <a:srgbClr val="142B22"/>
                </a:solidFill>
                <a:latin typeface="Segoe UI"/>
                <a:cs typeface="Tahoma"/>
              </a:rPr>
              <a:t>EN: A validation run: the equipment is run as a trial and each step is recorded.</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CLAIM FLAG: process description. FLAG, process description: describes what a validation run is. Descriptive only; no result, no outcome, no readable label in frame.</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JAN-F09 · S1</a:t>
            </a:r>
          </a:p>
          <a:p>
            <a:pPr algn="ctr"/>
            <a:r>
              <a:rPr sz="900" b="1" i="0">
                <a:solidFill>
                  <a:srgbClr val="5B6B63"/>
                </a:solidFill>
                <a:latin typeface="Segoe UI"/>
                <a:cs typeface="Tahoma"/>
              </a:rPr>
              <a:t>1080 × 1350</a:t>
            </a:r>
          </a:p>
        </p:txBody>
      </p:sp>
      <p:sp>
        <p:nvSpPr>
          <p:cNvPr id="5" name="TextBox 4"/>
          <p:cNvSpPr txBox="1"/>
          <p:nvPr/>
        </p:nvSpPr>
        <p:spPr>
          <a:xfrm>
            <a:off x="45720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نصف الابتكار</a:t>
            </a:r>
          </a:p>
          <a:p>
            <a:pPr algn="l"/>
            <a:r>
              <a:rPr sz="850" b="0" i="0">
                <a:solidFill>
                  <a:srgbClr val="5B6B63"/>
                </a:solidFill>
                <a:latin typeface="Segoe UI"/>
                <a:cs typeface="Tahoma"/>
              </a:rPr>
              <a:t>The unglamorous half of innovation.</a:t>
            </a:r>
          </a:p>
        </p:txBody>
      </p:sp>
      <p:sp>
        <p:nvSpPr>
          <p:cNvPr id="6" name="Rounded Rectangle 5"/>
          <p:cNvSpPr/>
          <p:nvPr/>
        </p:nvSpPr>
        <p:spPr>
          <a:xfrm>
            <a:off x="265176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JAN-F09 · S2</a:t>
            </a:r>
          </a:p>
          <a:p>
            <a:pPr algn="ctr"/>
            <a:r>
              <a:rPr sz="900" b="1" i="0">
                <a:solidFill>
                  <a:srgbClr val="5B6B63"/>
                </a:solidFill>
                <a:latin typeface="Segoe UI"/>
                <a:cs typeface="Tahoma"/>
              </a:rPr>
              <a:t>1080 × 1350</a:t>
            </a:r>
          </a:p>
        </p:txBody>
      </p:sp>
      <p:sp>
        <p:nvSpPr>
          <p:cNvPr id="8" name="TextBox 7"/>
          <p:cNvSpPr txBox="1"/>
          <p:nvPr/>
        </p:nvSpPr>
        <p:spPr>
          <a:xfrm>
            <a:off x="265176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step</a:t>
            </a:r>
          </a:p>
          <a:p>
            <a:pPr rtl="1" algn="r"/>
            <a:r>
              <a:rPr sz="850" b="0" i="0">
                <a:solidFill>
                  <a:srgbClr val="5B6B63"/>
                </a:solidFill>
                <a:latin typeface="Segoe UI"/>
                <a:cs typeface="Tahoma"/>
              </a:rPr>
              <a:t>أولًا: يُركَّب</a:t>
            </a:r>
          </a:p>
          <a:p>
            <a:pPr algn="l"/>
            <a:r>
              <a:rPr sz="850" b="0" i="0">
                <a:solidFill>
                  <a:srgbClr val="5B6B63"/>
                </a:solidFill>
                <a:latin typeface="Segoe UI"/>
                <a:cs typeface="Tahoma"/>
              </a:rPr>
              <a:t>Installed, then tried out.</a:t>
            </a:r>
          </a:p>
        </p:txBody>
      </p:sp>
      <p:sp>
        <p:nvSpPr>
          <p:cNvPr id="9" name="Rounded Rectangle 8"/>
          <p:cNvSpPr/>
          <p:nvPr/>
        </p:nvSpPr>
        <p:spPr>
          <a:xfrm>
            <a:off x="484632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JAN-F09 · S3</a:t>
            </a:r>
          </a:p>
          <a:p>
            <a:pPr algn="ctr"/>
            <a:r>
              <a:rPr sz="900" b="1" i="0">
                <a:solidFill>
                  <a:srgbClr val="5B6B63"/>
                </a:solidFill>
                <a:latin typeface="Segoe UI"/>
                <a:cs typeface="Tahoma"/>
              </a:rPr>
              <a:t>1080 × 1350</a:t>
            </a:r>
          </a:p>
        </p:txBody>
      </p:sp>
      <p:sp>
        <p:nvSpPr>
          <p:cNvPr id="11" name="TextBox 10"/>
          <p:cNvSpPr txBox="1"/>
          <p:nvPr/>
        </p:nvSpPr>
        <p:spPr>
          <a:xfrm>
            <a:off x="484632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step</a:t>
            </a:r>
          </a:p>
          <a:p>
            <a:pPr rtl="1" algn="r"/>
            <a:r>
              <a:rPr sz="850" b="0" i="0">
                <a:solidFill>
                  <a:srgbClr val="5B6B63"/>
                </a:solidFill>
                <a:latin typeface="Segoe UI"/>
                <a:cs typeface="Tahoma"/>
              </a:rPr>
              <a:t>ثم يُكتب</a:t>
            </a:r>
          </a:p>
          <a:p>
            <a:pPr algn="l"/>
            <a:r>
              <a:rPr sz="850" b="0" i="0">
                <a:solidFill>
                  <a:srgbClr val="5B6B63"/>
                </a:solidFill>
                <a:latin typeface="Segoe UI"/>
                <a:cs typeface="Tahoma"/>
              </a:rPr>
              <a:t>Then written down.</a:t>
            </a:r>
          </a:p>
        </p:txBody>
      </p:sp>
      <p:sp>
        <p:nvSpPr>
          <p:cNvPr id="12" name="Rounded Rectangle 11"/>
          <p:cNvSpPr/>
          <p:nvPr/>
        </p:nvSpPr>
        <p:spPr>
          <a:xfrm>
            <a:off x="7040879"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79"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JAN-F09 · S4</a:t>
            </a:r>
          </a:p>
          <a:p>
            <a:pPr algn="ctr"/>
            <a:r>
              <a:rPr sz="900" b="1" i="0">
                <a:solidFill>
                  <a:srgbClr val="5B6B63"/>
                </a:solidFill>
                <a:latin typeface="Segoe UI"/>
                <a:cs typeface="Tahoma"/>
              </a:rPr>
              <a:t>1080 × 1350</a:t>
            </a:r>
          </a:p>
        </p:txBody>
      </p:sp>
      <p:sp>
        <p:nvSpPr>
          <p:cNvPr id="14" name="TextBox 13"/>
          <p:cNvSpPr txBox="1"/>
          <p:nvPr/>
        </p:nvSpPr>
        <p:spPr>
          <a:xfrm>
            <a:off x="7040879"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step</a:t>
            </a:r>
          </a:p>
          <a:p>
            <a:pPr rtl="1" algn="r"/>
            <a:r>
              <a:rPr sz="850" b="0" i="0">
                <a:solidFill>
                  <a:srgbClr val="5B6B63"/>
                </a:solidFill>
                <a:latin typeface="Segoe UI"/>
                <a:cs typeface="Tahoma"/>
              </a:rPr>
              <a:t>ثم يُصان</a:t>
            </a:r>
          </a:p>
          <a:p>
            <a:pPr algn="l"/>
            <a:r>
              <a:rPr sz="850" b="0" i="0">
                <a:solidFill>
                  <a:srgbClr val="5B6B63"/>
                </a:solidFill>
                <a:latin typeface="Segoe UI"/>
                <a:cs typeface="Tahoma"/>
              </a:rPr>
              <a:t>Then looked after.</a:t>
            </a:r>
          </a:p>
        </p:txBody>
      </p:sp>
      <p:sp>
        <p:nvSpPr>
          <p:cNvPr id="15" name="Rounded Rectangle 14"/>
          <p:cNvSpPr/>
          <p:nvPr/>
        </p:nvSpPr>
        <p:spPr>
          <a:xfrm>
            <a:off x="923544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JAN-F09 · S5</a:t>
            </a:r>
          </a:p>
          <a:p>
            <a:pPr algn="ctr"/>
            <a:r>
              <a:rPr sz="900" b="1" i="0">
                <a:solidFill>
                  <a:srgbClr val="5B6B63"/>
                </a:solidFill>
                <a:latin typeface="Segoe UI"/>
                <a:cs typeface="Tahoma"/>
              </a:rPr>
              <a:t>1080 × 1350</a:t>
            </a:r>
          </a:p>
        </p:txBody>
      </p:sp>
      <p:sp>
        <p:nvSpPr>
          <p:cNvPr id="17" name="TextBox 16"/>
          <p:cNvSpPr txBox="1"/>
          <p:nvPr/>
        </p:nvSpPr>
        <p:spPr>
          <a:xfrm>
            <a:off x="923544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cta</a:t>
            </a:r>
          </a:p>
          <a:p>
            <a:pPr rtl="1" algn="r"/>
            <a:r>
              <a:rPr sz="850" b="0" i="0">
                <a:solidFill>
                  <a:srgbClr val="5B6B63"/>
                </a:solidFill>
                <a:latin typeface="Segoe UI"/>
                <a:cs typeface="Tahoma"/>
              </a:rPr>
              <a:t>صناعة تُرى،</a:t>
            </a:r>
          </a:p>
          <a:p>
            <a:pPr algn="l"/>
            <a:r>
              <a:rPr sz="850" b="0" i="0">
                <a:solidFill>
                  <a:srgbClr val="5B6B63"/>
                </a:solidFill>
                <a:latin typeface="Segoe UI"/>
                <a:cs typeface="Tahoma"/>
              </a:rPr>
              <a:t>Visible capability. Measurable impact.</a:t>
            </a:r>
          </a:p>
        </p:txBody>
      </p:sp>
      <p:sp>
        <p:nvSpPr>
          <p:cNvPr id="18" name="Rounded Rectangle 17"/>
          <p:cNvSpPr/>
          <p:nvPr/>
        </p:nvSpPr>
        <p:spPr>
          <a:xfrm>
            <a:off x="457200" y="390906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0906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JAN-F09 · Thu 2027-01-21 · Instagram + Facebook · Carousel</a:t>
            </a:r>
          </a:p>
        </p:txBody>
      </p:sp>
      <p:sp>
        <p:nvSpPr>
          <p:cNvPr id="20" name="TextBox 19"/>
          <p:cNvSpPr txBox="1"/>
          <p:nvPr/>
        </p:nvSpPr>
        <p:spPr>
          <a:xfrm>
            <a:off x="457200" y="436626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The unglamorous half of innovation  ·  Quality and trust  ·  T4 Card explainer</a:t>
            </a:r>
          </a:p>
        </p:txBody>
      </p:sp>
      <p:sp>
        <p:nvSpPr>
          <p:cNvPr id="21" name="TextBox 20"/>
          <p:cNvSpPr txBox="1"/>
          <p:nvPr/>
        </p:nvSpPr>
        <p:spPr>
          <a:xfrm>
            <a:off x="457200" y="471373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innovation is half machine and half routine care. Cover: a rounded cream card with a lime edge and a friendly 3D character in green clothing holding a spanner beside a glass-and-metal machine part, on an emerald gradient with faint lattice. Card layout: title top, character right, one-line label left. Logo area top-left clear.</a:t>
            </a:r>
          </a:p>
        </p:txBody>
      </p:sp>
      <p:sp>
        <p:nvSpPr>
          <p:cNvPr id="22" name="TextBox 21"/>
          <p:cNvSpPr txBox="1"/>
          <p:nvPr/>
        </p:nvSpPr>
        <p:spPr>
          <a:xfrm>
            <a:off x="457200" y="535381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A009  Collective footage-20261001T081156Z-1-008/Collective footage/Camera/1/ALABBASY.8842.MP4 | A003  Collective footage-20261001T081156Z-1-008/Collective footage/DJI_20260121103516_0070_D.MOV | A008  Collective footage-20261001T081156Z-1-008/Collective footage/Camera/1/ALABBASY.8839.MP4 | A007  Col</a:t>
            </a:r>
          </a:p>
        </p:txBody>
      </p:sp>
      <p:sp>
        <p:nvSpPr>
          <p:cNvPr id="23" name="TextBox 22"/>
          <p:cNvSpPr txBox="1"/>
          <p:nvPr/>
        </p:nvSpPr>
        <p:spPr>
          <a:xfrm>
            <a:off x="457200" y="590245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الابتكار ليس جهازًا جديدًا فقط: هو تركيبٌ، ثم تجربة، ثم تسجيل، ثم صيانةٌ دورية. النصف الذي لا يلمع هو الذي يبقي العمل مستمرًّا. مرّروا لترى كل مرحلة.</a:t>
            </a:r>
          </a:p>
          <a:p>
            <a:pPr algn="l"/>
            <a:r>
              <a:rPr sz="900" b="0" i="0">
                <a:solidFill>
                  <a:srgbClr val="142B22"/>
                </a:solidFill>
                <a:latin typeface="Segoe UI"/>
                <a:cs typeface="Tahoma"/>
              </a:rPr>
              <a:t>EN: Innovation is not only a new machine: it is installing, trying out, recording and then regular upkeep. The half that does not shine is the half that keeps the work going. Swipe to see each stage.</a:t>
            </a:r>
          </a:p>
        </p:txBody>
      </p:sp>
      <p:sp>
        <p:nvSpPr>
          <p:cNvPr id="24" name="TextBox 23"/>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CLAIM FLAG: technology description. FLAG, technology description: describes how new equipment is installed, tried out, recorded and maintained. Descriptive only; no capability or outcome wording; no brand or model. Consent for the analy</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JAN-S09</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JAN-S09 · Thu 2027-01-21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Question box  ·  Local manufacturing  ·  T8 Type card</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اسألونا</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عن التقنية</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Ask us. · What would you like to know about technology in a plant?</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an open invitation to ask. Deep emerald type card with the headline, thin mint rule and an empty rounded box area where the question sticker will sit; hairline frame. No photograph.</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Generated only</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ماذا تودّون أن تعرفوا عن التقنية في المصانع؟</a:t>
            </a:r>
          </a:p>
          <a:p>
            <a:pPr algn="l"/>
            <a:r>
              <a:rPr sz="900" b="0" i="0">
                <a:solidFill>
                  <a:srgbClr val="142B22"/>
                </a:solidFill>
                <a:latin typeface="Segoe UI"/>
                <a:cs typeface="Tahoma"/>
              </a:rPr>
              <a:t>EN: What would you like to know about technology in a plant?</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Invitation only. Moderate replies: answer only within already approved descriptions; no products, indications or medical advice; redirect to the official channel.</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493776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493776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JAN-F10</a:t>
            </a:r>
          </a:p>
          <a:p>
            <a:pPr algn="ctr"/>
            <a:r>
              <a:rPr sz="900" b="1" i="0">
                <a:solidFill>
                  <a:srgbClr val="5B6B63"/>
                </a:solidFill>
                <a:latin typeface="Segoe UI"/>
                <a:cs typeface="Tahoma"/>
              </a:rPr>
              <a:t>1080 × 1350 px (4:5)</a:t>
            </a:r>
          </a:p>
        </p:txBody>
      </p:sp>
      <p:sp>
        <p:nvSpPr>
          <p:cNvPr id="5" name="Rounded Rectangle 4"/>
          <p:cNvSpPr/>
          <p:nvPr/>
        </p:nvSpPr>
        <p:spPr>
          <a:xfrm>
            <a:off x="5669280" y="457200"/>
            <a:ext cx="603504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0" y="457200"/>
            <a:ext cx="585215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JAN-F10 · Sun 2027-01-24 · Instagram + Facebook · Still</a:t>
            </a:r>
          </a:p>
        </p:txBody>
      </p:sp>
      <p:sp>
        <p:nvSpPr>
          <p:cNvPr id="7" name="TextBox 6"/>
          <p:cNvSpPr txBox="1"/>
          <p:nvPr/>
        </p:nvSpPr>
        <p:spPr>
          <a:xfrm>
            <a:off x="5669280" y="914400"/>
            <a:ext cx="603504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Quality control: how a batch is checked and released  ·  Quality and trust  ·  T8 Type card</a:t>
            </a:r>
          </a:p>
        </p:txBody>
      </p:sp>
      <p:sp>
        <p:nvSpPr>
          <p:cNvPr id="8" name="TextBox 7"/>
          <p:cNvSpPr txBox="1"/>
          <p:nvPr/>
        </p:nvSpPr>
        <p:spPr>
          <a:xfrm>
            <a:off x="5669280" y="1261872"/>
            <a:ext cx="6035040"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تُفحص التشغيلة</a:t>
            </a:r>
          </a:p>
        </p:txBody>
      </p:sp>
      <p:sp>
        <p:nvSpPr>
          <p:cNvPr id="9" name="TextBox 8"/>
          <p:cNvSpPr txBox="1"/>
          <p:nvPr/>
        </p:nvSpPr>
        <p:spPr>
          <a:xfrm>
            <a:off x="5669280" y="1673351"/>
            <a:ext cx="6035040"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ثم تُفرج على سجلّها</a:t>
            </a:r>
          </a:p>
        </p:txBody>
      </p:sp>
      <p:sp>
        <p:nvSpPr>
          <p:cNvPr id="10" name="TextBox 9"/>
          <p:cNvSpPr txBox="1"/>
          <p:nvPr/>
        </p:nvSpPr>
        <p:spPr>
          <a:xfrm>
            <a:off x="5669280" y="2020824"/>
            <a:ext cx="6035040"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Checked. Then released. · Each batch is checked by the quality team and released on its reviewed record.</a:t>
            </a:r>
          </a:p>
        </p:txBody>
      </p:sp>
      <p:sp>
        <p:nvSpPr>
          <p:cNvPr id="11" name="TextBox 10"/>
          <p:cNvSpPr txBox="1"/>
          <p:nvPr/>
        </p:nvSpPr>
        <p:spPr>
          <a:xfrm>
            <a:off x="5669280" y="2478024"/>
            <a:ext cx="603504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a batch is checked, then released on its record. Type card on a deep emerald gradient, centred two-level Arabic headline with kashida on one word, thin mint rule, one small white line icon of a check mark in a circle at 60 px, hairline inset frame 24 px from the edge; the English statement as a small uppercase line below. No photograph.</a:t>
            </a:r>
          </a:p>
        </p:txBody>
      </p:sp>
      <p:sp>
        <p:nvSpPr>
          <p:cNvPr id="12" name="TextBox 11"/>
          <p:cNvSpPr txBox="1"/>
          <p:nvPr/>
        </p:nvSpPr>
        <p:spPr>
          <a:xfrm>
            <a:off x="5669280" y="3255264"/>
            <a:ext cx="603504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Generated only</a:t>
            </a:r>
          </a:p>
        </p:txBody>
      </p:sp>
      <p:sp>
        <p:nvSpPr>
          <p:cNvPr id="13" name="TextBox 12"/>
          <p:cNvSpPr txBox="1"/>
          <p:nvPr/>
        </p:nvSpPr>
        <p:spPr>
          <a:xfrm>
            <a:off x="5669280" y="3803904"/>
            <a:ext cx="603504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قبل أن تنتقل أي تشغيلة، يفحصها فريق الجودة، وتُفرج بعد مراجعة سجلّها. هكذا يبدو عمل الجودة من الخارج، بلا أسرار. ماذا تودّون أن تعرفوا أكثر عن هذا العمل؟</a:t>
            </a:r>
          </a:p>
          <a:p>
            <a:pPr algn="l"/>
            <a:r>
              <a:rPr sz="900" b="0" i="0">
                <a:solidFill>
                  <a:srgbClr val="142B22"/>
                </a:solidFill>
                <a:latin typeface="Segoe UI"/>
                <a:cs typeface="Tahoma"/>
              </a:rPr>
              <a:t>EN: Before a batch moves on, the quality team checks it, and it is released after its record is reviewed. This is what the work of quality looks like from the outside, no secrets. What more would you like to know about it?</a:t>
            </a:r>
          </a:p>
        </p:txBody>
      </p:sp>
      <p:sp>
        <p:nvSpPr>
          <p:cNvPr id="14" name="TextBox 13"/>
          <p:cNvSpPr txBox="1"/>
          <p:nvPr/>
        </p:nvSpPr>
        <p:spPr>
          <a:xfrm>
            <a:off x="5669280" y="6400800"/>
            <a:ext cx="603504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CLAIM FLAG: quality statement. FLAG, quality statement: states that each batch is checked by the quality team and released on its reviewed record. Descriptive only; no 'safe', 'guaranteed', 'meets the standard' or outcome wording.</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1515291" cy="1894114"/>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38497"/>
            <a:ext cx="1515291"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JAN-L07 · S1</a:t>
            </a:r>
          </a:p>
          <a:p>
            <a:pPr algn="ctr"/>
            <a:r>
              <a:rPr sz="900" b="1" i="0">
                <a:solidFill>
                  <a:srgbClr val="5B6B63"/>
                </a:solidFill>
                <a:latin typeface="Segoe UI"/>
                <a:cs typeface="Tahoma"/>
              </a:rPr>
              <a:t>1080 × 1350</a:t>
            </a:r>
          </a:p>
        </p:txBody>
      </p:sp>
      <p:sp>
        <p:nvSpPr>
          <p:cNvPr id="5" name="TextBox 4"/>
          <p:cNvSpPr txBox="1"/>
          <p:nvPr/>
        </p:nvSpPr>
        <p:spPr>
          <a:xfrm>
            <a:off x="457200" y="2333026"/>
            <a:ext cx="1515291"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الخطوات السبع</a:t>
            </a:r>
          </a:p>
          <a:p>
            <a:pPr algn="l"/>
            <a:r>
              <a:rPr sz="850" b="0" i="0">
                <a:solidFill>
                  <a:srgbClr val="5B6B63"/>
                </a:solidFill>
                <a:latin typeface="Segoe UI"/>
                <a:cs typeface="Tahoma"/>
              </a:rPr>
              <a:t>The seven steps, in full.</a:t>
            </a:r>
          </a:p>
        </p:txBody>
      </p:sp>
      <p:sp>
        <p:nvSpPr>
          <p:cNvPr id="6" name="Rounded Rectangle 5"/>
          <p:cNvSpPr/>
          <p:nvPr/>
        </p:nvSpPr>
        <p:spPr>
          <a:xfrm>
            <a:off x="2063931" y="411480"/>
            <a:ext cx="1515291" cy="1894114"/>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63931" y="1038497"/>
            <a:ext cx="1515291"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JAN-L07 · S2</a:t>
            </a:r>
          </a:p>
          <a:p>
            <a:pPr algn="ctr"/>
            <a:r>
              <a:rPr sz="900" b="1" i="0">
                <a:solidFill>
                  <a:srgbClr val="5B6B63"/>
                </a:solidFill>
                <a:latin typeface="Segoe UI"/>
                <a:cs typeface="Tahoma"/>
              </a:rPr>
              <a:t>1080 × 1350</a:t>
            </a:r>
          </a:p>
        </p:txBody>
      </p:sp>
      <p:sp>
        <p:nvSpPr>
          <p:cNvPr id="8" name="TextBox 7"/>
          <p:cNvSpPr txBox="1"/>
          <p:nvPr/>
        </p:nvSpPr>
        <p:spPr>
          <a:xfrm>
            <a:off x="2063931" y="2333026"/>
            <a:ext cx="1515291"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step</a:t>
            </a:r>
          </a:p>
          <a:p>
            <a:pPr rtl="1" algn="r"/>
            <a:r>
              <a:rPr sz="850" b="0" i="0">
                <a:solidFill>
                  <a:srgbClr val="5B6B63"/>
                </a:solidFill>
                <a:latin typeface="Segoe UI"/>
                <a:cs typeface="Tahoma"/>
              </a:rPr>
              <a:t>الاستلام والوزن</a:t>
            </a:r>
          </a:p>
          <a:p>
            <a:pPr algn="l"/>
            <a:r>
              <a:rPr sz="850" b="0" i="0">
                <a:solidFill>
                  <a:srgbClr val="5B6B63"/>
                </a:solidFill>
                <a:latin typeface="Segoe UI"/>
                <a:cs typeface="Tahoma"/>
              </a:rPr>
              <a:t>Steps 1 and 2: Receive and weigh.</a:t>
            </a:r>
          </a:p>
        </p:txBody>
      </p:sp>
      <p:sp>
        <p:nvSpPr>
          <p:cNvPr id="9" name="Rounded Rectangle 8"/>
          <p:cNvSpPr/>
          <p:nvPr/>
        </p:nvSpPr>
        <p:spPr>
          <a:xfrm>
            <a:off x="3670662" y="411480"/>
            <a:ext cx="1515291" cy="1894114"/>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662" y="1038497"/>
            <a:ext cx="1515291"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JAN-L07 · S3</a:t>
            </a:r>
          </a:p>
          <a:p>
            <a:pPr algn="ctr"/>
            <a:r>
              <a:rPr sz="900" b="1" i="0">
                <a:solidFill>
                  <a:srgbClr val="5B6B63"/>
                </a:solidFill>
                <a:latin typeface="Segoe UI"/>
                <a:cs typeface="Tahoma"/>
              </a:rPr>
              <a:t>1080 × 1350</a:t>
            </a:r>
          </a:p>
        </p:txBody>
      </p:sp>
      <p:sp>
        <p:nvSpPr>
          <p:cNvPr id="11" name="TextBox 10"/>
          <p:cNvSpPr txBox="1"/>
          <p:nvPr/>
        </p:nvSpPr>
        <p:spPr>
          <a:xfrm>
            <a:off x="3670662" y="2333026"/>
            <a:ext cx="1515291"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step</a:t>
            </a:r>
          </a:p>
          <a:p>
            <a:pPr rtl="1" algn="r"/>
            <a:r>
              <a:rPr sz="850" b="0" i="0">
                <a:solidFill>
                  <a:srgbClr val="5B6B63"/>
                </a:solidFill>
                <a:latin typeface="Segoe UI"/>
                <a:cs typeface="Tahoma"/>
              </a:rPr>
              <a:t>التحضير والتعبئة</a:t>
            </a:r>
          </a:p>
          <a:p>
            <a:pPr algn="l"/>
            <a:r>
              <a:rPr sz="850" b="0" i="0">
                <a:solidFill>
                  <a:srgbClr val="5B6B63"/>
                </a:solidFill>
                <a:latin typeface="Segoe UI"/>
                <a:cs typeface="Tahoma"/>
              </a:rPr>
              <a:t>Steps 3 and 4: Prepare and fill.</a:t>
            </a:r>
          </a:p>
        </p:txBody>
      </p:sp>
      <p:sp>
        <p:nvSpPr>
          <p:cNvPr id="12" name="Rounded Rectangle 11"/>
          <p:cNvSpPr/>
          <p:nvPr/>
        </p:nvSpPr>
        <p:spPr>
          <a:xfrm>
            <a:off x="5277394" y="411480"/>
            <a:ext cx="1515291" cy="1894114"/>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77394" y="1038497"/>
            <a:ext cx="1515291"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JAN-L07 · S4</a:t>
            </a:r>
          </a:p>
          <a:p>
            <a:pPr algn="ctr"/>
            <a:r>
              <a:rPr sz="900" b="1" i="0">
                <a:solidFill>
                  <a:srgbClr val="5B6B63"/>
                </a:solidFill>
                <a:latin typeface="Segoe UI"/>
                <a:cs typeface="Tahoma"/>
              </a:rPr>
              <a:t>1080 × 1350</a:t>
            </a:r>
          </a:p>
        </p:txBody>
      </p:sp>
      <p:sp>
        <p:nvSpPr>
          <p:cNvPr id="14" name="TextBox 13"/>
          <p:cNvSpPr txBox="1"/>
          <p:nvPr/>
        </p:nvSpPr>
        <p:spPr>
          <a:xfrm>
            <a:off x="5277394" y="2333026"/>
            <a:ext cx="1515291"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step</a:t>
            </a:r>
          </a:p>
          <a:p>
            <a:pPr rtl="1" algn="r"/>
            <a:r>
              <a:rPr sz="850" b="0" i="0">
                <a:solidFill>
                  <a:srgbClr val="5B6B63"/>
                </a:solidFill>
                <a:latin typeface="Segoe UI"/>
                <a:cs typeface="Tahoma"/>
              </a:rPr>
              <a:t>التغليف والإفراج</a:t>
            </a:r>
          </a:p>
          <a:p>
            <a:pPr algn="l"/>
            <a:r>
              <a:rPr sz="850" b="0" i="0">
                <a:solidFill>
                  <a:srgbClr val="5B6B63"/>
                </a:solidFill>
                <a:latin typeface="Segoe UI"/>
                <a:cs typeface="Tahoma"/>
              </a:rPr>
              <a:t>Steps 5 and 6: Pack and release.</a:t>
            </a:r>
          </a:p>
        </p:txBody>
      </p:sp>
      <p:sp>
        <p:nvSpPr>
          <p:cNvPr id="15" name="Rounded Rectangle 14"/>
          <p:cNvSpPr/>
          <p:nvPr/>
        </p:nvSpPr>
        <p:spPr>
          <a:xfrm>
            <a:off x="6884125" y="411480"/>
            <a:ext cx="1515291" cy="1894114"/>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84125" y="1038497"/>
            <a:ext cx="1515291"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JAN-L07 · S5</a:t>
            </a:r>
          </a:p>
          <a:p>
            <a:pPr algn="ctr"/>
            <a:r>
              <a:rPr sz="900" b="1" i="0">
                <a:solidFill>
                  <a:srgbClr val="5B6B63"/>
                </a:solidFill>
                <a:latin typeface="Segoe UI"/>
                <a:cs typeface="Tahoma"/>
              </a:rPr>
              <a:t>1080 × 1350</a:t>
            </a:r>
          </a:p>
        </p:txBody>
      </p:sp>
      <p:sp>
        <p:nvSpPr>
          <p:cNvPr id="17" name="TextBox 16"/>
          <p:cNvSpPr txBox="1"/>
          <p:nvPr/>
        </p:nvSpPr>
        <p:spPr>
          <a:xfrm>
            <a:off x="6884125" y="2333026"/>
            <a:ext cx="1515291"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step</a:t>
            </a:r>
          </a:p>
          <a:p>
            <a:pPr rtl="1" algn="r"/>
            <a:r>
              <a:rPr sz="850" b="0" i="0">
                <a:solidFill>
                  <a:srgbClr val="5B6B63"/>
                </a:solidFill>
                <a:latin typeface="Segoe UI"/>
                <a:cs typeface="Tahoma"/>
              </a:rPr>
              <a:t>الخطوة السابعة</a:t>
            </a:r>
          </a:p>
          <a:p>
            <a:pPr algn="l"/>
            <a:r>
              <a:rPr sz="850" b="0" i="0">
                <a:solidFill>
                  <a:srgbClr val="5B6B63"/>
                </a:solidFill>
                <a:latin typeface="Segoe UI"/>
                <a:cs typeface="Tahoma"/>
              </a:rPr>
              <a:t>Step 7: Ship.</a:t>
            </a:r>
          </a:p>
        </p:txBody>
      </p:sp>
      <p:sp>
        <p:nvSpPr>
          <p:cNvPr id="18" name="Rounded Rectangle 17"/>
          <p:cNvSpPr/>
          <p:nvPr/>
        </p:nvSpPr>
        <p:spPr>
          <a:xfrm>
            <a:off x="8490857" y="411480"/>
            <a:ext cx="1515291" cy="1894114"/>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90857" y="1038497"/>
            <a:ext cx="1515291"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JAN-L07 · S6</a:t>
            </a:r>
          </a:p>
          <a:p>
            <a:pPr algn="ctr"/>
            <a:r>
              <a:rPr sz="900" b="1" i="0">
                <a:solidFill>
                  <a:srgbClr val="5B6B63"/>
                </a:solidFill>
                <a:latin typeface="Segoe UI"/>
                <a:cs typeface="Tahoma"/>
              </a:rPr>
              <a:t>1080 × 1350</a:t>
            </a:r>
          </a:p>
        </p:txBody>
      </p:sp>
      <p:sp>
        <p:nvSpPr>
          <p:cNvPr id="20" name="TextBox 19"/>
          <p:cNvSpPr txBox="1"/>
          <p:nvPr/>
        </p:nvSpPr>
        <p:spPr>
          <a:xfrm>
            <a:off x="8490857" y="2333026"/>
            <a:ext cx="1515291"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6. idea</a:t>
            </a:r>
          </a:p>
          <a:p>
            <a:pPr rtl="1" algn="r"/>
            <a:r>
              <a:rPr sz="850" b="0" i="0">
                <a:solidFill>
                  <a:srgbClr val="5B6B63"/>
                </a:solidFill>
                <a:latin typeface="Segoe UI"/>
                <a:cs typeface="Tahoma"/>
              </a:rPr>
              <a:t>سبع خطوات</a:t>
            </a:r>
          </a:p>
          <a:p>
            <a:pPr algn="l"/>
            <a:r>
              <a:rPr sz="850" b="0" i="0">
                <a:solidFill>
                  <a:srgbClr val="5B6B63"/>
                </a:solidFill>
                <a:latin typeface="Segoe UI"/>
                <a:cs typeface="Tahoma"/>
              </a:rPr>
              <a:t>Seven steps, many hands.</a:t>
            </a:r>
          </a:p>
        </p:txBody>
      </p:sp>
      <p:sp>
        <p:nvSpPr>
          <p:cNvPr id="21" name="Rounded Rectangle 20"/>
          <p:cNvSpPr/>
          <p:nvPr/>
        </p:nvSpPr>
        <p:spPr>
          <a:xfrm>
            <a:off x="10097588" y="411480"/>
            <a:ext cx="1515291" cy="1894114"/>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97588" y="1038497"/>
            <a:ext cx="1515291"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JAN-L07 · S7</a:t>
            </a:r>
          </a:p>
          <a:p>
            <a:pPr algn="ctr"/>
            <a:r>
              <a:rPr sz="900" b="1" i="0">
                <a:solidFill>
                  <a:srgbClr val="5B6B63"/>
                </a:solidFill>
                <a:latin typeface="Segoe UI"/>
                <a:cs typeface="Tahoma"/>
              </a:rPr>
              <a:t>1080 × 1350</a:t>
            </a:r>
          </a:p>
        </p:txBody>
      </p:sp>
      <p:sp>
        <p:nvSpPr>
          <p:cNvPr id="23" name="TextBox 22"/>
          <p:cNvSpPr txBox="1"/>
          <p:nvPr/>
        </p:nvSpPr>
        <p:spPr>
          <a:xfrm>
            <a:off x="10097588" y="2333026"/>
            <a:ext cx="1515291"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7. cta</a:t>
            </a:r>
          </a:p>
          <a:p>
            <a:pPr rtl="1" algn="r"/>
            <a:r>
              <a:rPr sz="850" b="0" i="0">
                <a:solidFill>
                  <a:srgbClr val="5B6B63"/>
                </a:solidFill>
                <a:latin typeface="Segoe UI"/>
                <a:cs typeface="Tahoma"/>
              </a:rPr>
              <a:t>صناعة تُرى،</a:t>
            </a:r>
          </a:p>
          <a:p>
            <a:pPr algn="l"/>
            <a:r>
              <a:rPr sz="850" b="0" i="0">
                <a:solidFill>
                  <a:srgbClr val="5B6B63"/>
                </a:solidFill>
                <a:latin typeface="Segoe UI"/>
                <a:cs typeface="Tahoma"/>
              </a:rPr>
              <a:t>Visible capability. Measurable impact.</a:t>
            </a:r>
          </a:p>
        </p:txBody>
      </p:sp>
      <p:sp>
        <p:nvSpPr>
          <p:cNvPr id="24" name="Rounded Rectangle 23"/>
          <p:cNvSpPr/>
          <p:nvPr/>
        </p:nvSpPr>
        <p:spPr>
          <a:xfrm>
            <a:off x="457200" y="3174274"/>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174274"/>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JAN-L07 · Mon 2027-01-25 · LinkedIn + X · Carousel</a:t>
            </a:r>
          </a:p>
        </p:txBody>
      </p:sp>
      <p:sp>
        <p:nvSpPr>
          <p:cNvPr id="26" name="TextBox 25"/>
          <p:cNvSpPr txBox="1"/>
          <p:nvPr/>
        </p:nvSpPr>
        <p:spPr>
          <a:xfrm>
            <a:off x="457200" y="3631474"/>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Seven steps, no secrets: the full line  ·  How it is made  ·  T9 Process flow</a:t>
            </a:r>
          </a:p>
        </p:txBody>
      </p:sp>
      <p:sp>
        <p:nvSpPr>
          <p:cNvPr id="27" name="TextBox 26"/>
          <p:cNvSpPr txBox="1"/>
          <p:nvPr/>
        </p:nvSpPr>
        <p:spPr>
          <a:xfrm>
            <a:off x="457200" y="3978946"/>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A vertical flow of seven rounded step cards numbered 1 to 7 joined by a thin mint line with small glowing nodes, each with a two-word label (Receive, Weigh, Prepare, Fill, Pack, Release, Ship) and a small real photo crop: flasks, clean-room corridor, isolator, packaging hall, the site from the air. Emerald background, faint lattice.</a:t>
            </a:r>
          </a:p>
        </p:txBody>
      </p:sp>
      <p:sp>
        <p:nvSpPr>
          <p:cNvPr id="28" name="TextBox 27"/>
          <p:cNvSpPr txBox="1"/>
          <p:nvPr/>
        </p:nvSpPr>
        <p:spPr>
          <a:xfrm>
            <a:off x="457200" y="4619026"/>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A002  Collective footage-20261001T081156Z-1-008/Collective footage/DJI_20260121084636_0010_D.MOV | A009  Collective footage-20261001T081156Z-1-008/Collective footage/Camera/1/ALABBASY.8842.MP4 | A003  Collective footage-20261001T081156Z-1-008/Collective footage/DJI_20260121103516_0070_D.MOV | A011  </a:t>
            </a:r>
          </a:p>
        </p:txBody>
      </p:sp>
      <p:sp>
        <p:nvSpPr>
          <p:cNvPr id="29" name="TextBox 28"/>
          <p:cNvSpPr txBox="1"/>
          <p:nvPr/>
        </p:nvSpPr>
        <p:spPr>
          <a:xfrm>
            <a:off x="457200" y="5167666"/>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سبع خطوات، من وصول المواد إلى خروج الدفعة: الاستلام، الوزن، التحضير، التعبئة، التغليف، الإفراج، الشحن. هذا هو الخط كاملًا، وخلف كل خطوة فريق. أي خطوة تودّون أن نتوسّع فيها؟</a:t>
            </a:r>
          </a:p>
          <a:p>
            <a:pPr algn="l"/>
            <a:r>
              <a:rPr sz="900" b="0" i="0">
                <a:solidFill>
                  <a:srgbClr val="142B22"/>
                </a:solidFill>
                <a:latin typeface="Segoe UI"/>
                <a:cs typeface="Tahoma"/>
              </a:rPr>
              <a:t>EN: Seven steps, from materials arriving to the batch leaving: receive, weigh, prepare, fill, pack, release, ship. That is the full line, and behind every step there is a team. Which step would you like us to look at more closely?</a:t>
            </a:r>
          </a:p>
        </p:txBody>
      </p:sp>
      <p:sp>
        <p:nvSpPr>
          <p:cNvPr id="30" name="TextBox 29"/>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CLAIM FLAG: process description. FLAG: describes the full seven-step line in plain words; no efficacy, safety, statistic, comparison, product or vendor; consent needed for A011, A013 and A005.</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JAN-S10</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JAN-S10 · Mon 2027-01-25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Week in review  ·  Year and community  ·  T9 Process flow</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حصاد الأسبوع</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بالصور</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Week in review. · A look back at the line, in pictures.</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the week in four pictures. Vertical stack of four rounded photo crops joined by a thin mint line with small nodes: the site (A001), the corridor (A003), the bench (A007), the packaging hall (A013); emerald background, lattice at 6%. 250 px free at top, 340 px at bottom.</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A001  Collective footage-20261001T081156Z-1-008/Collective footage/DJI_20260121084222_0001_D.MOV | A003  Collective footage-20261001T081156Z-1-008/Collective footage/DJI_20260121103516_0070_D.MOV | A007  Collective footage-20261001T081156Z-1-008/Collective footage/Camera/1/ALABBASY.8838.MP4 | A013  </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حصاد الأسبوع بالصور: لمحةٌ إلى الوراء على الخط.</a:t>
            </a:r>
          </a:p>
          <a:p>
            <a:pPr algn="l"/>
            <a:r>
              <a:rPr sz="900" b="0" i="0">
                <a:solidFill>
                  <a:srgbClr val="142B22"/>
                </a:solidFill>
                <a:latin typeface="Segoe UI"/>
                <a:cs typeface="Tahoma"/>
              </a:rPr>
              <a:t>EN: Week in review: a look back at the line, in pictures.</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Looking back only: pictures of place and people at work; no claim, number or advice. Consent for staff in A007 and A013.</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493776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493776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JAN-F11</a:t>
            </a:r>
          </a:p>
          <a:p>
            <a:pPr algn="ctr"/>
            <a:r>
              <a:rPr sz="900" b="1" i="0">
                <a:solidFill>
                  <a:srgbClr val="5B6B63"/>
                </a:solidFill>
                <a:latin typeface="Segoe UI"/>
                <a:cs typeface="Tahoma"/>
              </a:rPr>
              <a:t>1080 × 1350 px (4:5)</a:t>
            </a:r>
          </a:p>
        </p:txBody>
      </p:sp>
      <p:sp>
        <p:nvSpPr>
          <p:cNvPr id="5" name="Rounded Rectangle 4"/>
          <p:cNvSpPr/>
          <p:nvPr/>
        </p:nvSpPr>
        <p:spPr>
          <a:xfrm>
            <a:off x="5669280" y="457200"/>
            <a:ext cx="603504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0" y="457200"/>
            <a:ext cx="585215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JAN-F11 · Tue 2027-01-26 · Instagram + Facebook · Still</a:t>
            </a:r>
          </a:p>
        </p:txBody>
      </p:sp>
      <p:sp>
        <p:nvSpPr>
          <p:cNvPr id="7" name="TextBox 6"/>
          <p:cNvSpPr txBox="1"/>
          <p:nvPr/>
        </p:nvSpPr>
        <p:spPr>
          <a:xfrm>
            <a:off x="5669280" y="914400"/>
            <a:ext cx="603504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Meet the quality team  ·  People and careers  ·  T2 Team landscape</a:t>
            </a:r>
          </a:p>
        </p:txBody>
      </p:sp>
      <p:sp>
        <p:nvSpPr>
          <p:cNvPr id="8" name="TextBox 7"/>
          <p:cNvSpPr txBox="1"/>
          <p:nvPr/>
        </p:nvSpPr>
        <p:spPr>
          <a:xfrm>
            <a:off x="5669280" y="1261872"/>
            <a:ext cx="6035040"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فريق الجودة</a:t>
            </a:r>
          </a:p>
        </p:txBody>
      </p:sp>
      <p:sp>
        <p:nvSpPr>
          <p:cNvPr id="9" name="TextBox 8"/>
          <p:cNvSpPr txBox="1"/>
          <p:nvPr/>
        </p:nvSpPr>
        <p:spPr>
          <a:xfrm>
            <a:off x="5669280" y="1673351"/>
            <a:ext cx="6035040"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تعرّفوا عليه</a:t>
            </a:r>
          </a:p>
        </p:txBody>
      </p:sp>
      <p:sp>
        <p:nvSpPr>
          <p:cNvPr id="10" name="TextBox 9"/>
          <p:cNvSpPr txBox="1"/>
          <p:nvPr/>
        </p:nvSpPr>
        <p:spPr>
          <a:xfrm>
            <a:off x="5669280" y="2020824"/>
            <a:ext cx="6035040"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Meet the quality team. · The people at the bench, in the lab and behind the desk.</a:t>
            </a:r>
          </a:p>
        </p:txBody>
      </p:sp>
      <p:sp>
        <p:nvSpPr>
          <p:cNvPr id="11" name="TextBox 10"/>
          <p:cNvSpPr txBox="1"/>
          <p:nvPr/>
        </p:nvSpPr>
        <p:spPr>
          <a:xfrm>
            <a:off x="5669280" y="2478024"/>
            <a:ext cx="603504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the quality team, as people. Wide documentary photograph of the lab team standing together in the laboratory (A005), natural faces and relaxed posture, teal-green window light graded to the Sudair emerald palette; horizon of the bench at 60% of the frame. Headline top, credit line bottom. Logo area top-left clear.</a:t>
            </a:r>
          </a:p>
        </p:txBody>
      </p:sp>
      <p:sp>
        <p:nvSpPr>
          <p:cNvPr id="12" name="TextBox 11"/>
          <p:cNvSpPr txBox="1"/>
          <p:nvPr/>
        </p:nvSpPr>
        <p:spPr>
          <a:xfrm>
            <a:off x="5669280" y="3255264"/>
            <a:ext cx="603504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A005  Collective footage-20261001T081156Z-1-008/Collective footage/Camera/1/ALABBASY.8829.MP4</a:t>
            </a:r>
          </a:p>
        </p:txBody>
      </p:sp>
      <p:sp>
        <p:nvSpPr>
          <p:cNvPr id="13" name="TextBox 12"/>
          <p:cNvSpPr txBox="1"/>
          <p:nvPr/>
        </p:nvSpPr>
        <p:spPr>
          <a:xfrm>
            <a:off x="5669280" y="3803904"/>
            <a:ext cx="603504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هؤلاء هم فريق الجودة في سدير: زميلاتٌ وزملاء يبدؤون يومهم في المختبر وخلف المكاتب. خلف كل عملٍ في المصنع وجوهٌ تستحق أن تُعرف. ماذا تودّون أن تسألوا الفريق؟</a:t>
            </a:r>
          </a:p>
          <a:p>
            <a:pPr algn="l"/>
            <a:r>
              <a:rPr sz="900" b="0" i="0">
                <a:solidFill>
                  <a:srgbClr val="142B22"/>
                </a:solidFill>
                <a:latin typeface="Segoe UI"/>
                <a:cs typeface="Tahoma"/>
              </a:rPr>
              <a:t>EN: This is the quality team at Sudair: colleagues who start their day in the lab and behind the desk. Behind every job in the plant are faces worth knowing. What would you like to ask the team?</a:t>
            </a:r>
          </a:p>
        </p:txBody>
      </p:sp>
      <p:sp>
        <p:nvSpPr>
          <p:cNvPr id="14" name="TextBox 13"/>
          <p:cNvSpPr txBox="1"/>
          <p:nvPr/>
        </p:nvSpPr>
        <p:spPr>
          <a:xfrm>
            <a:off x="5669280" y="6400800"/>
            <a:ext cx="603504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People only: no assertion about what the team's work ensures or guarantees; confirm that the people in A005 belong to the quality team, and that each has given written consent, before captioning.</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JAN-L08 · S1</a:t>
            </a:r>
          </a:p>
          <a:p>
            <a:pPr algn="ctr"/>
            <a:r>
              <a:rPr sz="900" b="1" i="0">
                <a:solidFill>
                  <a:srgbClr val="5B6B63"/>
                </a:solidFill>
                <a:latin typeface="Segoe UI"/>
                <a:cs typeface="Tahoma"/>
              </a:rPr>
              <a:t>1080 × 1350</a:t>
            </a:r>
          </a:p>
        </p:txBody>
      </p:sp>
      <p:sp>
        <p:nvSpPr>
          <p:cNvPr id="5" name="TextBox 4"/>
          <p:cNvSpPr txBox="1"/>
          <p:nvPr/>
        </p:nvSpPr>
        <p:spPr>
          <a:xfrm>
            <a:off x="45720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المصنع يقوم على الناس</a:t>
            </a:r>
          </a:p>
          <a:p>
            <a:pPr algn="l"/>
            <a:r>
              <a:rPr sz="850" b="0" i="0">
                <a:solidFill>
                  <a:srgbClr val="5B6B63"/>
                </a:solidFill>
                <a:latin typeface="Segoe UI"/>
                <a:cs typeface="Tahoma"/>
              </a:rPr>
              <a:t>A plant runs on people.</a:t>
            </a:r>
          </a:p>
        </p:txBody>
      </p:sp>
      <p:sp>
        <p:nvSpPr>
          <p:cNvPr id="6" name="Rounded Rectangle 5"/>
          <p:cNvSpPr/>
          <p:nvPr/>
        </p:nvSpPr>
        <p:spPr>
          <a:xfrm>
            <a:off x="265176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JAN-L08 · S2</a:t>
            </a:r>
          </a:p>
          <a:p>
            <a:pPr algn="ctr"/>
            <a:r>
              <a:rPr sz="900" b="1" i="0">
                <a:solidFill>
                  <a:srgbClr val="5B6B63"/>
                </a:solidFill>
                <a:latin typeface="Segoe UI"/>
                <a:cs typeface="Tahoma"/>
              </a:rPr>
              <a:t>1080 × 1350</a:t>
            </a:r>
          </a:p>
        </p:txBody>
      </p:sp>
      <p:sp>
        <p:nvSpPr>
          <p:cNvPr id="8" name="TextBox 7"/>
          <p:cNvSpPr txBox="1"/>
          <p:nvPr/>
        </p:nvSpPr>
        <p:spPr>
          <a:xfrm>
            <a:off x="265176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في قاعة التغليف</a:t>
            </a:r>
          </a:p>
          <a:p>
            <a:pPr algn="l"/>
            <a:r>
              <a:rPr sz="850" b="0" i="0">
                <a:solidFill>
                  <a:srgbClr val="5B6B63"/>
                </a:solidFill>
                <a:latin typeface="Segoe UI"/>
                <a:cs typeface="Tahoma"/>
              </a:rPr>
              <a:t>In the packaging hall</a:t>
            </a:r>
          </a:p>
        </p:txBody>
      </p:sp>
      <p:sp>
        <p:nvSpPr>
          <p:cNvPr id="9" name="Rounded Rectangle 8"/>
          <p:cNvSpPr/>
          <p:nvPr/>
        </p:nvSpPr>
        <p:spPr>
          <a:xfrm>
            <a:off x="484632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JAN-L08 · S3</a:t>
            </a:r>
          </a:p>
          <a:p>
            <a:pPr algn="ctr"/>
            <a:r>
              <a:rPr sz="900" b="1" i="0">
                <a:solidFill>
                  <a:srgbClr val="5B6B63"/>
                </a:solidFill>
                <a:latin typeface="Segoe UI"/>
                <a:cs typeface="Tahoma"/>
              </a:rPr>
              <a:t>1080 × 1350</a:t>
            </a:r>
          </a:p>
        </p:txBody>
      </p:sp>
      <p:sp>
        <p:nvSpPr>
          <p:cNvPr id="11" name="TextBox 10"/>
          <p:cNvSpPr txBox="1"/>
          <p:nvPr/>
        </p:nvSpPr>
        <p:spPr>
          <a:xfrm>
            <a:off x="484632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idea</a:t>
            </a:r>
          </a:p>
          <a:p>
            <a:pPr rtl="1" algn="r"/>
            <a:r>
              <a:rPr sz="850" b="0" i="0">
                <a:solidFill>
                  <a:srgbClr val="5B6B63"/>
                </a:solidFill>
                <a:latin typeface="Segoe UI"/>
                <a:cs typeface="Tahoma"/>
              </a:rPr>
              <a:t>في المختبر</a:t>
            </a:r>
          </a:p>
          <a:p>
            <a:pPr algn="l"/>
            <a:r>
              <a:rPr sz="850" b="0" i="0">
                <a:solidFill>
                  <a:srgbClr val="5B6B63"/>
                </a:solidFill>
                <a:latin typeface="Segoe UI"/>
                <a:cs typeface="Tahoma"/>
              </a:rPr>
              <a:t>In the lab</a:t>
            </a:r>
          </a:p>
        </p:txBody>
      </p:sp>
      <p:sp>
        <p:nvSpPr>
          <p:cNvPr id="12" name="Rounded Rectangle 11"/>
          <p:cNvSpPr/>
          <p:nvPr/>
        </p:nvSpPr>
        <p:spPr>
          <a:xfrm>
            <a:off x="7040879"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79"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JAN-L08 · S4</a:t>
            </a:r>
          </a:p>
          <a:p>
            <a:pPr algn="ctr"/>
            <a:r>
              <a:rPr sz="900" b="1" i="0">
                <a:solidFill>
                  <a:srgbClr val="5B6B63"/>
                </a:solidFill>
                <a:latin typeface="Segoe UI"/>
                <a:cs typeface="Tahoma"/>
              </a:rPr>
              <a:t>1080 × 1350</a:t>
            </a:r>
          </a:p>
        </p:txBody>
      </p:sp>
      <p:sp>
        <p:nvSpPr>
          <p:cNvPr id="14" name="TextBox 13"/>
          <p:cNvSpPr txBox="1"/>
          <p:nvPr/>
        </p:nvSpPr>
        <p:spPr>
          <a:xfrm>
            <a:off x="7040879"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idea</a:t>
            </a:r>
          </a:p>
          <a:p>
            <a:pPr rtl="1" algn="r"/>
            <a:r>
              <a:rPr sz="850" b="0" i="0">
                <a:solidFill>
                  <a:srgbClr val="5B6B63"/>
                </a:solidFill>
                <a:latin typeface="Segoe UI"/>
                <a:cs typeface="Tahoma"/>
              </a:rPr>
              <a:t>وخلف المشهد</a:t>
            </a:r>
          </a:p>
          <a:p>
            <a:pPr algn="l"/>
            <a:r>
              <a:rPr sz="850" b="0" i="0">
                <a:solidFill>
                  <a:srgbClr val="5B6B63"/>
                </a:solidFill>
                <a:latin typeface="Segoe UI"/>
                <a:cs typeface="Tahoma"/>
              </a:rPr>
              <a:t>And behind the scenes</a:t>
            </a:r>
          </a:p>
        </p:txBody>
      </p:sp>
      <p:sp>
        <p:nvSpPr>
          <p:cNvPr id="15" name="Rounded Rectangle 14"/>
          <p:cNvSpPr/>
          <p:nvPr/>
        </p:nvSpPr>
        <p:spPr>
          <a:xfrm>
            <a:off x="923544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JAN-L08 · S5</a:t>
            </a:r>
          </a:p>
          <a:p>
            <a:pPr algn="ctr"/>
            <a:r>
              <a:rPr sz="900" b="1" i="0">
                <a:solidFill>
                  <a:srgbClr val="5B6B63"/>
                </a:solidFill>
                <a:latin typeface="Segoe UI"/>
                <a:cs typeface="Tahoma"/>
              </a:rPr>
              <a:t>1080 × 1350</a:t>
            </a:r>
          </a:p>
        </p:txBody>
      </p:sp>
      <p:sp>
        <p:nvSpPr>
          <p:cNvPr id="17" name="TextBox 16"/>
          <p:cNvSpPr txBox="1"/>
          <p:nvPr/>
        </p:nvSpPr>
        <p:spPr>
          <a:xfrm>
            <a:off x="923544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cta</a:t>
            </a:r>
          </a:p>
          <a:p>
            <a:pPr rtl="1" algn="r"/>
            <a:r>
              <a:rPr sz="850" b="0" i="0">
                <a:solidFill>
                  <a:srgbClr val="5B6B63"/>
                </a:solidFill>
                <a:latin typeface="Segoe UI"/>
                <a:cs typeface="Tahoma"/>
              </a:rPr>
              <a:t>صناعة تُرى،</a:t>
            </a:r>
          </a:p>
          <a:p>
            <a:pPr algn="l"/>
            <a:r>
              <a:rPr sz="850" b="0" i="0">
                <a:solidFill>
                  <a:srgbClr val="5B6B63"/>
                </a:solidFill>
                <a:latin typeface="Segoe UI"/>
                <a:cs typeface="Tahoma"/>
              </a:rPr>
              <a:t>Visible capability. Measurable impact.</a:t>
            </a:r>
          </a:p>
        </p:txBody>
      </p:sp>
      <p:sp>
        <p:nvSpPr>
          <p:cNvPr id="18" name="Rounded Rectangle 17"/>
          <p:cNvSpPr/>
          <p:nvPr/>
        </p:nvSpPr>
        <p:spPr>
          <a:xfrm>
            <a:off x="457200" y="390906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0906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JAN-L08 · Wed 2027-01-27 · LinkedIn + X · Carousel</a:t>
            </a:r>
          </a:p>
        </p:txBody>
      </p:sp>
      <p:sp>
        <p:nvSpPr>
          <p:cNvPr id="20" name="TextBox 19"/>
          <p:cNvSpPr txBox="1"/>
          <p:nvPr/>
        </p:nvSpPr>
        <p:spPr>
          <a:xfrm>
            <a:off x="457200" y="436626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Careers in manufacturing  ·  People and careers  ·  T7 People hero</a:t>
            </a:r>
          </a:p>
        </p:txBody>
      </p:sp>
      <p:sp>
        <p:nvSpPr>
          <p:cNvPr id="21" name="TextBox 20"/>
          <p:cNvSpPr txBox="1"/>
          <p:nvPr/>
        </p:nvSpPr>
        <p:spPr>
          <a:xfrm>
            <a:off x="457200" y="471373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A generated Saudi woman in a deep green hijab and abaya beside a Saudi man in a white thobe and red-white shemagh, calm and proud, looking up and to the right under a teal night sky; below them the real drone photograph of the Sudair City site fills the lower third. Never captioned as staff.</a:t>
            </a:r>
          </a:p>
        </p:txBody>
      </p:sp>
      <p:sp>
        <p:nvSpPr>
          <p:cNvPr id="22" name="TextBox 21"/>
          <p:cNvSpPr txBox="1"/>
          <p:nvPr/>
        </p:nvSpPr>
        <p:spPr>
          <a:xfrm>
            <a:off x="457200" y="535381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A002  Collective footage-20261001T081156Z-1-008/Collective footage/DJI_20260121084636_0010_D.MOV | A013  Collective footage-20261001T081156Z-1-008/Collective footage/Camera/2/jaradi20260121_8608.MP4 | A007  Collective footage-20261001T081156Z-1-008/Collective footage/Camera/1/ALABBASY.8838.MP4</a:t>
            </a:r>
          </a:p>
        </p:txBody>
      </p:sp>
      <p:sp>
        <p:nvSpPr>
          <p:cNvPr id="23" name="TextBox 22"/>
          <p:cNvSpPr txBox="1"/>
          <p:nvPr/>
        </p:nvSpPr>
        <p:spPr>
          <a:xfrm>
            <a:off x="457200" y="590245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في المصنع مهن كثيرة، من قاعة التغليف إلى المختبر، ومن الصيانة إلى الإدارة. وفريق واحد يجمعها. تابعوا هذه الصفحة لأخبار المهن في سدير للأدوية.</a:t>
            </a:r>
          </a:p>
          <a:p>
            <a:pPr algn="l"/>
            <a:r>
              <a:rPr sz="900" b="0" i="0">
                <a:solidFill>
                  <a:srgbClr val="142B22"/>
                </a:solidFill>
                <a:latin typeface="Segoe UI"/>
                <a:cs typeface="Tahoma"/>
              </a:rPr>
              <a:t>EN: A plant has many careers, from the packaging hall to the lab, from maintenance to administration. One team brings them together. Follow this page for career news from Sudair Pharma.</a:t>
            </a:r>
          </a:p>
        </p:txBody>
      </p:sp>
      <p:sp>
        <p:nvSpPr>
          <p:cNvPr id="24" name="TextBox 23"/>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Careers and culture only: no process, quality, technology or number; generated people not captioned as staff; consent needed for A013 and A007.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JAN-S11</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JAN-S11 · Wed 2027-01-27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Meet the team  ·  People and careers  ·  T2 Team landscape</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تعرّفوا</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على الفريق</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Meet the team. · The lab team, at their bench.</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the lab team, as people. Full-bleed vertical crop of the lab team standing in the laboratory (A005), natural faces, teal-green grade, the lower third darkened for the headline. 250 px free at top, 340 px at bottom.</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A005  Collective footage-20261001T081156Z-1-008/Collective footage/Camera/1/ALABBASY.8829.MP4</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تعرّفوا على فريق المختبر، زميلاتنا وزملاؤنا خلف المقاعد.</a:t>
            </a:r>
          </a:p>
          <a:p>
            <a:pPr algn="l"/>
            <a:r>
              <a:rPr sz="900" b="0" i="0">
                <a:solidFill>
                  <a:srgbClr val="142B22"/>
                </a:solidFill>
                <a:latin typeface="Segoe UI"/>
                <a:cs typeface="Tahoma"/>
              </a:rPr>
              <a:t>EN: Meet the lab team, our colleagues behind the benches.</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People only: no statement about what the team's work ensures. Written consent for staff in A005.</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JAN-F12 · S1</a:t>
            </a:r>
          </a:p>
          <a:p>
            <a:pPr algn="ctr"/>
            <a:r>
              <a:rPr sz="900" b="1" i="0">
                <a:solidFill>
                  <a:srgbClr val="5B6B63"/>
                </a:solidFill>
                <a:latin typeface="Segoe UI"/>
                <a:cs typeface="Tahoma"/>
              </a:rPr>
              <a:t>1080 × 1350</a:t>
            </a:r>
          </a:p>
        </p:txBody>
      </p:sp>
      <p:sp>
        <p:nvSpPr>
          <p:cNvPr id="5" name="TextBox 4"/>
          <p:cNvSpPr txBox="1"/>
          <p:nvPr/>
        </p:nvSpPr>
        <p:spPr>
          <a:xfrm>
            <a:off x="45720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1. hook</a:t>
            </a:r>
          </a:p>
          <a:p>
            <a:pPr rtl="1" algn="r"/>
            <a:r>
              <a:rPr sz="850" b="0" i="0">
                <a:solidFill>
                  <a:srgbClr val="5B6B63"/>
                </a:solidFill>
                <a:latin typeface="Segoe UI"/>
                <a:cs typeface="Tahoma"/>
              </a:rPr>
              <a:t>أسبوعٌ</a:t>
            </a:r>
          </a:p>
          <a:p>
            <a:pPr algn="l"/>
            <a:r>
              <a:rPr sz="850" b="0" i="0">
                <a:solidFill>
                  <a:srgbClr val="5B6B63"/>
                </a:solidFill>
                <a:latin typeface="Segoe UI"/>
                <a:cs typeface="Tahoma"/>
              </a:rPr>
              <a:t>A week in the plant.</a:t>
            </a:r>
          </a:p>
        </p:txBody>
      </p:sp>
      <p:sp>
        <p:nvSpPr>
          <p:cNvPr id="6" name="Rounded Rectangle 5"/>
          <p:cNvSpPr/>
          <p:nvPr/>
        </p:nvSpPr>
        <p:spPr>
          <a:xfrm>
            <a:off x="265176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JAN-F12 · S2</a:t>
            </a:r>
          </a:p>
          <a:p>
            <a:pPr algn="ctr"/>
            <a:r>
              <a:rPr sz="900" b="1" i="0">
                <a:solidFill>
                  <a:srgbClr val="5B6B63"/>
                </a:solidFill>
                <a:latin typeface="Segoe UI"/>
                <a:cs typeface="Tahoma"/>
              </a:rPr>
              <a:t>1080 × 1350</a:t>
            </a:r>
          </a:p>
        </p:txBody>
      </p:sp>
      <p:sp>
        <p:nvSpPr>
          <p:cNvPr id="8" name="TextBox 7"/>
          <p:cNvSpPr txBox="1"/>
          <p:nvPr/>
        </p:nvSpPr>
        <p:spPr>
          <a:xfrm>
            <a:off x="265176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2. idea</a:t>
            </a:r>
          </a:p>
          <a:p>
            <a:pPr rtl="1" algn="r"/>
            <a:r>
              <a:rPr sz="850" b="0" i="0">
                <a:solidFill>
                  <a:srgbClr val="5B6B63"/>
                </a:solidFill>
                <a:latin typeface="Segoe UI"/>
                <a:cs typeface="Tahoma"/>
              </a:rPr>
              <a:t>الأحد</a:t>
            </a:r>
          </a:p>
          <a:p>
            <a:pPr algn="l"/>
            <a:r>
              <a:rPr sz="850" b="0" i="0">
                <a:solidFill>
                  <a:srgbClr val="5B6B63"/>
                </a:solidFill>
                <a:latin typeface="Segoe UI"/>
                <a:cs typeface="Tahoma"/>
              </a:rPr>
              <a:t>Sunday: the week begins.</a:t>
            </a:r>
          </a:p>
        </p:txBody>
      </p:sp>
      <p:sp>
        <p:nvSpPr>
          <p:cNvPr id="9" name="Rounded Rectangle 8"/>
          <p:cNvSpPr/>
          <p:nvPr/>
        </p:nvSpPr>
        <p:spPr>
          <a:xfrm>
            <a:off x="484632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JAN-F12 · S3</a:t>
            </a:r>
          </a:p>
          <a:p>
            <a:pPr algn="ctr"/>
            <a:r>
              <a:rPr sz="900" b="1" i="0">
                <a:solidFill>
                  <a:srgbClr val="5B6B63"/>
                </a:solidFill>
                <a:latin typeface="Segoe UI"/>
                <a:cs typeface="Tahoma"/>
              </a:rPr>
              <a:t>1080 × 1350</a:t>
            </a:r>
          </a:p>
        </p:txBody>
      </p:sp>
      <p:sp>
        <p:nvSpPr>
          <p:cNvPr id="11" name="TextBox 10"/>
          <p:cNvSpPr txBox="1"/>
          <p:nvPr/>
        </p:nvSpPr>
        <p:spPr>
          <a:xfrm>
            <a:off x="484632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3. idea</a:t>
            </a:r>
          </a:p>
          <a:p>
            <a:pPr rtl="1" algn="r"/>
            <a:r>
              <a:rPr sz="850" b="0" i="0">
                <a:solidFill>
                  <a:srgbClr val="5B6B63"/>
                </a:solidFill>
                <a:latin typeface="Segoe UI"/>
                <a:cs typeface="Tahoma"/>
              </a:rPr>
              <a:t>الثلاثاء</a:t>
            </a:r>
          </a:p>
          <a:p>
            <a:pPr algn="l"/>
            <a:r>
              <a:rPr sz="850" b="0" i="0">
                <a:solidFill>
                  <a:srgbClr val="5B6B63"/>
                </a:solidFill>
                <a:latin typeface="Segoe UI"/>
                <a:cs typeface="Tahoma"/>
              </a:rPr>
              <a:t>Tuesday: at the bench.</a:t>
            </a:r>
          </a:p>
        </p:txBody>
      </p:sp>
      <p:sp>
        <p:nvSpPr>
          <p:cNvPr id="12" name="Rounded Rectangle 11"/>
          <p:cNvSpPr/>
          <p:nvPr/>
        </p:nvSpPr>
        <p:spPr>
          <a:xfrm>
            <a:off x="7040879"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79"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JAN-F12 · S4</a:t>
            </a:r>
          </a:p>
          <a:p>
            <a:pPr algn="ctr"/>
            <a:r>
              <a:rPr sz="900" b="1" i="0">
                <a:solidFill>
                  <a:srgbClr val="5B6B63"/>
                </a:solidFill>
                <a:latin typeface="Segoe UI"/>
                <a:cs typeface="Tahoma"/>
              </a:rPr>
              <a:t>1080 × 1350</a:t>
            </a:r>
          </a:p>
        </p:txBody>
      </p:sp>
      <p:sp>
        <p:nvSpPr>
          <p:cNvPr id="14" name="TextBox 13"/>
          <p:cNvSpPr txBox="1"/>
          <p:nvPr/>
        </p:nvSpPr>
        <p:spPr>
          <a:xfrm>
            <a:off x="7040879"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4. idea</a:t>
            </a:r>
          </a:p>
          <a:p>
            <a:pPr rtl="1" algn="r"/>
            <a:r>
              <a:rPr sz="850" b="0" i="0">
                <a:solidFill>
                  <a:srgbClr val="5B6B63"/>
                </a:solidFill>
                <a:latin typeface="Segoe UI"/>
                <a:cs typeface="Tahoma"/>
              </a:rPr>
              <a:t>الخميس</a:t>
            </a:r>
          </a:p>
          <a:p>
            <a:pPr algn="l"/>
            <a:r>
              <a:rPr sz="850" b="0" i="0">
                <a:solidFill>
                  <a:srgbClr val="5B6B63"/>
                </a:solidFill>
                <a:latin typeface="Segoe UI"/>
                <a:cs typeface="Tahoma"/>
              </a:rPr>
              <a:t>Thursday: one rhythm.</a:t>
            </a:r>
          </a:p>
        </p:txBody>
      </p:sp>
      <p:sp>
        <p:nvSpPr>
          <p:cNvPr id="15" name="Rounded Rectangle 14"/>
          <p:cNvSpPr/>
          <p:nvPr/>
        </p:nvSpPr>
        <p:spPr>
          <a:xfrm>
            <a:off x="9235440" y="411480"/>
            <a:ext cx="2103120" cy="26289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405890"/>
            <a:ext cx="21031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JAN-F12 · S5</a:t>
            </a:r>
          </a:p>
          <a:p>
            <a:pPr algn="ctr"/>
            <a:r>
              <a:rPr sz="900" b="1" i="0">
                <a:solidFill>
                  <a:srgbClr val="5B6B63"/>
                </a:solidFill>
                <a:latin typeface="Segoe UI"/>
                <a:cs typeface="Tahoma"/>
              </a:rPr>
              <a:t>1080 × 1350</a:t>
            </a:r>
          </a:p>
        </p:txBody>
      </p:sp>
      <p:sp>
        <p:nvSpPr>
          <p:cNvPr id="17" name="TextBox 16"/>
          <p:cNvSpPr txBox="1"/>
          <p:nvPr/>
        </p:nvSpPr>
        <p:spPr>
          <a:xfrm>
            <a:off x="9235440" y="3067812"/>
            <a:ext cx="2103120" cy="73152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5. cta</a:t>
            </a:r>
          </a:p>
          <a:p>
            <a:pPr rtl="1" algn="r"/>
            <a:r>
              <a:rPr sz="850" b="0" i="0">
                <a:solidFill>
                  <a:srgbClr val="5B6B63"/>
                </a:solidFill>
                <a:latin typeface="Segoe UI"/>
                <a:cs typeface="Tahoma"/>
              </a:rPr>
              <a:t>شكرًا لكل يدٍ</a:t>
            </a:r>
          </a:p>
          <a:p>
            <a:pPr algn="l"/>
            <a:r>
              <a:rPr sz="850" b="0" i="0">
                <a:solidFill>
                  <a:srgbClr val="5B6B63"/>
                </a:solidFill>
                <a:latin typeface="Segoe UI"/>
                <a:cs typeface="Tahoma"/>
              </a:rPr>
              <a:t>Visible capability. Measurable impact.</a:t>
            </a:r>
          </a:p>
        </p:txBody>
      </p:sp>
      <p:sp>
        <p:nvSpPr>
          <p:cNvPr id="18" name="Rounded Rectangle 17"/>
          <p:cNvSpPr/>
          <p:nvPr/>
        </p:nvSpPr>
        <p:spPr>
          <a:xfrm>
            <a:off x="457200" y="3909060"/>
            <a:ext cx="11247120"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09060"/>
            <a:ext cx="11064240"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JAN-F12 · Thu 2027-01-28 · Instagram + Facebook · Carousel</a:t>
            </a:r>
          </a:p>
        </p:txBody>
      </p:sp>
      <p:sp>
        <p:nvSpPr>
          <p:cNvPr id="20" name="TextBox 19"/>
          <p:cNvSpPr txBox="1"/>
          <p:nvPr/>
        </p:nvSpPr>
        <p:spPr>
          <a:xfrm>
            <a:off x="457200" y="4366260"/>
            <a:ext cx="11247120"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A week in the plant  ·  Meet the makers  ·  T9 Process flow</a:t>
            </a:r>
          </a:p>
        </p:txBody>
      </p:sp>
      <p:sp>
        <p:nvSpPr>
          <p:cNvPr id="21" name="TextBox 20"/>
          <p:cNvSpPr txBox="1"/>
          <p:nvPr/>
        </p:nvSpPr>
        <p:spPr>
          <a:xfrm>
            <a:off x="457200" y="4713732"/>
            <a:ext cx="11247120"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a working week, day by day. Cover: a horizontal flow of five day-nodes (Sunday to Thursday) joined by a thin mint line, each node with a small real crop (the site A001, the corridor A003, the bench A007, the packaging hall A013) on emerald with lattice at 6%. Logo area top-left clear.</a:t>
            </a:r>
          </a:p>
        </p:txBody>
      </p:sp>
      <p:sp>
        <p:nvSpPr>
          <p:cNvPr id="22" name="TextBox 21"/>
          <p:cNvSpPr txBox="1"/>
          <p:nvPr/>
        </p:nvSpPr>
        <p:spPr>
          <a:xfrm>
            <a:off x="457200" y="5353812"/>
            <a:ext cx="11247120"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A001  Collective footage-20261001T081156Z-1-008/Collective footage/DJI_20260121084222_0001_D.MOV | A003  Collective footage-20261001T081156Z-1-008/Collective footage/DJI_20260121103516_0070_D.MOV | A007  Collective footage-20261001T081156Z-1-008/Collective footage/Camera/1/ALABBASY.8838.MP4 | A013  </a:t>
            </a:r>
          </a:p>
        </p:txBody>
      </p:sp>
      <p:sp>
        <p:nvSpPr>
          <p:cNvPr id="23" name="TextBox 22"/>
          <p:cNvSpPr txBox="1"/>
          <p:nvPr/>
        </p:nvSpPr>
        <p:spPr>
          <a:xfrm>
            <a:off x="457200" y="5902452"/>
            <a:ext cx="11247120"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أسبوعٌ كامل في المصنع، من الأحد إلى الخميس، بلقطاتٍ من أيامه. شكرًا لكل يدٍ عملت هذا الأسبوع. مرّروا لتروه، وقولوا لنا أي لقطةٍ أعجبتكم.</a:t>
            </a:r>
          </a:p>
          <a:p>
            <a:pPr algn="l"/>
            <a:r>
              <a:rPr sz="900" b="0" i="0">
                <a:solidFill>
                  <a:srgbClr val="142B22"/>
                </a:solidFill>
                <a:latin typeface="Segoe UI"/>
                <a:cs typeface="Tahoma"/>
              </a:rPr>
              <a:t>EN: A full working week in the plant, Sunday to Thursday, in shots from its days. Thank you to every hand that worked this week. Swipe to see it, and tell us which shot you liked.</a:t>
            </a:r>
          </a:p>
        </p:txBody>
      </p:sp>
      <p:sp>
        <p:nvSpPr>
          <p:cNvPr id="24" name="TextBox 23"/>
          <p:cNvSpPr txBox="1"/>
          <p:nvPr/>
        </p:nvSpPr>
        <p:spPr>
          <a:xfrm>
            <a:off x="457200" y="6400800"/>
            <a:ext cx="11247120"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CONSENT NEEDED  ·  People at work and place only: no health, quality, process or number statement; no product, pack or readable label. Consent for staff in A007 and A013.</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9A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11480"/>
            <a:ext cx="3474720" cy="6172200"/>
          </a:xfrm>
          <a:prstGeom prst="roundRect">
            <a:avLst>
              <a:gd name="adj" fmla="val 3000"/>
            </a:avLst>
          </a:prstGeom>
          <a:solidFill>
            <a:srgbClr val="E6F2EA"/>
          </a:solidFill>
          <a:ln w="15875">
            <a:solidFill>
              <a:srgbClr val="C9D8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177540"/>
            <a:ext cx="3474720" cy="640080"/>
          </a:xfrm>
          <a:prstGeom prst="rect">
            <a:avLst/>
          </a:prstGeom>
          <a:noFill/>
        </p:spPr>
        <p:txBody>
          <a:bodyPr wrap="square" lIns="36576" rIns="36576" tIns="18288" bIns="18288" anchor="ctr">
            <a:spAutoFit/>
          </a:bodyPr>
          <a:lstStyle/>
          <a:p>
            <a:pPr algn="ctr"/>
            <a:r>
              <a:rPr sz="900" b="1" i="0">
                <a:solidFill>
                  <a:srgbClr val="5B6B63"/>
                </a:solidFill>
                <a:latin typeface="Segoe UI"/>
                <a:cs typeface="Tahoma"/>
              </a:rPr>
              <a:t>IMAGE · JAN-S12</a:t>
            </a:r>
          </a:p>
          <a:p>
            <a:pPr algn="ctr"/>
            <a:r>
              <a:rPr sz="900" b="1" i="0">
                <a:solidFill>
                  <a:srgbClr val="5B6B63"/>
                </a:solidFill>
                <a:latin typeface="Segoe UI"/>
                <a:cs typeface="Tahoma"/>
              </a:rPr>
              <a:t>1080 × 1920 px (9:16)</a:t>
            </a:r>
          </a:p>
        </p:txBody>
      </p:sp>
      <p:sp>
        <p:nvSpPr>
          <p:cNvPr id="5" name="Rounded Rectangle 4"/>
          <p:cNvSpPr/>
          <p:nvPr/>
        </p:nvSpPr>
        <p:spPr>
          <a:xfrm>
            <a:off x="4206240" y="457200"/>
            <a:ext cx="7498079" cy="347472"/>
          </a:xfrm>
          <a:prstGeom prst="roundRect">
            <a:avLst>
              <a:gd name="adj" fmla="val 30000"/>
            </a:avLst>
          </a:prstGeom>
          <a:solidFill>
            <a:srgbClr val="0B4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79" y="457200"/>
            <a:ext cx="7315199" cy="347472"/>
          </a:xfrm>
          <a:prstGeom prst="rect">
            <a:avLst/>
          </a:prstGeom>
          <a:noFill/>
        </p:spPr>
        <p:txBody>
          <a:bodyPr wrap="square" lIns="36576" rIns="36576" tIns="18288" bIns="18288" anchor="ctr">
            <a:spAutoFit/>
          </a:bodyPr>
          <a:lstStyle/>
          <a:p>
            <a:pPr algn="l"/>
            <a:r>
              <a:rPr sz="1100" b="1" i="0">
                <a:solidFill>
                  <a:srgbClr val="FFFFFF"/>
                </a:solidFill>
                <a:latin typeface="Segoe UI"/>
                <a:cs typeface="Tahoma"/>
              </a:rPr>
              <a:t>JAN-S12 · Thu 2027-01-28 · Instagram + Facebook · Story</a:t>
            </a:r>
          </a:p>
        </p:txBody>
      </p:sp>
      <p:sp>
        <p:nvSpPr>
          <p:cNvPr id="7" name="TextBox 6"/>
          <p:cNvSpPr txBox="1"/>
          <p:nvPr/>
        </p:nvSpPr>
        <p:spPr>
          <a:xfrm>
            <a:off x="4206240" y="914400"/>
            <a:ext cx="7498079" cy="365760"/>
          </a:xfrm>
          <a:prstGeom prst="rect">
            <a:avLst/>
          </a:prstGeom>
          <a:noFill/>
        </p:spPr>
        <p:txBody>
          <a:bodyPr wrap="square" lIns="36576" rIns="36576" tIns="18288" bIns="18288" anchor="t">
            <a:spAutoFit/>
          </a:bodyPr>
          <a:lstStyle/>
          <a:p>
            <a:pPr algn="l"/>
            <a:r>
              <a:rPr sz="1100" b="1" i="0">
                <a:solidFill>
                  <a:srgbClr val="0B4F35"/>
                </a:solidFill>
                <a:latin typeface="Segoe UI"/>
                <a:cs typeface="Tahoma"/>
              </a:rPr>
              <a:t>Place card of the week  ·  Local manufacturing  ·  T6 Key-visual petal</a:t>
            </a:r>
          </a:p>
        </p:txBody>
      </p:sp>
      <p:sp>
        <p:nvSpPr>
          <p:cNvPr id="8" name="TextBox 7"/>
          <p:cNvSpPr txBox="1"/>
          <p:nvPr/>
        </p:nvSpPr>
        <p:spPr>
          <a:xfrm>
            <a:off x="4206240" y="1261872"/>
            <a:ext cx="7498079" cy="457200"/>
          </a:xfrm>
          <a:prstGeom prst="rect">
            <a:avLst/>
          </a:prstGeom>
          <a:noFill/>
        </p:spPr>
        <p:txBody>
          <a:bodyPr wrap="square" lIns="36576" rIns="36576" tIns="18288" bIns="18288" anchor="t">
            <a:spAutoFit/>
          </a:bodyPr>
          <a:lstStyle/>
          <a:p>
            <a:pPr rtl="1" algn="r"/>
            <a:r>
              <a:rPr sz="1700" b="1" i="0">
                <a:solidFill>
                  <a:srgbClr val="142B22"/>
                </a:solidFill>
                <a:latin typeface="Segoe UI"/>
                <a:cs typeface="Tahoma"/>
              </a:rPr>
              <a:t>سدير من الأعلى</a:t>
            </a:r>
          </a:p>
        </p:txBody>
      </p:sp>
      <p:sp>
        <p:nvSpPr>
          <p:cNvPr id="9" name="TextBox 8"/>
          <p:cNvSpPr txBox="1"/>
          <p:nvPr/>
        </p:nvSpPr>
        <p:spPr>
          <a:xfrm>
            <a:off x="4206240" y="1673351"/>
            <a:ext cx="7498079" cy="365760"/>
          </a:xfrm>
          <a:prstGeom prst="rect">
            <a:avLst/>
          </a:prstGeom>
          <a:noFill/>
        </p:spPr>
        <p:txBody>
          <a:bodyPr wrap="square" lIns="36576" rIns="36576" tIns="18288" bIns="18288" anchor="t">
            <a:spAutoFit/>
          </a:bodyPr>
          <a:lstStyle/>
          <a:p>
            <a:pPr rtl="1" algn="r"/>
            <a:r>
              <a:rPr sz="1300" b="0" i="0">
                <a:solidFill>
                  <a:srgbClr val="0B4F35"/>
                </a:solidFill>
                <a:latin typeface="Segoe UI"/>
                <a:cs typeface="Tahoma"/>
              </a:rPr>
              <a:t>بطاقة المكان</a:t>
            </a:r>
          </a:p>
        </p:txBody>
      </p:sp>
      <p:sp>
        <p:nvSpPr>
          <p:cNvPr id="10" name="TextBox 9"/>
          <p:cNvSpPr txBox="1"/>
          <p:nvPr/>
        </p:nvSpPr>
        <p:spPr>
          <a:xfrm>
            <a:off x="4206240" y="2020824"/>
            <a:ext cx="7498079" cy="457200"/>
          </a:xfrm>
          <a:prstGeom prst="rect">
            <a:avLst/>
          </a:prstGeom>
          <a:noFill/>
        </p:spPr>
        <p:txBody>
          <a:bodyPr wrap="square" lIns="36576" rIns="36576" tIns="18288" bIns="18288" anchor="t">
            <a:spAutoFit/>
          </a:bodyPr>
          <a:lstStyle/>
          <a:p>
            <a:pPr algn="l"/>
            <a:r>
              <a:rPr sz="1050" b="0" i="0">
                <a:solidFill>
                  <a:srgbClr val="5B6B63"/>
                </a:solidFill>
                <a:latin typeface="Segoe UI"/>
                <a:cs typeface="Tahoma"/>
              </a:rPr>
              <a:t>Place card: Sudair City from above. · One site, seen whole.</a:t>
            </a:r>
          </a:p>
        </p:txBody>
      </p:sp>
      <p:sp>
        <p:nvSpPr>
          <p:cNvPr id="11" name="TextBox 10"/>
          <p:cNvSpPr txBox="1"/>
          <p:nvPr/>
        </p:nvSpPr>
        <p:spPr>
          <a:xfrm>
            <a:off x="4206240" y="2478024"/>
            <a:ext cx="7498079" cy="640080"/>
          </a:xfrm>
          <a:prstGeom prst="rect">
            <a:avLst/>
          </a:prstGeom>
          <a:noFill/>
        </p:spPr>
        <p:txBody>
          <a:bodyPr wrap="square" lIns="36576" rIns="36576" tIns="18288" bIns="18288" anchor="t">
            <a:spAutoFit/>
          </a:bodyPr>
          <a:lstStyle/>
          <a:p>
            <a:pPr algn="l"/>
            <a:r>
              <a:rPr sz="950" b="0" i="0">
                <a:solidFill>
                  <a:srgbClr val="142B22"/>
                </a:solidFill>
                <a:latin typeface="Segoe UI"/>
                <a:cs typeface="Tahoma"/>
              </a:rPr>
              <a:t>Picture: Message: the whole place, seen at once. Key-visual petal crop in 9:16: a tall glowing petal window holding the real drone view of the whole Sudair City site (A002) above the dusk landscape; mist and mint rim light; the headline in the lower third. 250 px free at top, 340 px at bottom.</a:t>
            </a:r>
          </a:p>
        </p:txBody>
      </p:sp>
      <p:sp>
        <p:nvSpPr>
          <p:cNvPr id="12" name="TextBox 11"/>
          <p:cNvSpPr txBox="1"/>
          <p:nvPr/>
        </p:nvSpPr>
        <p:spPr>
          <a:xfrm>
            <a:off x="4206240" y="3255264"/>
            <a:ext cx="7498079" cy="548640"/>
          </a:xfrm>
          <a:prstGeom prst="rect">
            <a:avLst/>
          </a:prstGeom>
          <a:noFill/>
        </p:spPr>
        <p:txBody>
          <a:bodyPr wrap="square" lIns="36576" rIns="36576" tIns="18288" bIns="18288" anchor="t">
            <a:spAutoFit/>
          </a:bodyPr>
          <a:lstStyle/>
          <a:p>
            <a:pPr algn="l"/>
            <a:r>
              <a:rPr sz="850" b="0" i="0">
                <a:solidFill>
                  <a:srgbClr val="5B6B63"/>
                </a:solidFill>
                <a:latin typeface="Segoe UI"/>
                <a:cs typeface="Tahoma"/>
              </a:rPr>
              <a:t>Assets (relative to Sudair Assets): A002  Collective footage-20261001T081156Z-1-008/Collective footage/DJI_20260121084636_0010_D.MOV</a:t>
            </a:r>
          </a:p>
        </p:txBody>
      </p:sp>
      <p:sp>
        <p:nvSpPr>
          <p:cNvPr id="13" name="TextBox 12"/>
          <p:cNvSpPr txBox="1"/>
          <p:nvPr/>
        </p:nvSpPr>
        <p:spPr>
          <a:xfrm>
            <a:off x="4206240" y="3803904"/>
            <a:ext cx="7498079" cy="822960"/>
          </a:xfrm>
          <a:prstGeom prst="rect">
            <a:avLst/>
          </a:prstGeom>
          <a:noFill/>
        </p:spPr>
        <p:txBody>
          <a:bodyPr wrap="square" lIns="36576" rIns="36576" tIns="18288" bIns="18288" anchor="t">
            <a:spAutoFit/>
          </a:bodyPr>
          <a:lstStyle/>
          <a:p>
            <a:pPr rtl="1" algn="r"/>
            <a:r>
              <a:rPr sz="900" b="0" i="0">
                <a:solidFill>
                  <a:srgbClr val="142B22"/>
                </a:solidFill>
                <a:latin typeface="Segoe UI"/>
                <a:cs typeface="Tahoma"/>
              </a:rPr>
              <a:t>AR: بطاقة المكان لهذا الأسبوع: مدينة سدير من الأعلى.</a:t>
            </a:r>
          </a:p>
          <a:p>
            <a:pPr algn="l"/>
            <a:r>
              <a:rPr sz="900" b="0" i="0">
                <a:solidFill>
                  <a:srgbClr val="142B22"/>
                </a:solidFill>
                <a:latin typeface="Segoe UI"/>
                <a:cs typeface="Tahoma"/>
              </a:rPr>
              <a:t>EN: Place card of the week: Sudair City from above.</a:t>
            </a:r>
          </a:p>
        </p:txBody>
      </p:sp>
      <p:sp>
        <p:nvSpPr>
          <p:cNvPr id="14" name="TextBox 13"/>
          <p:cNvSpPr txBox="1"/>
          <p:nvPr/>
        </p:nvSpPr>
        <p:spPr>
          <a:xfrm>
            <a:off x="4206240" y="6400800"/>
            <a:ext cx="7498079" cy="365760"/>
          </a:xfrm>
          <a:prstGeom prst="rect">
            <a:avLst/>
          </a:prstGeom>
          <a:noFill/>
        </p:spPr>
        <p:txBody>
          <a:bodyPr wrap="square" lIns="36576" rIns="36576" tIns="18288" bIns="18288" anchor="t">
            <a:spAutoFit/>
          </a:bodyPr>
          <a:lstStyle/>
          <a:p>
            <a:pPr algn="l"/>
            <a:r>
              <a:rPr sz="850" b="0" i="1">
                <a:solidFill>
                  <a:srgbClr val="5B6B63"/>
                </a:solidFill>
                <a:latin typeface="Segoe UI"/>
                <a:cs typeface="Tahoma"/>
              </a:rPr>
              <a:t>Place only: no number, comparison or superlative about the size of the site; no person in frame.</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04301F"/>
        </a:solidFill>
        <a:effectLst/>
      </p:bgPr>
    </p:bg>
    <p:spTree>
      <p:nvGrpSpPr>
        <p:cNvPr id="1" name=""/>
        <p:cNvGrpSpPr/>
        <p:nvPr/>
      </p:nvGrpSpPr>
      <p:grpSpPr/>
      <p:sp>
        <p:nvSpPr>
          <p:cNvPr id="2" name="TextBox 1"/>
          <p:cNvSpPr txBox="1"/>
          <p:nvPr/>
        </p:nvSpPr>
        <p:spPr>
          <a:xfrm>
            <a:off x="640080" y="2377440"/>
            <a:ext cx="10515600" cy="914400"/>
          </a:xfrm>
          <a:prstGeom prst="rect">
            <a:avLst/>
          </a:prstGeom>
          <a:noFill/>
        </p:spPr>
        <p:txBody>
          <a:bodyPr wrap="square" lIns="36576" rIns="36576" tIns="18288" bIns="18288" anchor="t">
            <a:spAutoFit/>
          </a:bodyPr>
          <a:lstStyle/>
          <a:p>
            <a:pPr algn="l"/>
            <a:r>
              <a:rPr sz="3400" b="1" i="0">
                <a:solidFill>
                  <a:srgbClr val="FFFFFF"/>
                </a:solidFill>
                <a:latin typeface="Segoe UI"/>
                <a:cs typeface="Tahoma"/>
              </a:rPr>
              <a:t>Next: generate, place, review</a:t>
            </a:r>
          </a:p>
        </p:txBody>
      </p:sp>
      <p:sp>
        <p:nvSpPr>
          <p:cNvPr id="3" name="TextBox 2"/>
          <p:cNvSpPr txBox="1"/>
          <p:nvPr/>
        </p:nvSpPr>
        <p:spPr>
          <a:xfrm>
            <a:off x="640080" y="3474720"/>
            <a:ext cx="10515600" cy="1463040"/>
          </a:xfrm>
          <a:prstGeom prst="rect">
            <a:avLst/>
          </a:prstGeom>
          <a:noFill/>
        </p:spPr>
        <p:txBody>
          <a:bodyPr wrap="square" lIns="36576" rIns="36576" tIns="18288" bIns="18288" anchor="t">
            <a:spAutoFit/>
          </a:bodyPr>
          <a:lstStyle/>
          <a:p>
            <a:pPr algn="l">
              <a:spcAft>
                <a:spcPts val="600"/>
              </a:spcAft>
            </a:pPr>
            <a:r>
              <a:rPr sz="1500" b="0" i="0">
                <a:solidFill>
                  <a:srgbClr val="8EF0B0"/>
                </a:solidFill>
                <a:latin typeface="Segoe UI"/>
                <a:cs typeface="Tahoma"/>
              </a:rPr>
              <a:t>Paste the images into the placeholders, keep each ID in the file name (NOV-F01_v1.png).</a:t>
            </a:r>
          </a:p>
          <a:p>
            <a:pPr algn="l">
              <a:spcAft>
                <a:spcPts val="600"/>
              </a:spcAft>
            </a:pPr>
            <a:r>
              <a:rPr sz="1500" b="0" i="0">
                <a:solidFill>
                  <a:srgbClr val="8EF0B0"/>
                </a:solidFill>
                <a:latin typeface="Segoe UI"/>
                <a:cs typeface="Tahoma"/>
              </a:rPr>
              <a:t>Every prompt, typography spec and asset path is in Sudair_3Month_Prompt_Book.xlsx and the stills file.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